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50" r:id="rId1"/>
  </p:sldMasterIdLst>
  <p:notesMasterIdLst>
    <p:notesMasterId r:id="rId22"/>
  </p:notesMasterIdLst>
  <p:sldIdLst>
    <p:sldId id="295" r:id="rId2"/>
    <p:sldId id="296" r:id="rId10"/>
    <p:sldId id="297" r:id="rId11"/>
    <p:sldId id="298" r:id="rId12"/>
    <p:sldId id="299" r:id="rId13"/>
    <p:sldId id="300" r:id="rId14"/>
    <p:sldId id="301" r:id="rId15"/>
    <p:sldId id="302" r:id="rId16"/>
    <p:sldId id="303" r:id="rId17"/>
    <p:sldId id="304" r:id="rId18"/>
    <p:sldId id="305" r:id="rId19"/>
    <p:sldId id="306" r:id="rId20"/>
    <p:sldId id="307" r:id="rId21"/>
    <p:sldId id="308" r:id="rId9"/>
    <p:sldId id="309" r:id="rId8"/>
    <p:sldId id="310" r:id="rId7"/>
    <p:sldId id="311" r:id="rId6"/>
    <p:sldId id="312" r:id="rId5"/>
    <p:sldId id="313" r:id="rId4"/>
    <p:sldId id="314" r:id="rId3"/>
    <p:sldId id="315" r:id="rId29"/>
    <p:sldId id="316" r:id="rId30"/>
    <p:sldId id="317" r:id="rId31"/>
    <p:sldId id="318" r:id="rId32"/>
    <p:sldId id="319" r:id="rId33"/>
  </p:sldIdLst>
  <p:sldSz cx="9144000" cy="5143500" type="screen16x9"/>
  <p:notesSz cx="51435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AB749D-D880-42C7-835F-82B6F0FD7B2D}" v="1" dt="2026-06-01T03:23:34.9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24" autoAdjust="0"/>
    <p:restoredTop sz="94610"/>
  </p:normalViewPr>
  <p:slideViewPr>
    <p:cSldViewPr snapToGrid="0" snapToObjects="1">
      <p:cViewPr varScale="1">
        <p:scale>
          <a:sx n="110" d="100"/>
          <a:sy n="110" d="100"/>
        </p:scale>
        <p:origin x="170" y="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0.xml"/><Relationship Id="rId4" Type="http://schemas.openxmlformats.org/officeDocument/2006/relationships/slide" Target="slides/slide19.xml"/><Relationship Id="rId5" Type="http://schemas.openxmlformats.org/officeDocument/2006/relationships/slide" Target="slides/slide18.xml"/><Relationship Id="rId6" Type="http://schemas.openxmlformats.org/officeDocument/2006/relationships/slide" Target="slides/slide17.xml"/><Relationship Id="rId7" Type="http://schemas.openxmlformats.org/officeDocument/2006/relationships/slide" Target="slides/slide16.xml"/><Relationship Id="rId8" Type="http://schemas.openxmlformats.org/officeDocument/2006/relationships/slide" Target="slides/slide15.xml"/><Relationship Id="rId9" Type="http://schemas.openxmlformats.org/officeDocument/2006/relationships/slide" Target="slides/slide14.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microsoft.com/office/2016/11/relationships/changesInfo" Target="changesInfos/changesInfo1.xml"/><Relationship Id="rId28" Type="http://schemas.microsoft.com/office/2015/10/relationships/revisionInfo" Target="revisionInfo.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 Nhat Tung" userId="77b0905b33e1f80d" providerId="LiveId" clId="{A4964FA4-2953-4C64-887E-A60447789925}"/>
    <pc:docChg chg="addSld delSld modSld">
      <pc:chgData name="Le Nhat Tung" userId="77b0905b33e1f80d" providerId="LiveId" clId="{A4964FA4-2953-4C64-887E-A60447789925}" dt="2026-06-01T03:25:39.958" v="69" actId="1076"/>
      <pc:docMkLst>
        <pc:docMk/>
      </pc:docMkLst>
      <pc:sldChg chg="del">
        <pc:chgData name="Le Nhat Tung" userId="77b0905b33e1f80d" providerId="LiveId" clId="{A4964FA4-2953-4C64-887E-A60447789925}" dt="2026-06-01T03:23:50.596" v="62" actId="47"/>
        <pc:sldMkLst>
          <pc:docMk/>
          <pc:sldMk cId="0" sldId="279"/>
        </pc:sldMkLst>
      </pc:sldChg>
      <pc:sldChg chg="modSp mod">
        <pc:chgData name="Le Nhat Tung" userId="77b0905b33e1f80d" providerId="LiveId" clId="{A4964FA4-2953-4C64-887E-A60447789925}" dt="2026-06-01T03:22:42.695" v="51" actId="20577"/>
        <pc:sldMkLst>
          <pc:docMk/>
          <pc:sldMk cId="0" sldId="288"/>
        </pc:sldMkLst>
        <pc:graphicFrameChg chg="modGraphic">
          <ac:chgData name="Le Nhat Tung" userId="77b0905b33e1f80d" providerId="LiveId" clId="{A4964FA4-2953-4C64-887E-A60447789925}" dt="2026-06-01T03:22:42.695" v="51" actId="20577"/>
          <ac:graphicFrameMkLst>
            <pc:docMk/>
            <pc:sldMk cId="0" sldId="288"/>
            <ac:graphicFrameMk id="4" creationId="{00000000-0000-0000-0000-000000000000}"/>
          </ac:graphicFrameMkLst>
        </pc:graphicFrameChg>
      </pc:sldChg>
      <pc:sldChg chg="modSp mod">
        <pc:chgData name="Le Nhat Tung" userId="77b0905b33e1f80d" providerId="LiveId" clId="{A4964FA4-2953-4C64-887E-A60447789925}" dt="2026-06-01T03:23:18.666" v="60" actId="20577"/>
        <pc:sldMkLst>
          <pc:docMk/>
          <pc:sldMk cId="0" sldId="291"/>
        </pc:sldMkLst>
        <pc:spChg chg="mod">
          <ac:chgData name="Le Nhat Tung" userId="77b0905b33e1f80d" providerId="LiveId" clId="{A4964FA4-2953-4C64-887E-A60447789925}" dt="2026-06-01T03:23:18.666" v="60" actId="20577"/>
          <ac:spMkLst>
            <pc:docMk/>
            <pc:sldMk cId="0" sldId="291"/>
            <ac:spMk id="4" creationId="{00000000-0000-0000-0000-000000000000}"/>
          </ac:spMkLst>
        </pc:spChg>
      </pc:sldChg>
      <pc:sldChg chg="addSp modSp add mod">
        <pc:chgData name="Le Nhat Tung" userId="77b0905b33e1f80d" providerId="LiveId" clId="{A4964FA4-2953-4C64-887E-A60447789925}" dt="2026-06-01T03:25:39.958" v="69" actId="1076"/>
        <pc:sldMkLst>
          <pc:docMk/>
          <pc:sldMk cId="0" sldId="295"/>
        </pc:sldMkLst>
        <pc:picChg chg="add mod">
          <ac:chgData name="Le Nhat Tung" userId="77b0905b33e1f80d" providerId="LiveId" clId="{A4964FA4-2953-4C64-887E-A60447789925}" dt="2026-06-01T03:25:39.958" v="69" actId="1076"/>
          <ac:picMkLst>
            <pc:docMk/>
            <pc:sldMk cId="0" sldId="295"/>
            <ac:picMk id="3" creationId="{0F432BE8-E2E0-949D-EAF2-415305F0F0D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03756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Kính chào cô và các bạn. Đề tài của nhóm em là: mỗi bước sửa dữ liệu đáng giá bao nhiêu khi dự báo lưu lượng xe giờ kế tiếp trên dữ liệu mở của Istanbul, và điều gì xảy ra vào dịp lễ. Nội dung bài trình bày bám theo bài báo LaTeX của nhóm (ICIIT 2027) và hai notebook A, B.</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Bài trình bày gồm ba phần. Phần một là bài toán và dữ liệu. Phần hai trả lời câu hỏi thứ nhất bằng phân tích và hình. Phần ba trả lời câu hỏi thứ hai và thứ ba bằng mô hình, rồi kết luận.</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Trước hết là phần một: hiểu bài toán và dữ liệu.</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[Chỉ số 1] Trung tâm điều khiển giao thông cần biết trước một giờ mỗi đoạn đường sẽ có bao nhiêu xe để chỉnh đèn và báo cho tài xế.</a:t>
            </a:r>
          </a:p>
          <a:p>
            <a:r>
              <a:t>[Chỉ số 2] Nhóm dự báo số xe giờ kế tiếp cho 150 ô đường đông nhất Istanbul, dữ liệu 2022 đến 2024.</a:t>
            </a:r>
          </a:p>
          <a:p>
            <a:r>
              <a:t>[Chỉ số 3] Các bài báo thường chỉ báo một con số sai số, không cho biết bao nhiêu phần đến từ việc chuẩn bị dữ liệu, và ít khi chấm riêng ngày lễ. Kapoor và Narayanan 2023 cảnh báo rằng sai lệch thời gian trong dữ liệu làm kết quả học máy đẹp hơn thực tế.</a:t>
            </a:r>
          </a:p>
          <a:p>
            <a:r>
              <a:t>[Chỉ khung Approach] Nhóm dùng SQL trên DuckDB để mô tả dữ liệu và tạo đặc trưng trên lưới giờ đầy đủ, rồi dùng Python so sánh bốn mô hình với bốn mốc đơn giản qua tám quý kiểm thử.</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[Chỉ cột xanh] Câu hỏi một mô tả dữ liệu: lưu lượng thay đổi theo giờ, loại ngày, tháng ra sao, và dữ liệu đầy đủ đến đâu. Trả lời bằng năm câu SQL.</a:t>
            </a:r>
          </a:p>
          <a:p>
            <a:r>
              <a:t>[Chỉ cột cam] Câu hỏi hai: trong bốn mô hình Ridge, Extra Trees, LightGBM và MLP, mô hình nào dự báo giờ kế tiếp tốt nhất, tốt hơn các mốc đơn giản bao nhiêu, chấm qua tám quý.</a:t>
            </a:r>
          </a:p>
          <a:p>
            <a:r>
              <a:t>[Chỉ cột tím] Câu hỏi ba là đóng góp chính: mỗi bước sửa dữ liệu làm sai số giảm bao nhiêu, và tuần sau ngày lễ thì sao.</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[Chỉ bản đồ] Mỗi ô là một ô geohash của IBB. Năm 2022 có 2.459 ô có dữ liệu. Nhóm giữ các ô có dữ liệu ít nhất một nửa số giờ, rồi lấy 150 ô có lượng xe trung bình cao nhất, viền xanh trên bản đồ. Các ô này nằm dọc đường cao tốc và hai cầu Bosphorus, chia gần đều hai bờ: 74 ô phía châu Âu, 76 ô phía châu Á.</a:t>
            </a:r>
          </a:p>
          <a:p>
            <a:r>
              <a:t>Quan trọng: ô chỉ được chọn từ năm 2022, nên nhóm không nhìn vào các năm kiểm thử 2023 và 2024.</a:t>
            </a:r>
          </a:p>
          <a:p>
            <a:r>
              <a:t>[Chỉ các ô bên phải] Dữ liệu gồm 36 file tháng, 58,4 triệu bản ghi. Trên lưới giờ đầy đủ, 150 ô có 3.945.600 ô-giờ, trong đó 93,98% có bản ghi. Nguồn: paper mục 2.1, report/table_cleaning_log.csv.</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[Chỉ biểu đồ] Đây là tỷ lệ ô-giờ không có bản ghi theo tháng. Tháng 1 năm 2024 mất 45,4%, tháng 12 năm 2024 mất 28,4%.</a:t>
            </a:r>
          </a:p>
          <a:p>
            <a:r>
              <a:t>[Chỉ hai thẻ dưới] Từng dòng dữ liệu thì sạch: không có khoá trùng, không có giá trị sai. Lỗi thật là mất giờ: 6,02% ô-giờ không có bản ghi. Khi mất cả giờ, 'dòng trước' không còn là 'giờ trước'.</a:t>
            </a:r>
          </a:p>
          <a:p>
            <a:r>
              <a:t>[Chỉ thẻ Outage] Nhóm gắn cờ 1.544 giờ mất dữ liệu toàn thành phố, 53 giờ mất một phần và 99 giờ có giá trị thấp bất thường. Các giờ này không được chấm điểm, quy tắc này đặt trước khi kiểm thử.</a:t>
            </a:r>
          </a:p>
          <a:p>
            <a:r>
              <a:t>[Chỉ thẻ lịch] Nhóm tự dựng lịch ngày lễ: 41 ngày lễ, 9 ngày arife tức nửa ngày trước lễ, 3 ngày nghỉ bù và 51 ngày thuộc tuần sau lễ.</a:t>
            </a:r>
          </a:p>
          <a:p>
            <a:r>
              <a:t>[Chỉ thẻ cam] Khoảng 24 tháng 1 năm 2024 lượng xe ngày thường nhảy từ 271,6 lên 491,8, tăng 81,1%. Giao thông thật không đổi nhanh như vậy, nên nhóm coi đây là thay đổi cách thu thập (giả thuyết) và báo thêm kết quả khi bỏ quý 2024-Q1.</a:t>
            </a:r>
          </a:p>
          <a:p>
            <a:r>
              <a:t>Nguồn: report/table_cleaning_log.csv, table_q3.csv, fig_rq1_completeness.png, paper mục 2.2–2.3.</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Phân tích câu hỏi một và việc tạo dữ liệu cho mô hình đều viết bằng SQL trên DuckDB, tổng cộng 7 câu lệnh trong file sql/queries.sql, kết quả lưu ở report/table_q*.csv.</a:t>
            </a:r>
          </a:p>
          <a:p>
            <a:r>
              <a:t>[Chỉ Q1 đến Q5] Năm câu đầu trả lời câu hỏi một: hồ sơ theo giờ và loại ngày, so với ngày thường, độ đầy đủ theo tháng, ô thưa dần theo quý, và tỷ lệ tuần trước chia hôm nay.</a:t>
            </a:r>
          </a:p>
          <a:p>
            <a:r>
              <a:t>[Chỉ khung code] Q6 tạo bảng cho mô hình. LEAD nhìn xuống một dòng để lấy đáp án là số xe giờ sau; LAG nhìn lên để lấy quá khứ, ví dụ cùng giờ tuần trước. Vì dữ liệu nằm trên lưới giờ đầy đủ nên lùi k dòng đúng bằng lùi k giờ.</a:t>
            </a:r>
          </a:p>
          <a:p>
            <a:r>
              <a:t>[Chỉ ba thẻ dưới] Q7 kiểm tra bảng: khoảng cách lớn nhất giữa hai dòng là 1 giờ và không có khoá trùng.</a:t>
            </a:r>
          </a:p>
          <a:p>
            <a:r>
              <a:t>Lưu ý cho nhóm: quy định số query = số thành viên × 3; nếu nhóm 3 người cần 9 query, hiện có 7.</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[Chỉ code] Q5 dùng hàm cửa sổ LAG 168 giờ, tức cùng giờ tuần trước, rồi chia tổng của tuần trước cho tổng của hôm nay, theo loại ngày.</a:t>
            </a:r>
          </a:p>
          <a:p>
            <a:r>
              <a:t>[Chỉ bảng] Ngày thường tỷ lệ là 1,00: tuần trước gần như giống hệt hôm nay. Nhưng vào ngày lễ, tuần trước đông gấp 1,43 lần; còn tuần sau lễ, tuần trước, tức chính ngày lễ, chỉ bằng 0,76.</a:t>
            </a:r>
          </a:p>
          <a:p>
            <a:r>
              <a:t>[Kết] Một đặc trưng gần như chính xác vào ngày thường lại lệch lên vào ngày lễ và lệch xuống đúng một tuần sau. Nhóm gọi hiện tượng này là holiday echo, tiếng vọng của ngày lễ. Đây là cầu nối sang câu hỏi ba.</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Tiếp theo là phần hai: trả lời câu hỏi thứ nhất về đặc điểm của dữ liệu.</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[Chỉ hình từ trái sang phải] Dữ liệu mở của IBB, 36 file tháng, được thu về 150 ô đông nhất năm 2022, đặt lên lưới giờ đầy đủ và ghép lịch ngày lễ. Sau đó chia theo thời gian: năm 2022 chỉ để học, 8 quý của 2023–2024 lần lượt làm tập kiểm thử. Ba nhánh phân tích: đặc điểm giao thông, so sánh mô hình, và giá trị của từng bước sửa dữ liệu, dẫn tới thứ tự ưu tiên sửa dữ liệu.</a:t>
            </a:r>
          </a:p>
          <a:p>
            <a:r>
              <a:t>[Chỉ ba thẻ] Notebook A làm dữ liệu, SQL và câu hỏi một; Notebook B làm mô hình. Notebook B kiểm tra mã băm file để chắc chắn hai notebook dùng cùng dữ liệu. Hình này là Hình 1 của bài báo.</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[Chỉ hình] Đây là Hình 3a của bài báo: lưu lượng trung bình theo giờ trong ngày và thứ trong tuần, chỉ ngày thường và cuối tuần, đã bỏ ngày lễ và giờ mất dữ liệu.</a:t>
            </a:r>
          </a:p>
          <a:p>
            <a:r>
              <a:t>[Chỉ cột 6 giờ] Thứ Hai đến thứ Sáu có đỉnh rất rõ lúc 6 giờ sáng, khoảng 600 đến 620 xe mỗi ô-giờ, và một đỉnh chiều thấp hơn. [Chỉ hai hàng dưới] Thứ Bảy đỉnh muộn hơn, 472 xe lúc 8 giờ; Chủ nhật không vượt quá 313.</a:t>
            </a:r>
          </a:p>
          <a:p>
            <a:r>
              <a:t>[Kết] Nhịp tuần rất mạnh, nên 'cùng giờ tuần trước' là đặc trưng tự nhiên cho mô hình. Hình gộp trước và sau điểm gãy 2024, nên chỉ so sánh giữa các giờ và các thứ. Nguồn: table_rq1_heatmap_hour_dow.csv.</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[Chỉ hình] Đây là Hình 3b của bài báo: lưu lượng trung bình theo tháng cho bốn loại ngày.</a:t>
            </a:r>
          </a:p>
          <a:p>
            <a:r>
              <a:t>[Chỉ đường đỏ] Ngày lễ luôn vắng nhất, 205,7 đến 308,7 xe, so với 329,7 đến 425,4 của ngày thường.</a:t>
            </a:r>
          </a:p>
          <a:p>
            <a:r>
              <a:t>[Chỉ đường xanh lá] Tuần sau lễ không phải là trở về bình thường: tháng 4 còn đông hơn ngày thường, 404,4 so với 360,6, tương tự tháng 6 và tháng 9.</a:t>
            </a:r>
          </a:p>
          <a:p>
            <a:r>
              <a:t>[Chỉ thẻ dưới] Theo câu Q2, so với ngày thường cùng năm, ngày lễ thấp hơn 27,7% năm 2022 và 19,5% năm 2023. Năm 2024 bị phóng đại bởi điểm gãy nên không dùng để kết luận.</a:t>
            </a:r>
          </a:p>
          <a:p>
            <a:r>
              <a:t>[Chuyển sang phần 3] Nhịp tuần mạnh nhưng bị ngày lễ phá vỡ. Câu hỏi là: mô hình dựa vào tuần trước có bị đánh lừa không, và sửa dữ liệu thế nào thì đỡ? Nguồn: paper mục 4.1, table_q2.csv.</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Phần ba: dùng mô hình để trả lời câu hỏi thứ hai và thứ ba.</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Trước khi xem kết quả, em xin nói cách nhóm đánh giá.</a:t>
            </a:r>
          </a:p>
          <a:p>
            <a:r>
              <a:t>[Chỉ thanh thời gian] Năm 2022 chỉ dùng để học. Mỗi quý của 2023 và 2024 lần lượt làm tập kiểm thử một lần, mô hình học từ mọi giờ trước quý đó. Cách chia theo thời gian này tránh việc nhìn trước tương lai.</a:t>
            </a:r>
          </a:p>
          <a:p>
            <a:r>
              <a:t>[Thẻ 1] Mục tiêu là số xe giờ kế tiếp. Mô hình học trên log của số xe rồi đổi ngược lại, để ô đông không lấn át ô vắng.</a:t>
            </a:r>
          </a:p>
          <a:p>
            <a:r>
              <a:t>[Thẻ 2] MAE là sai số tuyệt đối trung bình, tính bằng số xe. MASE là MAE chia cho MAE của persistence trong cùng quý; nhỏ hơn 1 nghĩa là thắng mốc. Nếu chênh lệch giữa hai mô hình nhỏ hơn độ lệch chuẩn giữa các quý thì nhóm không kết luận mô hình nào hơn.</a:t>
            </a:r>
          </a:p>
          <a:p>
            <a:r>
              <a:t>[Thẻ 3] Bốn mô hình với tham số cố định, không tinh chỉnh, và ba mốc đơn giản: cùng giờ tuần trước, trung vị ba tuần và trung bình lịch sử. Persistence, tức giờ sau bằng giờ này, không tính là một mốc mà là chuẩn tham chiếu để tính MASE.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Đây là Bảng 1 và Hình 4 của bài báo.</a:t>
            </a:r>
          </a:p>
          <a:p>
            <a:r>
              <a:t>[Chỉ dòng persistence] Dòng đầu là persistence, không phải một mốc so sánh mà là chuẩn tham chiếu để tính MASE: sai trung bình 68,1 xe mỗi ô-giờ. Ba dòng tiếp theo là ba mốc đơn giản.</a:t>
            </a:r>
          </a:p>
          <a:p>
            <a:r>
              <a:t>[Chỉ dòng in đậm] LightGBM có MAE thấp nhất, 37,9, thấp hơn persistence 43,7%. Nhưng MLP 38,0 gần như bằng, và Extra Trees 39,9; khoảng cách nhỏ hơn độ lệch chuẩn giữa các quý, từ 4,6 đến 8,7. Khi bỏ quý 2024-Q1, thứ tự đổi thành LightGBM, Extra Trees, MLP.</a:t>
            </a:r>
          </a:p>
          <a:p>
            <a:r>
              <a:t>[Kết] Vì vậy nhóm chỉ kết luận chắc chắn: ba mô hình phi tuyến thắng Ridge 50,3 và cả ba mốc. Mốc trung bình lịch sử yếu nhất, 90,3, vì trộn cả giờ trước điểm gãy. Độ lệch giữa các seed nhỏ: 0,13 với LightGBM và 0,69 với MLP. Nguồn: report/table_rq2.csv.</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Đây là Bảng 2 của bài báo: MASE theo từng quý, nhỏ hơn 1 là tốt hơn persistence.</a:t>
            </a:r>
          </a:p>
          <a:p>
            <a:r>
              <a:t>[Chỉ các số đỏ] Mốc 'cùng giờ tuần trước' tệ hơn persistence đúng ở ba quý có nhiều ngày tuần sau lễ nhất: 6, 7 và 12 ngày, trong khi các quý khác chỉ 1 đến 2 ngày. Phương pháp chép tuần trước chỉ tốt khi tuần trước bình thường.</a:t>
            </a:r>
          </a:p>
          <a:p>
            <a:r>
              <a:t>[Chỉ cột persistence] Sai số persistence tăng từ khoảng 58–63 xe năm 2023 lên 73–81 năm 2024 vì lưu lượng tăng, nhưng MASE của LightGBM lại tốt hơn, còn 0,412 đến 0,579 năm 2024.</a:t>
            </a:r>
          </a:p>
          <a:p>
            <a:r>
              <a:t>Nguồn: report/table_rq2_by_fold.csv, table_folds.csv.</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Đây là Bảng 3, đóng góp chính của bài: thang sửa dữ liệu, mỗi bậc thêm một bước sửa và chấm trên cùng các ô và giờ.</a:t>
            </a:r>
          </a:p>
          <a:p>
            <a:r>
              <a:t>[Chỉ R0, R1] R0 là dữ liệu thô, lấy lag theo thứ tự dòng như một notebook làm nhanh. R1 gộp trùng; vì dữ liệu không có dòng trùng nên R1 bằng R0.</a:t>
            </a:r>
          </a:p>
          <a:p>
            <a:r>
              <a:t>[Chỉ dòng in đậm R2] Bước đặt dữ liệu lên lưới giờ đầy đủ làm sai số trung bình giảm 4,22 xe, trong tổng 5,3 xe của cả thang. Lý do ở bảng nhỏ bên phải: khi lấy theo thứ tự dòng, 45,7% giá trị 'một tuần trước' trỏ sai giờ, vì chỉ cần mất một giờ trong tuần trước là các dòng bị lệch. Ridge dùng lag tuyến tính nên được lợi nhiều nhất, từ 59,4 xuống 50,7.</a:t>
            </a:r>
          </a:p>
          <a:p>
            <a:r>
              <a:t>[Chỉ R3 đến R5] Các bước sau nhỏ hơn dao động giữa các quý, MLP còn tệ hơn ở R5. Nguồn: table_rq3_repair_ladder.csv, table_rq3_time_axis_artefact.csv.</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Đây là Bảng 4 của bài báo, kèm hình event study mà nhóm thêm vào để thấy rõ.</a:t>
            </a:r>
          </a:p>
          <a:p>
            <a:r>
              <a:t>[Chỉ bảng] Nhóm xếp sai số theo số ngày tính từ ngày đầu kỳ lễ, trung bình trên 16 kỳ lễ. Với lag thường L0, sai số là 38,5 vào ngày lễ đầu tiên, nhưng nhảy lên 66,8 vào ngày thứ 7, đúng lúc lag tuần nhìn lại ngày lễ, rồi về 47,1 sau đó.</a:t>
            </a:r>
          </a:p>
          <a:p>
            <a:r>
              <a:t>[Chỉ hình] Hình vẽ chênh lệch so với L0: đường dưới 0 là tốt hơn L0. Ở ngày +7, L2 tức lấy tuần thường gần nhất và L3 tức trung vị ba tuần đều giảm khoảng 8,3 và 8,5 xe. L4, thêm cờ ngày lễ vào L0, lại tệ hơn 3,5 xe.</a:t>
            </a:r>
          </a:p>
          <a:p>
            <a:r>
              <a:t>Nguồn: report/table_rq3_event_windows.csv, fig_rq3_event_study.png.</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Đây là Bảng 5 của bài báo: sai số theo nhóm ngày cho năm cách lấy lag tuần.</a:t>
            </a:r>
          </a:p>
          <a:p>
            <a:r>
              <a:t>[Chỉ cột Week after] Với lag thường L0, tuần sau lễ sai 54,2 xe. L2, lấy tuần thường gần nhất, giảm còn 41,8; L3 còn 41,1. Đổi lại, ngày thường L2 chỉ tệ hơn 0,2 xe, còn L3 thậm chí tốt hơn 1,3.</a:t>
            </a:r>
          </a:p>
          <a:p>
            <a:r>
              <a:t>[Chỉ thẻ Wilcoxon] Kiểm định Wilcoxon theo cặp trên 33 ngày tuần sau lễ: L2 và L3 thắng L0 ở cả bốn mô hình, mức giảm trung vị 1,9 đến 9,8 xe mỗi ngày, p nhỏ hơn 0,01.</a:t>
            </a:r>
          </a:p>
          <a:p>
            <a:r>
              <a:t>[Chỉ thẻ cam] Bỏ hẳn lag tuần không phải cách sửa: tệ hơn vào ngày thường và ngày arife. Nguồn: table_rq3_weekly_lag_variants.csv, table_rq3_wilcoxon.csv.</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Đây là Bảng 6 của bài báo. Nhóm xáo trộn từng nhóm đặc trưng trên tập kiểm thử rồi đo sai số tăng bao nhiêu; nhóm nào xáo trộn mà sai số tăng nhiều thì mô hình dựa nhiều vào nhóm đó.</a:t>
            </a:r>
          </a:p>
          <a:p>
            <a:r>
              <a:t>[Chỉ dòng đầu] Lưu lượng gần đây quan trọng nhất, 43 đến 58% phần tăng.</a:t>
            </a:r>
          </a:p>
          <a:p>
            <a:r>
              <a:t>[Chỉ dòng in đậm] Nhưng lag tuần chiếm 33,1% với Ridge, 17,5% với MLP, 13,1% với LightGBM và 11,1% với Extra Trees. [Chỉ thẻ tím] Vào tuần sau lễ, tỷ trọng này giảm, nghĩa là mô hình chỉ bớt tin lag tuần một phần, nên tiếng vọng vẫn còn. Đây là mức dựa vào, không phải quan hệ nhân quả.</a:t>
            </a:r>
          </a:p>
          <a:p>
            <a:r>
              <a:t>[Chỉ thẻ dưới] Kiểm tra độ nhạy: do máy 16 GB, mỗi lần học dùng 150.000 dòng. Học lại trên toàn bộ dòng, từ 1,49 đến 2,85 triệu, ở hai quý, MAE chỉ đổi rất ít và L2 vẫn tốt hơn L0 ở tuần sau lễ trong cả 4 trường hợp. Kết luận không đổi.</a:t>
            </a:r>
          </a:p>
          <a:p>
            <a:r>
              <a:t>Nguồn: table_rq3_impact_4models.csv; kiểm tra độ nhạy ở Notebook B cell 37, paper mục 4.4.</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[GHI CHÚ CHO NHÓM: thư mục dự án chưa có file dashboard. Chèn ảnh chụp dashboard vào khung trái và sửa danh sách bên phải cho đúng trước khi thuyết trình.]</a:t>
            </a:r>
          </a:p>
          <a:p>
            <a:r>
              <a:t>Các KPI gợi ý dùng số thật từ table_rq2.csv, table_rq3_repair_ladder.csv và table_rq3_weekly_lag_variants.csv.</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Tóm lại, nhóm đã trả lời đủ ba câu hỏi.</a:t>
            </a:r>
          </a:p>
          <a:p>
            <a:r>
              <a:t>[RQ1] Nhịp tuần rất mạnh với đỉnh 6 giờ sáng ngày thường; ngày lễ vắng hơn 20 đến 28%; tuần trước gấp 1,43 lần hôm nay vào ngày lễ và chỉ 0,76 vào tuần sau lễ.</a:t>
            </a:r>
          </a:p>
          <a:p>
            <a:r>
              <a:t>[RQ2] LightGBM và MLP thấp hơn persistence khoảng 44%, nhưng ba mô hình tốt nhất không tách được; chắc chắn là cả ba thắng Ridge và các mốc.</a:t>
            </a:r>
          </a:p>
          <a:p>
            <a:r>
              <a:t>[RQ3] Bước lưới giờ đầy đủ đáng giá 4,2 trong 5,3 xe; lấy lag từ tuần thường gần nhất giảm sai số tuần sau lễ từ 54,2 xuống 41,8.</a:t>
            </a:r>
          </a:p>
          <a:p>
            <a:r>
              <a:t>[Ba ô dưới] Kết quả vững: bỏ quý có điểm gãy thì chỉ thứ tự ba mô hình đầu đổi; học trên toàn bộ dữ liệu không đổi kết luận; và hai notebook tạo lại mọi bảng, hình trong bài.</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Về hạn chế (theo mục Discussion and Limitations của bài báo): một, nhóm chỉ dùng 150 ô đông nhất năm 2022, đường vắng có thể khác. Hai, điểm gãy tháng 1 năm 2024 chưa giải thích được. Ba, số kỳ lễ ít, 16 kỳ. Bốn, tham số cố định, một thành phố, một tầm dự báo một giờ, và lịch tự dựng có thể thiếu ngày đóng đường.</a:t>
            </a:r>
          </a:p>
          <a:p>
            <a:r>
              <a:t>Hướng phát triển là đề xuất của nhóm, chưa làm: hỏi IBB về điểm gãy, thử các ngưỡng và tinh chỉnh mô hình, thêm tầm dự báo dài hơn và đường vắng, và áp dụng thang sửa dữ liệu cho dữ liệu giao thông Việt Nam với lịch lễ Việt Nam.</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Phần này tóm tắt file AI Audit Log của nhóm (AI_AuditLog_ADY201m_IstanbulTraffic.xlsx).</a:t>
            </a:r>
          </a:p>
          <a:p>
            <a:r>
              <a:t>[Chỉ 4 ô trên] Trong khoảng 150 prompt đã dùng, nhóm chọn ghi 21 prompt cốt lõi, tức khoảng 14%, trải đủ 5 giai đoạn. Nhóm phát hiện 5 lần AI sai. Nhóm dùng 3 công cụ: Claude là chính, ChatGPT và Gemini để kiểm tra chéo. Cả 21 entry đều có ảnh minh chứng.</a:t>
            </a:r>
          </a:p>
          <a:p>
            <a:r>
              <a:t>[Cột xanh] Phân bổ: 3 prompt hiểu bài toán, 4 chuẩn bị dữ liệu, 3 EDA, 6 mô hình, 5 đánh giá và báo cáo; gồm 10 prompt ra quyết định, 6 giải quyết vấn đề, 5 kiểm chứng.</a:t>
            </a:r>
          </a:p>
          <a:p>
            <a:r>
              <a:t>[Cột cam] Những quyết định của nhóm: không dùng dữ liệu giả lập nên phát hiện dữ liệu thật không có dòng trùng và báo trung thực R1 bằng R0 (entry 5); chia dữ liệu theo thời gian thay vì 80/20 (entry 12); tự yêu cầu kiểm tra lại trên toàn bộ dữ liệu và cả hai quy tắc đều đạt (entry 13); không tuyên bố mô hình tốt nhất vì chênh lệch nhỏ hơn độ lệch chuẩn giữa các quý (entry 19).</a:t>
            </a:r>
          </a:p>
          <a:p>
            <a:r>
              <a:t>[Cột tím] Năm lần AI sai: hiểu nhầm yêu cầu và đi vẽ hình (entry 3); đề cương giả định dữ liệu có dòng trùng nhưng thực tế không có (entry 5); ước lượng thời gian chạy 15 đến 30 phút trong khi mỗi lần học chỉ 1 đến 25 giây (entry 13); code giả định cùng thứ tự dòng nên báo lỗi, sửa bằng ghép theo ô và giờ (entry 14); bản preview bài báo có 7 trên 8 hình không do notebook tạo, nhóm thay bằng hình từ notebook (entry 17).</a:t>
            </a:r>
          </a:p>
          <a:p>
            <a:r>
              <a:t>Nếu thầy cô hỏi chi tiết, mở file Excel và chỉ vào entry tương ứng cùng ảnh minh chứng.</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9" name="Subtitle 2">
            <a:extLst>
              <a:ext uri="{FF2B5EF4-FFF2-40B4-BE49-F238E27FC236}">
                <a16:creationId xmlns:a16="http://schemas.microsoft.com/office/drawing/2014/main" id="{718AE611-130E-0D2E-E802-8A36716DB9FC}"/>
              </a:ext>
            </a:extLst>
          </p:cNvPr>
          <p:cNvSpPr txBox="1">
            <a:spLocks/>
          </p:cNvSpPr>
          <p:nvPr/>
        </p:nvSpPr>
        <p:spPr>
          <a:xfrm>
            <a:off x="1142999" y="2667001"/>
            <a:ext cx="6858000" cy="432050"/>
          </a:xfrm>
          <a:prstGeom prst="rect">
            <a:avLst/>
          </a:prstGeom>
        </p:spPr>
        <p:txBody>
          <a:bodyPr vert="horz" lIns="68580" tIns="34290" rIns="68580" bIns="34290" rtlCol="0" anchor="ctr">
            <a:normAutofit/>
          </a:bodyPr>
          <a:lstStyle>
            <a:lvl1pPr marL="0" indent="0" algn="ctr" defTabSz="914400" rtl="0" eaLnBrk="1" latinLnBrk="0" hangingPunct="1">
              <a:lnSpc>
                <a:spcPct val="90000"/>
              </a:lnSpc>
              <a:spcBef>
                <a:spcPts val="1000"/>
              </a:spcBef>
              <a:buClr>
                <a:srgbClr val="C00000"/>
              </a:buClr>
              <a:buSzPct val="120000"/>
              <a:buFont typeface="Wingdings" panose="05000000000000000000" pitchFamily="2" charset="2"/>
              <a:buNone/>
              <a:defRPr sz="2800" kern="1200">
                <a:solidFill>
                  <a:schemeClr val="tx1"/>
                </a:solidFill>
                <a:latin typeface="CMU Sans Serif Medium" panose="02000603000000000000" pitchFamily="2" charset="0"/>
                <a:ea typeface="CMU Sans Serif Medium" panose="02000603000000000000" pitchFamily="2" charset="0"/>
                <a:cs typeface="CMU Sans Serif Medium" panose="02000603000000000000" pitchFamily="2" charset="0"/>
              </a:defRPr>
            </a:lvl1pPr>
            <a:lvl2pPr marL="457200" indent="0" algn="ctr" defTabSz="914400" rtl="0" eaLnBrk="1" latinLnBrk="0" hangingPunct="1">
              <a:lnSpc>
                <a:spcPct val="70000"/>
              </a:lnSpc>
              <a:spcBef>
                <a:spcPts val="600"/>
              </a:spcBef>
              <a:buClr>
                <a:srgbClr val="C00000"/>
              </a:buClr>
              <a:buSzPct val="120000"/>
              <a:buFont typeface="Wingdings" panose="05000000000000000000" pitchFamily="2" charset="2"/>
              <a:buNone/>
              <a:defRPr sz="2000" kern="1200">
                <a:solidFill>
                  <a:schemeClr val="tx1"/>
                </a:solidFill>
                <a:latin typeface="CMU Sans Serif Medium" panose="02000603000000000000" pitchFamily="2" charset="0"/>
                <a:ea typeface="CMU Sans Serif Medium" panose="02000603000000000000" pitchFamily="2" charset="0"/>
                <a:cs typeface="CMU Sans Serif Medium" panose="02000603000000000000" pitchFamily="2" charset="0"/>
              </a:defRPr>
            </a:lvl2pPr>
            <a:lvl3pPr marL="914400" indent="0" algn="ctr" defTabSz="914400" rtl="0" eaLnBrk="1" latinLnBrk="0" hangingPunct="1">
              <a:lnSpc>
                <a:spcPct val="90000"/>
              </a:lnSpc>
              <a:spcBef>
                <a:spcPts val="500"/>
              </a:spcBef>
              <a:buClr>
                <a:srgbClr val="C00000"/>
              </a:buClr>
              <a:buSzPct val="120000"/>
              <a:buFont typeface="Wingdings" panose="05000000000000000000" pitchFamily="2" charset="2"/>
              <a:buNone/>
              <a:defRPr sz="1800" kern="1200">
                <a:solidFill>
                  <a:schemeClr val="tx1"/>
                </a:solidFill>
                <a:latin typeface="CMU Sans Serif Medium" panose="02000603000000000000" pitchFamily="2" charset="0"/>
                <a:ea typeface="CMU Sans Serif Medium" panose="02000603000000000000" pitchFamily="2" charset="0"/>
                <a:cs typeface="CMU Sans Serif Medium" panose="02000603000000000000" pitchFamily="2" charset="0"/>
              </a:defRPr>
            </a:lvl3pPr>
            <a:lvl4pPr marL="1371600" indent="0" algn="ctr" defTabSz="914400" rtl="0" eaLnBrk="1" latinLnBrk="0" hangingPunct="1">
              <a:lnSpc>
                <a:spcPct val="90000"/>
              </a:lnSpc>
              <a:spcBef>
                <a:spcPts val="500"/>
              </a:spcBef>
              <a:buClr>
                <a:srgbClr val="C00000"/>
              </a:buClr>
              <a:buSzPct val="120000"/>
              <a:buFont typeface="Wingdings" panose="05000000000000000000" pitchFamily="2" charset="2"/>
              <a:buNone/>
              <a:defRPr sz="1600" kern="1200">
                <a:solidFill>
                  <a:schemeClr val="tx1"/>
                </a:solidFill>
                <a:latin typeface="CMU Sans Serif Medium" panose="02000603000000000000" pitchFamily="2" charset="0"/>
                <a:ea typeface="CMU Sans Serif Medium" panose="02000603000000000000" pitchFamily="2" charset="0"/>
                <a:cs typeface="CMU Sans Serif Medium" panose="02000603000000000000" pitchFamily="2" charset="0"/>
              </a:defRPr>
            </a:lvl4pPr>
            <a:lvl5pPr marL="1828800" indent="0" algn="ctr" defTabSz="914400" rtl="0" eaLnBrk="1" latinLnBrk="0" hangingPunct="1">
              <a:lnSpc>
                <a:spcPct val="90000"/>
              </a:lnSpc>
              <a:spcBef>
                <a:spcPts val="500"/>
              </a:spcBef>
              <a:buClr>
                <a:srgbClr val="C00000"/>
              </a:buClr>
              <a:buSzPct val="120000"/>
              <a:buFont typeface="Wingdings" panose="05000000000000000000" pitchFamily="2" charset="2"/>
              <a:buNone/>
              <a:defRPr sz="1600" kern="1200">
                <a:solidFill>
                  <a:schemeClr val="tx1"/>
                </a:solidFill>
                <a:latin typeface="CMU Sans Serif Medium" panose="02000603000000000000" pitchFamily="2" charset="0"/>
                <a:ea typeface="CMU Sans Serif Medium" panose="02000603000000000000" pitchFamily="2" charset="0"/>
                <a:cs typeface="CMU Sans Serif Medium" panose="02000603000000000000" pitchFamily="2"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1500" dirty="0"/>
          </a:p>
        </p:txBody>
      </p:sp>
      <p:sp>
        <p:nvSpPr>
          <p:cNvPr id="14" name="Title 13">
            <a:extLst>
              <a:ext uri="{FF2B5EF4-FFF2-40B4-BE49-F238E27FC236}">
                <a16:creationId xmlns:a16="http://schemas.microsoft.com/office/drawing/2014/main" id="{64CE541A-6BE9-11BD-EA23-8EFFEB671B88}"/>
              </a:ext>
            </a:extLst>
          </p:cNvPr>
          <p:cNvSpPr>
            <a:spLocks noGrp="1"/>
          </p:cNvSpPr>
          <p:nvPr>
            <p:ph type="title"/>
          </p:nvPr>
        </p:nvSpPr>
        <p:spPr>
          <a:xfrm>
            <a:off x="483008" y="584669"/>
            <a:ext cx="8177981" cy="1172951"/>
          </a:xfrm>
          <a:prstGeom prst="roundRect">
            <a:avLst/>
          </a:prstGeom>
          <a:solidFill>
            <a:schemeClr val="accent1"/>
          </a:solidFill>
          <a:effectLst>
            <a:outerShdw blurRad="152400" dist="177800" dir="2700000" algn="tl" rotWithShape="0">
              <a:prstClr val="black">
                <a:alpha val="28000"/>
              </a:prstClr>
            </a:outerShdw>
          </a:effectLst>
        </p:spPr>
        <p:txBody>
          <a:bodyPr/>
          <a:lstStyle>
            <a:lvl1pPr algn="ctr">
              <a:defRPr/>
            </a:lvl1pPr>
          </a:lstStyle>
          <a:p>
            <a:r>
              <a:rPr lang="en-US"/>
              <a:t>Click to edit Master title style</a:t>
            </a:r>
            <a:endParaRPr lang="en-US" dirty="0"/>
          </a:p>
        </p:txBody>
      </p:sp>
      <p:sp>
        <p:nvSpPr>
          <p:cNvPr id="20" name="Text Placeholder 19">
            <a:extLst>
              <a:ext uri="{FF2B5EF4-FFF2-40B4-BE49-F238E27FC236}">
                <a16:creationId xmlns:a16="http://schemas.microsoft.com/office/drawing/2014/main" id="{A4B9EEEA-4E55-EBA2-FD56-C7F246D4D44C}"/>
              </a:ext>
            </a:extLst>
          </p:cNvPr>
          <p:cNvSpPr>
            <a:spLocks noGrp="1"/>
          </p:cNvSpPr>
          <p:nvPr>
            <p:ph type="body" sz="quarter" idx="13" hasCustomPrompt="1"/>
          </p:nvPr>
        </p:nvSpPr>
        <p:spPr>
          <a:xfrm>
            <a:off x="1560909" y="2156870"/>
            <a:ext cx="6022181" cy="666324"/>
          </a:xfrm>
        </p:spPr>
        <p:txBody>
          <a:bodyPr/>
          <a:lstStyle>
            <a:lvl1pPr marL="0" indent="0" algn="ctr">
              <a:buNone/>
              <a:defRPr/>
            </a:lvl1pPr>
          </a:lstStyle>
          <a:p>
            <a:pPr lvl="0"/>
            <a:r>
              <a:rPr lang="en-US" dirty="0"/>
              <a:t>Your name here</a:t>
            </a:r>
          </a:p>
        </p:txBody>
      </p:sp>
      <p:sp>
        <p:nvSpPr>
          <p:cNvPr id="21" name="Text Placeholder 19">
            <a:extLst>
              <a:ext uri="{FF2B5EF4-FFF2-40B4-BE49-F238E27FC236}">
                <a16:creationId xmlns:a16="http://schemas.microsoft.com/office/drawing/2014/main" id="{B7712E16-869E-C669-4D08-61CB38A952EC}"/>
              </a:ext>
            </a:extLst>
          </p:cNvPr>
          <p:cNvSpPr>
            <a:spLocks noGrp="1"/>
          </p:cNvSpPr>
          <p:nvPr>
            <p:ph type="body" sz="quarter" idx="14" hasCustomPrompt="1"/>
          </p:nvPr>
        </p:nvSpPr>
        <p:spPr>
          <a:xfrm>
            <a:off x="1560908" y="3012689"/>
            <a:ext cx="6022181" cy="871725"/>
          </a:xfrm>
        </p:spPr>
        <p:txBody>
          <a:bodyPr>
            <a:normAutofit/>
          </a:bodyPr>
          <a:lstStyle>
            <a:lvl1pPr marL="0" indent="0" algn="ctr">
              <a:buNone/>
              <a:defRPr sz="1500"/>
            </a:lvl1pPr>
          </a:lstStyle>
          <a:p>
            <a:pPr lvl="0"/>
            <a:r>
              <a:rPr lang="en-US" dirty="0"/>
              <a:t>Your Institution here</a:t>
            </a:r>
          </a:p>
        </p:txBody>
      </p:sp>
      <p:sp>
        <p:nvSpPr>
          <p:cNvPr id="22" name="Text Placeholder 19">
            <a:extLst>
              <a:ext uri="{FF2B5EF4-FFF2-40B4-BE49-F238E27FC236}">
                <a16:creationId xmlns:a16="http://schemas.microsoft.com/office/drawing/2014/main" id="{F3E5E026-FF93-380A-0369-EE921FD448E8}"/>
              </a:ext>
            </a:extLst>
          </p:cNvPr>
          <p:cNvSpPr>
            <a:spLocks noGrp="1"/>
          </p:cNvSpPr>
          <p:nvPr>
            <p:ph type="body" sz="quarter" idx="15" hasCustomPrompt="1"/>
          </p:nvPr>
        </p:nvSpPr>
        <p:spPr>
          <a:xfrm>
            <a:off x="1560908" y="4084776"/>
            <a:ext cx="6022181" cy="605434"/>
          </a:xfrm>
        </p:spPr>
        <p:txBody>
          <a:bodyPr/>
          <a:lstStyle>
            <a:lvl1pPr marL="0" indent="0" algn="ctr">
              <a:buNone/>
              <a:defRPr/>
            </a:lvl1pPr>
          </a:lstStyle>
          <a:p>
            <a:pPr lvl="0"/>
            <a:r>
              <a:rPr lang="en-US" dirty="0"/>
              <a:t>Date</a:t>
            </a:r>
          </a:p>
        </p:txBody>
      </p:sp>
    </p:spTree>
    <p:extLst>
      <p:ext uri="{BB962C8B-B14F-4D97-AF65-F5344CB8AC3E}">
        <p14:creationId xmlns:p14="http://schemas.microsoft.com/office/powerpoint/2010/main" val="10817746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0105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45344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1909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0116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9941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589290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7442298"/>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Lst>
  <p:hf sldNum="0" hdr="0"/>
  <p:txStyles>
    <p:titleStyle>
      <a:lvl1pPr algn="l" defTabSz="685800" rtl="0" eaLnBrk="1" latinLnBrk="0" hangingPunct="1">
        <a:lnSpc>
          <a:spcPct val="90000"/>
        </a:lnSpc>
        <a:spcBef>
          <a:spcPct val="0"/>
        </a:spcBef>
        <a:buNone/>
        <a:defRPr sz="3300" kern="1200">
          <a:solidFill>
            <a:schemeClr val="bg1"/>
          </a:solidFill>
          <a:latin typeface="CMU Sans Serif Medium" panose="02000603000000000000" pitchFamily="2" charset="0"/>
          <a:ea typeface="CMU Sans Serif Medium" panose="02000603000000000000" pitchFamily="2" charset="0"/>
          <a:cs typeface="CMU Sans Serif Medium" panose="02000603000000000000" pitchFamily="2" charset="0"/>
        </a:defRPr>
      </a:lvl1pPr>
    </p:titleStyle>
    <p:bodyStyle>
      <a:lvl1pPr marL="171450" indent="-171450" algn="l" defTabSz="685800" rtl="0" eaLnBrk="1" latinLnBrk="0" hangingPunct="1">
        <a:lnSpc>
          <a:spcPct val="110000"/>
        </a:lnSpc>
        <a:spcBef>
          <a:spcPts val="750"/>
        </a:spcBef>
        <a:buClr>
          <a:schemeClr val="accent1"/>
        </a:buClr>
        <a:buSzPct val="120000"/>
        <a:buFont typeface="Arial" panose="020B0604020202020204" pitchFamily="34" charset="0"/>
        <a:buChar char="•"/>
        <a:defRPr sz="2100" kern="1200">
          <a:solidFill>
            <a:schemeClr val="tx1"/>
          </a:solidFill>
          <a:latin typeface="CMU Sans Serif Medium" panose="02000603000000000000" pitchFamily="2" charset="0"/>
          <a:ea typeface="CMU Sans Serif Medium" panose="02000603000000000000" pitchFamily="2" charset="0"/>
          <a:cs typeface="CMU Sans Serif Medium" panose="02000603000000000000" pitchFamily="2" charset="0"/>
        </a:defRPr>
      </a:lvl1pPr>
      <a:lvl2pPr marL="514350" indent="-171450" algn="just" defTabSz="685800" rtl="0" eaLnBrk="1" latinLnBrk="0" hangingPunct="1">
        <a:lnSpc>
          <a:spcPct val="110000"/>
        </a:lnSpc>
        <a:spcBef>
          <a:spcPts val="450"/>
        </a:spcBef>
        <a:buClr>
          <a:schemeClr val="accent1"/>
        </a:buClr>
        <a:buSzPct val="120000"/>
        <a:buFont typeface="Arial" panose="020B0604020202020204" pitchFamily="34" charset="0"/>
        <a:buChar char="•"/>
        <a:defRPr sz="1800" kern="1200">
          <a:solidFill>
            <a:schemeClr val="tx1"/>
          </a:solidFill>
          <a:latin typeface="CMU Sans Serif Medium" panose="02000603000000000000" pitchFamily="2" charset="0"/>
          <a:ea typeface="CMU Sans Serif Medium" panose="02000603000000000000" pitchFamily="2" charset="0"/>
          <a:cs typeface="CMU Sans Serif Medium" panose="02000603000000000000" pitchFamily="2" charset="0"/>
        </a:defRPr>
      </a:lvl2pPr>
      <a:lvl3pPr marL="857250" indent="-171450" algn="l" defTabSz="685800" rtl="0" eaLnBrk="1" latinLnBrk="0" hangingPunct="1">
        <a:lnSpc>
          <a:spcPct val="110000"/>
        </a:lnSpc>
        <a:spcBef>
          <a:spcPts val="375"/>
        </a:spcBef>
        <a:buClr>
          <a:schemeClr val="accent1"/>
        </a:buClr>
        <a:buSzPct val="120000"/>
        <a:buFont typeface="Arial" panose="020B0604020202020204" pitchFamily="34" charset="0"/>
        <a:buChar char="•"/>
        <a:defRPr sz="1500" kern="1200">
          <a:solidFill>
            <a:schemeClr val="tx1"/>
          </a:solidFill>
          <a:latin typeface="CMU Sans Serif Medium" panose="02000603000000000000" pitchFamily="2" charset="0"/>
          <a:ea typeface="CMU Sans Serif Medium" panose="02000603000000000000" pitchFamily="2" charset="0"/>
          <a:cs typeface="CMU Sans Serif Medium" panose="02000603000000000000" pitchFamily="2" charset="0"/>
        </a:defRPr>
      </a:lvl3pPr>
      <a:lvl4pPr marL="1200150" indent="-171450" algn="l" defTabSz="685800" rtl="0" eaLnBrk="1" latinLnBrk="0" hangingPunct="1">
        <a:lnSpc>
          <a:spcPct val="110000"/>
        </a:lnSpc>
        <a:spcBef>
          <a:spcPts val="375"/>
        </a:spcBef>
        <a:buClr>
          <a:schemeClr val="accent1"/>
        </a:buClr>
        <a:buSzPct val="120000"/>
        <a:buFont typeface="Arial" panose="020B0604020202020204" pitchFamily="34" charset="0"/>
        <a:buChar char="•"/>
        <a:defRPr sz="1350" kern="1200">
          <a:solidFill>
            <a:schemeClr val="tx1"/>
          </a:solidFill>
          <a:latin typeface="CMU Sans Serif Medium" panose="02000603000000000000" pitchFamily="2" charset="0"/>
          <a:ea typeface="CMU Sans Serif Medium" panose="02000603000000000000" pitchFamily="2" charset="0"/>
          <a:cs typeface="CMU Sans Serif Medium" panose="02000603000000000000" pitchFamily="2" charset="0"/>
        </a:defRPr>
      </a:lvl4pPr>
      <a:lvl5pPr marL="1543050" indent="-171450" algn="l" defTabSz="685800" rtl="0" eaLnBrk="1" latinLnBrk="0" hangingPunct="1">
        <a:lnSpc>
          <a:spcPct val="110000"/>
        </a:lnSpc>
        <a:spcBef>
          <a:spcPts val="375"/>
        </a:spcBef>
        <a:buClr>
          <a:schemeClr val="accent1"/>
        </a:buClr>
        <a:buSzPct val="120000"/>
        <a:buFont typeface="Arial" panose="020B0604020202020204" pitchFamily="34" charset="0"/>
        <a:buChar char="•"/>
        <a:defRPr sz="1350" kern="1200">
          <a:solidFill>
            <a:schemeClr val="tx1"/>
          </a:solidFill>
          <a:latin typeface="CMU Sans Serif Medium" panose="02000603000000000000" pitchFamily="2" charset="0"/>
          <a:ea typeface="CMU Sans Serif Medium" panose="02000603000000000000" pitchFamily="2" charset="0"/>
          <a:cs typeface="CMU Sans Serif Medium" panose="02000603000000000000" pitchFamily="2"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p:txBody>
          <a:bodyPr wrap="square"/>
          <a:lstStyle/>
          <a:p>
            <a:r>
              <a:rPr sz="2000" b="1"/>
              <a:t>What Each Data Repair Step Is Worth in Next-Hour Traffic Forecasting on the Istanbul Open Data and What Happens on Holidays</a:t>
            </a:r>
            <a:endParaRPr lang="vi-VN" dirty="0"/>
          </a:p>
        </p:txBody>
      </p:sp>
      <p:sp>
        <p:nvSpPr>
          <p:cNvPr id="10" name="Text Placeholder 2"/>
          <p:cNvSpPr>
            <a:spLocks noGrp="1"/>
          </p:cNvSpPr>
          <p:nvPr>
            <p:ph type="body" sz="quarter" idx="13"/>
          </p:nvPr>
        </p:nvSpPr>
        <p:spPr>
          <a:xfrm>
            <a:off x="1560909" y="4225670"/>
            <a:ext cx="6022181" cy="666324"/>
          </a:xfrm>
        </p:spPr>
        <p:txBody>
          <a:bodyPr/>
          <a:lstStyle/>
          <a:p>
            <a:r>
              <a:rPr sz="1800"/>
              <a:t>Ho Chi Minh City, 2026</a:t>
            </a:r>
            <a:endParaRPr lang="vi-VN" sz="2000" dirty="0"/>
          </a:p>
        </p:txBody>
      </p:sp>
      <p:sp>
        <p:nvSpPr>
          <p:cNvPr id="12" name="Text Placeholder 3"/>
          <p:cNvSpPr>
            <a:spLocks noGrp="1"/>
          </p:cNvSpPr>
          <p:nvPr>
            <p:ph type="body" sz="quarter" idx="14"/>
          </p:nvPr>
        </p:nvSpPr>
        <p:spPr>
          <a:xfrm>
            <a:off x="483010" y="2428875"/>
            <a:ext cx="2461990" cy="1371600"/>
          </a:xfrm>
        </p:spPr>
        <p:txBody>
          <a:bodyPr>
            <a:noAutofit/>
          </a:bodyPr>
          <a:lstStyle/>
          <a:p>
            <a:r>
              <a:rPr sz="1800"/>
              <a:t>Students:</a:t>
            </a:r>
            <a:endParaRPr lang="vi-VN" sz="1600" dirty="0"/>
          </a:p>
          <a:p>
            <a:r>
              <a:rPr sz="1600" b="1"/>
              <a:t>Quang Tran</a:t>
            </a:r>
          </a:p>
          <a:p>
            <a:r>
              <a:rPr sz="1600" b="1"/>
              <a:t>An Truong</a:t>
            </a:r>
          </a:p>
          <a:p>
            <a:r>
              <a:rPr sz="1600" b="1"/>
              <a:t>Loc Truong</a:t>
            </a:r>
          </a:p>
        </p:txBody>
      </p:sp>
      <p:sp>
        <p:nvSpPr>
          <p:cNvPr id="2" name="Text Placeholder 2">
            <a:extLst>
              <a:ext uri="{FF2B5EF4-FFF2-40B4-BE49-F238E27FC236}">
                <a16:creationId xmlns:a16="http://schemas.microsoft.com/office/drawing/2014/main" id="{D2ECFBEB-DBC9-E8DA-B66E-39EEC382F40D}"/>
              </a:ext>
            </a:extLst>
          </p:cNvPr>
          <p:cNvSpPr txBox="1">
            <a:spLocks/>
          </p:cNvSpPr>
          <p:nvPr/>
        </p:nvSpPr>
        <p:spPr>
          <a:xfrm>
            <a:off x="5398113" y="2428875"/>
            <a:ext cx="3049979" cy="914400"/>
          </a:xfrm>
        </p:spPr>
        <p:txBody>
          <a:bodyPr/>
          <a:lstStyle>
            <a:lvl1pPr marL="0" indent="0" algn="ctr" defTabSz="685800" rtl="0" eaLnBrk="1" latinLnBrk="0" hangingPunct="1">
              <a:lnSpc>
                <a:spcPct val="110000"/>
              </a:lnSpc>
              <a:spcBef>
                <a:spcPts val="750"/>
              </a:spcBef>
              <a:buClr>
                <a:schemeClr val="accent1"/>
              </a:buClr>
              <a:buSzPct val="120000"/>
              <a:buFont typeface="Arial" panose="020B0604020202020204" pitchFamily="34" charset="0"/>
              <a:buNone/>
              <a:defRPr sz="2100" kern="1200">
                <a:solidFill>
                  <a:schemeClr val="tx1"/>
                </a:solidFill>
                <a:latin typeface="CMU Sans Serif Medium" panose="02000603000000000000" pitchFamily="2" charset="0"/>
                <a:ea typeface="CMU Sans Serif Medium" panose="02000603000000000000" pitchFamily="2" charset="0"/>
                <a:cs typeface="CMU Sans Serif Medium" panose="02000603000000000000" pitchFamily="2" charset="0"/>
              </a:defRPr>
            </a:lvl1pPr>
            <a:lvl2pPr marL="514350" indent="-171450" algn="just" defTabSz="685800" rtl="0" eaLnBrk="1" latinLnBrk="0" hangingPunct="1">
              <a:lnSpc>
                <a:spcPct val="110000"/>
              </a:lnSpc>
              <a:spcBef>
                <a:spcPts val="450"/>
              </a:spcBef>
              <a:buClr>
                <a:schemeClr val="accent1"/>
              </a:buClr>
              <a:buSzPct val="120000"/>
              <a:buFont typeface="Arial" panose="020B0604020202020204" pitchFamily="34" charset="0"/>
              <a:buChar char="•"/>
              <a:defRPr sz="1800" kern="1200">
                <a:solidFill>
                  <a:schemeClr val="tx1"/>
                </a:solidFill>
                <a:latin typeface="CMU Sans Serif Medium" panose="02000603000000000000" pitchFamily="2" charset="0"/>
                <a:ea typeface="CMU Sans Serif Medium" panose="02000603000000000000" pitchFamily="2" charset="0"/>
                <a:cs typeface="CMU Sans Serif Medium" panose="02000603000000000000" pitchFamily="2" charset="0"/>
              </a:defRPr>
            </a:lvl2pPr>
            <a:lvl3pPr marL="857250" indent="-171450" algn="l" defTabSz="685800" rtl="0" eaLnBrk="1" latinLnBrk="0" hangingPunct="1">
              <a:lnSpc>
                <a:spcPct val="110000"/>
              </a:lnSpc>
              <a:spcBef>
                <a:spcPts val="375"/>
              </a:spcBef>
              <a:buClr>
                <a:schemeClr val="accent1"/>
              </a:buClr>
              <a:buSzPct val="120000"/>
              <a:buFont typeface="Arial" panose="020B0604020202020204" pitchFamily="34" charset="0"/>
              <a:buChar char="•"/>
              <a:defRPr sz="1500" kern="1200">
                <a:solidFill>
                  <a:schemeClr val="tx1"/>
                </a:solidFill>
                <a:latin typeface="CMU Sans Serif Medium" panose="02000603000000000000" pitchFamily="2" charset="0"/>
                <a:ea typeface="CMU Sans Serif Medium" panose="02000603000000000000" pitchFamily="2" charset="0"/>
                <a:cs typeface="CMU Sans Serif Medium" panose="02000603000000000000" pitchFamily="2" charset="0"/>
              </a:defRPr>
            </a:lvl3pPr>
            <a:lvl4pPr marL="1200150" indent="-171450" algn="l" defTabSz="685800" rtl="0" eaLnBrk="1" latinLnBrk="0" hangingPunct="1">
              <a:lnSpc>
                <a:spcPct val="110000"/>
              </a:lnSpc>
              <a:spcBef>
                <a:spcPts val="375"/>
              </a:spcBef>
              <a:buClr>
                <a:schemeClr val="accent1"/>
              </a:buClr>
              <a:buSzPct val="120000"/>
              <a:buFont typeface="Arial" panose="020B0604020202020204" pitchFamily="34" charset="0"/>
              <a:buChar char="•"/>
              <a:defRPr sz="1350" kern="1200">
                <a:solidFill>
                  <a:schemeClr val="tx1"/>
                </a:solidFill>
                <a:latin typeface="CMU Sans Serif Medium" panose="02000603000000000000" pitchFamily="2" charset="0"/>
                <a:ea typeface="CMU Sans Serif Medium" panose="02000603000000000000" pitchFamily="2" charset="0"/>
                <a:cs typeface="CMU Sans Serif Medium" panose="02000603000000000000" pitchFamily="2" charset="0"/>
              </a:defRPr>
            </a:lvl4pPr>
            <a:lvl5pPr marL="1543050" indent="-171450" algn="l" defTabSz="685800" rtl="0" eaLnBrk="1" latinLnBrk="0" hangingPunct="1">
              <a:lnSpc>
                <a:spcPct val="110000"/>
              </a:lnSpc>
              <a:spcBef>
                <a:spcPts val="375"/>
              </a:spcBef>
              <a:buClr>
                <a:schemeClr val="accent1"/>
              </a:buClr>
              <a:buSzPct val="120000"/>
              <a:buFont typeface="Arial" panose="020B0604020202020204" pitchFamily="34" charset="0"/>
              <a:buChar char="•"/>
              <a:defRPr sz="1350" kern="1200">
                <a:solidFill>
                  <a:schemeClr val="tx1"/>
                </a:solidFill>
                <a:latin typeface="CMU Sans Serif Medium" panose="02000603000000000000" pitchFamily="2" charset="0"/>
                <a:ea typeface="CMU Sans Serif Medium" panose="02000603000000000000" pitchFamily="2" charset="0"/>
                <a:cs typeface="CMU Sans Serif Medium" panose="02000603000000000000" pitchFamily="2"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sz="1800"/>
              <a:t>Supervisor:</a:t>
            </a:r>
            <a:endParaRPr lang="vi-VN" sz="1800" dirty="0"/>
          </a:p>
          <a:p>
            <a:r>
              <a:rPr sz="1600" b="1"/>
              <a:t>Lê Võ Minh Thư</a:t>
            </a:r>
          </a:p>
        </p:txBody>
      </p:sp>
      <p:pic>
        <p:nvPicPr>
          <p:cNvPr id="3" name="Picture 2" descr="Tập tin:Logo Trường Đại học FPT.svg – Wikipedia tiếng Việt">
            <a:extLst>
              <a:ext uri="{FF2B5EF4-FFF2-40B4-BE49-F238E27FC236}">
                <a16:creationId xmlns:a16="http://schemas.microsoft.com/office/drawing/2014/main" id="{0F432BE8-E2E0-949D-EAF2-415305F0F0D0}"/>
              </a:ext>
            </a:extLst>
          </p:cNvPr>
          <p:cNvPicPr>
            <a:picLocks noChangeAspect="1"/>
          </p:cNvPicPr>
          <p:nvPr/>
        </p:nvPicPr>
        <p:blipFill>
          <a:blip r:embed="rId2"/>
          <a:stretch>
            <a:fillRect/>
          </a:stretch>
        </p:blipFill>
        <p:spPr>
          <a:xfrm>
            <a:off x="227665" y="64909"/>
            <a:ext cx="944648" cy="368265"/>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d"/>
          <p:cNvSpPr txBox="1"/>
          <p:nvPr/>
        </p:nvSpPr>
        <p:spPr>
          <a:xfrm>
            <a:off x="457200" y="182880"/>
            <a:ext cx="8229600" cy="777240"/>
          </a:xfrm>
          <a:prstGeom prst="rect">
            <a:avLst/>
          </a:prstGeom>
          <a:noFill/>
        </p:spPr>
        <p:txBody>
          <a:bodyPr wrap="square" lIns="0" rIns="0" tIns="0" bIns="0" anchor="ctr">
            <a:spAutoFit/>
          </a:bodyPr>
          <a:lstStyle/>
          <a:p>
            <a:pPr algn="l"/>
            <a:r>
              <a:rPr sz="2800" b="1">
                <a:solidFill>
                  <a:srgbClr val="1F3864"/>
                </a:solidFill>
                <a:latin typeface="Calibri"/>
                <a:ea typeface="Calibri"/>
                <a:cs typeface="Calibri"/>
              </a:rPr>
              <a:t>Outline</a:t>
            </a:r>
          </a:p>
        </p:txBody>
      </p:sp>
      <p:cxnSp>
        <p:nvCxnSpPr>
          <p:cNvPr id="3" name="Div"/>
          <p:cNvCxnSpPr/>
          <p:nvPr/>
        </p:nvCxnSpPr>
        <p:spPr>
          <a:xfrm>
            <a:off x="457200" y="960120"/>
            <a:ext cx="8229600" cy="0"/>
          </a:xfrm>
          <a:prstGeom prst="line">
            <a:avLst/>
          </a:prstGeom>
          <a:ln w="19050">
            <a:solidFill>
              <a:srgbClr val="4472C4"/>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457200" y="1188720"/>
            <a:ext cx="1234440" cy="1051560"/>
          </a:xfrm>
          <a:prstGeom prst="rect">
            <a:avLst/>
          </a:prstGeom>
          <a:solidFill>
            <a:srgbClr val="1A2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latin typeface="Calibri"/>
                <a:ea typeface="Calibri"/>
                <a:cs typeface="Calibri"/>
              </a:rPr>
              <a:t>PART 1</a:t>
            </a:r>
          </a:p>
        </p:txBody>
      </p:sp>
      <p:sp>
        <p:nvSpPr>
          <p:cNvPr id="5" name="Rectangle 4"/>
          <p:cNvSpPr/>
          <p:nvPr/>
        </p:nvSpPr>
        <p:spPr>
          <a:xfrm>
            <a:off x="1691640" y="1188720"/>
            <a:ext cx="6995160" cy="1051560"/>
          </a:xfrm>
          <a:prstGeom prst="rect">
            <a:avLst/>
          </a:prstGeom>
          <a:solidFill>
            <a:srgbClr val="F0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920240" y="1316736"/>
            <a:ext cx="6675120" cy="411480"/>
          </a:xfrm>
          <a:prstGeom prst="rect">
            <a:avLst/>
          </a:prstGeom>
          <a:noFill/>
        </p:spPr>
        <p:txBody>
          <a:bodyPr wrap="square" lIns="0" rIns="0" tIns="0" bIns="0" anchor="t">
            <a:spAutoFit/>
          </a:bodyPr>
          <a:lstStyle/>
          <a:p>
            <a:pPr algn="l"/>
            <a:r>
              <a:rPr sz="2000" b="1">
                <a:solidFill>
                  <a:srgbClr val="1A2E6B"/>
                </a:solidFill>
                <a:latin typeface="Calibri"/>
                <a:ea typeface="Calibri"/>
                <a:cs typeface="Calibri"/>
              </a:rPr>
              <a:t>Understanding the Problem &amp; Data</a:t>
            </a:r>
          </a:p>
        </p:txBody>
      </p:sp>
      <p:sp>
        <p:nvSpPr>
          <p:cNvPr id="7" name="TextBox 6"/>
          <p:cNvSpPr txBox="1"/>
          <p:nvPr/>
        </p:nvSpPr>
        <p:spPr>
          <a:xfrm>
            <a:off x="1920240" y="1755648"/>
            <a:ext cx="6675120" cy="365760"/>
          </a:xfrm>
          <a:prstGeom prst="rect">
            <a:avLst/>
          </a:prstGeom>
          <a:noFill/>
        </p:spPr>
        <p:txBody>
          <a:bodyPr wrap="square" lIns="0" rIns="0" tIns="0" bIns="0" anchor="t">
            <a:spAutoFit/>
          </a:bodyPr>
          <a:lstStyle/>
          <a:p>
            <a:pPr algn="l"/>
            <a:r>
              <a:rPr sz="1250" b="0">
                <a:solidFill>
                  <a:srgbClr val="64748B"/>
                </a:solidFill>
                <a:latin typeface="Calibri"/>
                <a:ea typeface="Calibri"/>
                <a:cs typeface="Calibri"/>
              </a:rPr>
              <a:t>Problem Statement · Research Questions · Study Area · Data Cleaning · SQL Queries</a:t>
            </a:r>
          </a:p>
        </p:txBody>
      </p:sp>
      <p:sp>
        <p:nvSpPr>
          <p:cNvPr id="8" name="Rectangle 7"/>
          <p:cNvSpPr/>
          <p:nvPr/>
        </p:nvSpPr>
        <p:spPr>
          <a:xfrm>
            <a:off x="457200" y="2423160"/>
            <a:ext cx="1234440" cy="1051560"/>
          </a:xfrm>
          <a:prstGeom prst="rect">
            <a:avLst/>
          </a:prstGeom>
          <a:solidFill>
            <a:srgbClr val="065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latin typeface="Calibri"/>
                <a:ea typeface="Calibri"/>
                <a:cs typeface="Calibri"/>
              </a:rPr>
              <a:t>PART 2</a:t>
            </a:r>
          </a:p>
        </p:txBody>
      </p:sp>
      <p:sp>
        <p:nvSpPr>
          <p:cNvPr id="9" name="Rectangle 8"/>
          <p:cNvSpPr/>
          <p:nvPr/>
        </p:nvSpPr>
        <p:spPr>
          <a:xfrm>
            <a:off x="1691640" y="2423160"/>
            <a:ext cx="6995160" cy="1051560"/>
          </a:xfrm>
          <a:prstGeom prst="rect">
            <a:avLst/>
          </a:prstGeom>
          <a:solidFill>
            <a:srgbClr val="F0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920240" y="2551176"/>
            <a:ext cx="6675120" cy="411480"/>
          </a:xfrm>
          <a:prstGeom prst="rect">
            <a:avLst/>
          </a:prstGeom>
          <a:noFill/>
        </p:spPr>
        <p:txBody>
          <a:bodyPr wrap="square" lIns="0" rIns="0" tIns="0" bIns="0" anchor="t">
            <a:spAutoFit/>
          </a:bodyPr>
          <a:lstStyle/>
          <a:p>
            <a:pPr algn="l"/>
            <a:r>
              <a:rPr sz="2000" b="1">
                <a:solidFill>
                  <a:srgbClr val="065F46"/>
                </a:solidFill>
                <a:latin typeface="Calibri"/>
                <a:ea typeface="Calibri"/>
                <a:cs typeface="Calibri"/>
              </a:rPr>
              <a:t>Analysis &amp; Visualization  (RQ1)</a:t>
            </a:r>
          </a:p>
        </p:txBody>
      </p:sp>
      <p:sp>
        <p:nvSpPr>
          <p:cNvPr id="11" name="TextBox 10"/>
          <p:cNvSpPr txBox="1"/>
          <p:nvPr/>
        </p:nvSpPr>
        <p:spPr>
          <a:xfrm>
            <a:off x="1920240" y="2990088"/>
            <a:ext cx="6675120" cy="365760"/>
          </a:xfrm>
          <a:prstGeom prst="rect">
            <a:avLst/>
          </a:prstGeom>
          <a:noFill/>
        </p:spPr>
        <p:txBody>
          <a:bodyPr wrap="square" lIns="0" rIns="0" tIns="0" bIns="0" anchor="t">
            <a:spAutoFit/>
          </a:bodyPr>
          <a:lstStyle/>
          <a:p>
            <a:pPr algn="l"/>
            <a:r>
              <a:rPr sz="1250" b="0">
                <a:solidFill>
                  <a:srgbClr val="64748B"/>
                </a:solidFill>
                <a:latin typeface="Calibri"/>
                <a:ea typeface="Calibri"/>
                <a:cs typeface="Calibri"/>
              </a:rPr>
              <a:t>Study pipeline · Weekly rhythm by hour and day · Holidays by month</a:t>
            </a:r>
          </a:p>
        </p:txBody>
      </p:sp>
      <p:sp>
        <p:nvSpPr>
          <p:cNvPr id="12" name="Rectangle 11"/>
          <p:cNvSpPr/>
          <p:nvPr/>
        </p:nvSpPr>
        <p:spPr>
          <a:xfrm>
            <a:off x="457200" y="3657600"/>
            <a:ext cx="1234440" cy="1051560"/>
          </a:xfrm>
          <a:prstGeom prst="rect">
            <a:avLst/>
          </a:prstGeom>
          <a:solidFill>
            <a:srgbClr val="6B21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latin typeface="Calibri"/>
                <a:ea typeface="Calibri"/>
                <a:cs typeface="Calibri"/>
              </a:rPr>
              <a:t>PART 3</a:t>
            </a:r>
          </a:p>
        </p:txBody>
      </p:sp>
      <p:sp>
        <p:nvSpPr>
          <p:cNvPr id="13" name="Rectangle 12"/>
          <p:cNvSpPr/>
          <p:nvPr/>
        </p:nvSpPr>
        <p:spPr>
          <a:xfrm>
            <a:off x="1691640" y="3657600"/>
            <a:ext cx="6995160" cy="1051560"/>
          </a:xfrm>
          <a:prstGeom prst="rect">
            <a:avLst/>
          </a:prstGeom>
          <a:solidFill>
            <a:srgbClr val="F0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920240" y="3785615"/>
            <a:ext cx="6675120" cy="411480"/>
          </a:xfrm>
          <a:prstGeom prst="rect">
            <a:avLst/>
          </a:prstGeom>
          <a:noFill/>
        </p:spPr>
        <p:txBody>
          <a:bodyPr wrap="square" lIns="0" rIns="0" tIns="0" bIns="0" anchor="t">
            <a:spAutoFit/>
          </a:bodyPr>
          <a:lstStyle/>
          <a:p>
            <a:pPr algn="l"/>
            <a:r>
              <a:rPr sz="2000" b="1">
                <a:solidFill>
                  <a:srgbClr val="6B21A8"/>
                </a:solidFill>
                <a:latin typeface="Calibri"/>
                <a:ea typeface="Calibri"/>
                <a:cs typeface="Calibri"/>
              </a:rPr>
              <a:t>Modeling &amp; Evaluation  (RQ2, RQ3)</a:t>
            </a:r>
          </a:p>
        </p:txBody>
      </p:sp>
      <p:sp>
        <p:nvSpPr>
          <p:cNvPr id="15" name="TextBox 14"/>
          <p:cNvSpPr txBox="1"/>
          <p:nvPr/>
        </p:nvSpPr>
        <p:spPr>
          <a:xfrm>
            <a:off x="1920240" y="4224528"/>
            <a:ext cx="6675120" cy="365760"/>
          </a:xfrm>
          <a:prstGeom prst="rect">
            <a:avLst/>
          </a:prstGeom>
          <a:noFill/>
        </p:spPr>
        <p:txBody>
          <a:bodyPr wrap="square" lIns="0" rIns="0" tIns="0" bIns="0" anchor="t">
            <a:spAutoFit/>
          </a:bodyPr>
          <a:lstStyle/>
          <a:p>
            <a:pPr algn="l"/>
            <a:r>
              <a:rPr sz="1250" b="0">
                <a:solidFill>
                  <a:srgbClr val="64748B"/>
                </a:solidFill>
                <a:latin typeface="Calibri"/>
                <a:ea typeface="Calibri"/>
                <a:cs typeface="Calibri"/>
              </a:rPr>
              <a:t>Model comparison · Repair ladder · Holiday echo and weekly lag · Feature groups · Conclusion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ox2"/>
          <p:cNvSpPr/>
          <p:nvPr/>
        </p:nvSpPr>
        <p:spPr>
          <a:xfrm>
            <a:off x="0" y="0"/>
            <a:ext cx="9144000" cy="5143500"/>
          </a:xfrm>
          <a:prstGeom prst="rect">
            <a:avLst/>
          </a:prstGeom>
          <a:solidFill>
            <a:srgbClr val="1A2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ox3"/>
          <p:cNvSpPr/>
          <p:nvPr/>
        </p:nvSpPr>
        <p:spPr>
          <a:xfrm>
            <a:off x="0" y="1197864"/>
            <a:ext cx="9144000" cy="5029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ea typeface="Calibri"/>
                <a:cs typeface="Calibri"/>
              </a:rPr>
              <a:t>PART 1</a:t>
            </a:r>
          </a:p>
        </p:txBody>
      </p:sp>
      <p:sp>
        <p:nvSpPr>
          <p:cNvPr id="4" name="Box4"/>
          <p:cNvSpPr/>
          <p:nvPr/>
        </p:nvSpPr>
        <p:spPr>
          <a:xfrm>
            <a:off x="402336" y="1783080"/>
            <a:ext cx="8348472" cy="89611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3200" b="1">
                <a:solidFill>
                  <a:srgbClr val="FFFFFF"/>
                </a:solidFill>
                <a:latin typeface="Calibri"/>
                <a:ea typeface="Calibri"/>
                <a:cs typeface="Calibri"/>
              </a:rPr>
              <a:t>Understanding the Problem &amp; Data</a:t>
            </a:r>
          </a:p>
        </p:txBody>
      </p:sp>
      <p:sp>
        <p:nvSpPr>
          <p:cNvPr id="5" name="Box10"/>
          <p:cNvSpPr/>
          <p:nvPr/>
        </p:nvSpPr>
        <p:spPr>
          <a:xfrm>
            <a:off x="246888" y="2898648"/>
            <a:ext cx="2121408" cy="4480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0">
                <a:solidFill>
                  <a:srgbClr val="1F3864"/>
                </a:solidFill>
                <a:latin typeface="Calibri"/>
                <a:ea typeface="Calibri"/>
                <a:cs typeface="Calibri"/>
              </a:rPr>
              <a:t>Problem Statement</a:t>
            </a:r>
          </a:p>
        </p:txBody>
      </p:sp>
      <p:sp>
        <p:nvSpPr>
          <p:cNvPr id="6" name="Box11"/>
          <p:cNvSpPr/>
          <p:nvPr/>
        </p:nvSpPr>
        <p:spPr>
          <a:xfrm>
            <a:off x="2423160" y="2898648"/>
            <a:ext cx="2121408" cy="4480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0">
                <a:solidFill>
                  <a:srgbClr val="1F3864"/>
                </a:solidFill>
                <a:latin typeface="Calibri"/>
                <a:ea typeface="Calibri"/>
                <a:cs typeface="Calibri"/>
              </a:rPr>
              <a:t>Research Questions</a:t>
            </a:r>
          </a:p>
        </p:txBody>
      </p:sp>
      <p:sp>
        <p:nvSpPr>
          <p:cNvPr id="7" name="Box12"/>
          <p:cNvSpPr/>
          <p:nvPr/>
        </p:nvSpPr>
        <p:spPr>
          <a:xfrm>
            <a:off x="4599432" y="2898648"/>
            <a:ext cx="2121408" cy="4480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0">
                <a:solidFill>
                  <a:srgbClr val="1F3864"/>
                </a:solidFill>
                <a:latin typeface="Calibri"/>
                <a:ea typeface="Calibri"/>
                <a:cs typeface="Calibri"/>
              </a:rPr>
              <a:t>Study Area &amp; Cleaning</a:t>
            </a:r>
          </a:p>
        </p:txBody>
      </p:sp>
      <p:sp>
        <p:nvSpPr>
          <p:cNvPr id="8" name="Box13"/>
          <p:cNvSpPr/>
          <p:nvPr/>
        </p:nvSpPr>
        <p:spPr>
          <a:xfrm>
            <a:off x="6775704" y="2898648"/>
            <a:ext cx="2121408" cy="4480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0">
                <a:solidFill>
                  <a:srgbClr val="1F3864"/>
                </a:solidFill>
                <a:latin typeface="Calibri"/>
                <a:ea typeface="Calibri"/>
                <a:cs typeface="Calibri"/>
              </a:rPr>
              <a:t>SQL Queries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d"/>
          <p:cNvSpPr txBox="1"/>
          <p:nvPr/>
        </p:nvSpPr>
        <p:spPr>
          <a:xfrm>
            <a:off x="457200" y="182880"/>
            <a:ext cx="8229600" cy="777240"/>
          </a:xfrm>
          <a:prstGeom prst="rect">
            <a:avLst/>
          </a:prstGeom>
          <a:noFill/>
        </p:spPr>
        <p:txBody>
          <a:bodyPr wrap="square" lIns="0" rIns="0" tIns="0" bIns="0" anchor="ctr">
            <a:spAutoFit/>
          </a:bodyPr>
          <a:lstStyle/>
          <a:p>
            <a:pPr algn="l"/>
            <a:r>
              <a:rPr sz="2800" b="1">
                <a:solidFill>
                  <a:srgbClr val="1F3864"/>
                </a:solidFill>
                <a:latin typeface="Calibri"/>
                <a:ea typeface="Calibri"/>
                <a:cs typeface="Calibri"/>
              </a:rPr>
              <a:t>#1 Problem Statement</a:t>
            </a:r>
          </a:p>
        </p:txBody>
      </p:sp>
      <p:cxnSp>
        <p:nvCxnSpPr>
          <p:cNvPr id="3" name="Div"/>
          <p:cNvCxnSpPr/>
          <p:nvPr/>
        </p:nvCxnSpPr>
        <p:spPr>
          <a:xfrm>
            <a:off x="457200" y="960120"/>
            <a:ext cx="8229600" cy="0"/>
          </a:xfrm>
          <a:prstGeom prst="line">
            <a:avLst/>
          </a:prstGeom>
          <a:ln w="19050">
            <a:solidFill>
              <a:srgbClr val="4472C4"/>
            </a:solidFill>
          </a:ln>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457200" y="1234440"/>
            <a:ext cx="548640" cy="5486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latin typeface="Calibri"/>
                <a:ea typeface="Calibri"/>
                <a:cs typeface="Calibri"/>
              </a:rPr>
              <a:t>1</a:t>
            </a:r>
          </a:p>
        </p:txBody>
      </p:sp>
      <p:sp>
        <p:nvSpPr>
          <p:cNvPr id="5" name="TextBox 4"/>
          <p:cNvSpPr txBox="1"/>
          <p:nvPr/>
        </p:nvSpPr>
        <p:spPr>
          <a:xfrm>
            <a:off x="1188720" y="1188720"/>
            <a:ext cx="3840480" cy="1005840"/>
          </a:xfrm>
          <a:prstGeom prst="rect">
            <a:avLst/>
          </a:prstGeom>
          <a:noFill/>
        </p:spPr>
        <p:txBody>
          <a:bodyPr wrap="square" lIns="0" rIns="0" tIns="0" bIns="0" anchor="t">
            <a:spAutoFit/>
          </a:bodyPr>
          <a:lstStyle/>
          <a:p>
            <a:pPr algn="l"/>
            <a:r>
              <a:rPr sz="1500" b="1">
                <a:solidFill>
                  <a:srgbClr val="1F3864"/>
                </a:solidFill>
                <a:latin typeface="Calibri"/>
                <a:ea typeface="Calibri"/>
                <a:cs typeface="Calibri"/>
              </a:rPr>
              <a:t>Why next-hour traffic?</a:t>
            </a:r>
          </a:p>
          <a:p>
            <a:pPr algn="l"/>
            <a:r>
              <a:rPr sz="1250" b="0">
                <a:solidFill>
                  <a:srgbClr val="2C2C2C"/>
                </a:solidFill>
                <a:latin typeface="Calibri"/>
                <a:ea typeface="Calibri"/>
                <a:cs typeface="Calibri"/>
              </a:rPr>
              <a:t>Traffic centres forecast each road cell one hour ahead to set signals and inform drivers.</a:t>
            </a:r>
          </a:p>
        </p:txBody>
      </p:sp>
      <p:sp>
        <p:nvSpPr>
          <p:cNvPr id="6" name="Oval 5"/>
          <p:cNvSpPr/>
          <p:nvPr/>
        </p:nvSpPr>
        <p:spPr>
          <a:xfrm>
            <a:off x="457200" y="2350008"/>
            <a:ext cx="548640" cy="5486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latin typeface="Calibri"/>
                <a:ea typeface="Calibri"/>
                <a:cs typeface="Calibri"/>
              </a:rPr>
              <a:t>2</a:t>
            </a:r>
          </a:p>
        </p:txBody>
      </p:sp>
      <p:sp>
        <p:nvSpPr>
          <p:cNvPr id="7" name="TextBox 6"/>
          <p:cNvSpPr txBox="1"/>
          <p:nvPr/>
        </p:nvSpPr>
        <p:spPr>
          <a:xfrm>
            <a:off x="1188720" y="2304288"/>
            <a:ext cx="3840480" cy="1005840"/>
          </a:xfrm>
          <a:prstGeom prst="rect">
            <a:avLst/>
          </a:prstGeom>
          <a:noFill/>
        </p:spPr>
        <p:txBody>
          <a:bodyPr wrap="square" lIns="0" rIns="0" tIns="0" bIns="0" anchor="t">
            <a:spAutoFit/>
          </a:bodyPr>
          <a:lstStyle/>
          <a:p>
            <a:pPr algn="l"/>
            <a:r>
              <a:rPr sz="1500" b="1">
                <a:solidFill>
                  <a:srgbClr val="1F3864"/>
                </a:solidFill>
                <a:latin typeface="Calibri"/>
                <a:ea typeface="Calibri"/>
                <a:cs typeface="Calibri"/>
              </a:rPr>
              <a:t>What we forecast</a:t>
            </a:r>
          </a:p>
          <a:p>
            <a:pPr algn="l"/>
            <a:r>
              <a:rPr sz="1250" b="0">
                <a:solidFill>
                  <a:srgbClr val="2C2C2C"/>
                </a:solidFill>
                <a:latin typeface="Calibri"/>
                <a:ea typeface="Calibri"/>
                <a:cs typeface="Calibri"/>
              </a:rPr>
              <a:t>The number of vehicles in a road cell in the next hour, for the 150 busiest cells of Istanbul, 2022–2024.</a:t>
            </a:r>
          </a:p>
        </p:txBody>
      </p:sp>
      <p:sp>
        <p:nvSpPr>
          <p:cNvPr id="8" name="Oval 7"/>
          <p:cNvSpPr/>
          <p:nvPr/>
        </p:nvSpPr>
        <p:spPr>
          <a:xfrm>
            <a:off x="457200" y="3465576"/>
            <a:ext cx="548640" cy="5486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latin typeface="Calibri"/>
                <a:ea typeface="Calibri"/>
                <a:cs typeface="Calibri"/>
              </a:rPr>
              <a:t>3</a:t>
            </a:r>
          </a:p>
        </p:txBody>
      </p:sp>
      <p:sp>
        <p:nvSpPr>
          <p:cNvPr id="9" name="TextBox 8"/>
          <p:cNvSpPr txBox="1"/>
          <p:nvPr/>
        </p:nvSpPr>
        <p:spPr>
          <a:xfrm>
            <a:off x="1188720" y="3419856"/>
            <a:ext cx="3840480" cy="1005840"/>
          </a:xfrm>
          <a:prstGeom prst="rect">
            <a:avLst/>
          </a:prstGeom>
          <a:noFill/>
        </p:spPr>
        <p:txBody>
          <a:bodyPr wrap="square" lIns="0" rIns="0" tIns="0" bIns="0" anchor="t">
            <a:spAutoFit/>
          </a:bodyPr>
          <a:lstStyle/>
          <a:p>
            <a:pPr algn="l"/>
            <a:r>
              <a:rPr sz="1500" b="1">
                <a:solidFill>
                  <a:srgbClr val="1F3864"/>
                </a:solidFill>
                <a:latin typeface="Calibri"/>
                <a:ea typeface="Calibri"/>
                <a:cs typeface="Calibri"/>
              </a:rPr>
              <a:t>Why it matters</a:t>
            </a:r>
          </a:p>
          <a:p>
            <a:pPr algn="l"/>
            <a:r>
              <a:rPr sz="1250" b="0">
                <a:solidFill>
                  <a:srgbClr val="2C2C2C"/>
                </a:solidFill>
                <a:latin typeface="Calibri"/>
                <a:ea typeface="Calibri"/>
                <a:cs typeface="Calibri"/>
              </a:rPr>
              <a:t>Papers report one error number; how much comes from data preparation, and how bad holidays are, is rarely measured.</a:t>
            </a:r>
          </a:p>
        </p:txBody>
      </p:sp>
      <p:sp>
        <p:nvSpPr>
          <p:cNvPr id="10" name="Rectangle 9"/>
          <p:cNvSpPr/>
          <p:nvPr/>
        </p:nvSpPr>
        <p:spPr>
          <a:xfrm>
            <a:off x="5257800" y="1143000"/>
            <a:ext cx="3429000" cy="3246120"/>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394960" y="1234440"/>
            <a:ext cx="3200400" cy="3108960"/>
          </a:xfrm>
          <a:prstGeom prst="rect">
            <a:avLst/>
          </a:prstGeom>
          <a:noFill/>
        </p:spPr>
        <p:txBody>
          <a:bodyPr wrap="square" lIns="0" rIns="0" tIns="0" bIns="0" anchor="t">
            <a:spAutoFit/>
          </a:bodyPr>
          <a:lstStyle/>
          <a:p>
            <a:pPr algn="l">
              <a:spcAft>
                <a:spcPts val="300"/>
              </a:spcAft>
            </a:pPr>
            <a:r>
              <a:rPr sz="1500" b="1">
                <a:solidFill>
                  <a:srgbClr val="1F3864"/>
                </a:solidFill>
                <a:latin typeface="Calibri"/>
                <a:ea typeface="Calibri"/>
                <a:cs typeface="Calibri"/>
              </a:rPr>
              <a:t>Approach</a:t>
            </a:r>
          </a:p>
          <a:p>
            <a:pPr algn="l">
              <a:spcAft>
                <a:spcPts val="300"/>
              </a:spcAft>
            </a:pPr>
            <a:r>
              <a:rPr sz="1200" b="1">
                <a:solidFill>
                  <a:srgbClr val="0D6EFD"/>
                </a:solidFill>
                <a:latin typeface="Calibri"/>
                <a:ea typeface="Calibri"/>
                <a:cs typeface="Calibri"/>
              </a:rPr>
              <a:t>SQL (DuckDB)</a:t>
            </a:r>
          </a:p>
          <a:p>
            <a:pPr algn="l">
              <a:spcAft>
                <a:spcPts val="300"/>
              </a:spcAft>
            </a:pPr>
            <a:r>
              <a:rPr sz="1200" b="0">
                <a:solidFill>
                  <a:srgbClr val="2C2C2C"/>
                </a:solidFill>
                <a:latin typeface="Calibri"/>
                <a:ea typeface="Calibri"/>
                <a:cs typeface="Calibri"/>
              </a:rPr>
              <a:t>describe traffic and gaps; build lag features on a complete hourly grid</a:t>
            </a:r>
          </a:p>
          <a:p>
            <a:pPr algn="l">
              <a:spcAft>
                <a:spcPts val="300"/>
              </a:spcAft>
            </a:pPr>
            <a:r>
              <a:rPr sz="1200" b="1">
                <a:solidFill>
                  <a:srgbClr val="0D6EFD"/>
                </a:solidFill>
                <a:latin typeface="Calibri"/>
                <a:ea typeface="Calibri"/>
                <a:cs typeface="Calibri"/>
              </a:rPr>
              <a:t>Python models</a:t>
            </a:r>
          </a:p>
          <a:p>
            <a:pPr algn="l">
              <a:spcAft>
                <a:spcPts val="300"/>
              </a:spcAft>
            </a:pPr>
            <a:r>
              <a:rPr sz="1200" b="0">
                <a:solidFill>
                  <a:srgbClr val="2C2C2C"/>
                </a:solidFill>
                <a:latin typeface="Calibri"/>
                <a:ea typeface="Calibri"/>
                <a:cs typeface="Calibri"/>
              </a:rPr>
              <a:t>Ridge, Extra Trees, LightGBM, MLP vs persistence and 3 baselines</a:t>
            </a:r>
          </a:p>
          <a:p>
            <a:pPr algn="l">
              <a:spcAft>
                <a:spcPts val="300"/>
              </a:spcAft>
            </a:pPr>
            <a:r>
              <a:rPr sz="1200" b="1">
                <a:solidFill>
                  <a:srgbClr val="0D6EFD"/>
                </a:solidFill>
                <a:latin typeface="Calibri"/>
                <a:ea typeface="Calibri"/>
                <a:cs typeface="Calibri"/>
              </a:rPr>
              <a:t>Evaluation</a:t>
            </a:r>
          </a:p>
          <a:p>
            <a:pPr algn="l">
              <a:spcAft>
                <a:spcPts val="300"/>
              </a:spcAft>
            </a:pPr>
            <a:r>
              <a:rPr sz="1200" b="0">
                <a:solidFill>
                  <a:srgbClr val="2C2C2C"/>
                </a:solidFill>
                <a:latin typeface="Calibri"/>
                <a:ea typeface="Calibri"/>
                <a:cs typeface="Calibri"/>
              </a:rPr>
              <a:t>8 quarterly test folds; repair ladder R0–R5; Wilcoxon tests</a:t>
            </a:r>
          </a:p>
        </p:txBody>
      </p:sp>
      <p:sp>
        <p:nvSpPr>
          <p:cNvPr id="12" name="Caption"/>
          <p:cNvSpPr txBox="1"/>
          <p:nvPr/>
        </p:nvSpPr>
        <p:spPr>
          <a:xfrm>
            <a:off x="457200" y="4572000"/>
            <a:ext cx="8229600" cy="201168"/>
          </a:xfrm>
          <a:prstGeom prst="rect">
            <a:avLst/>
          </a:prstGeom>
          <a:noFill/>
        </p:spPr>
        <p:txBody>
          <a:bodyPr wrap="square" lIns="0" rIns="0" tIns="0" bIns="0" anchor="t">
            <a:spAutoFit/>
          </a:bodyPr>
          <a:lstStyle/>
          <a:p>
            <a:pPr algn="l"/>
            <a:r>
              <a:rPr sz="1000" b="0">
                <a:solidFill>
                  <a:srgbClr val="64748B"/>
                </a:solidFill>
                <a:latin typeface="Calibri"/>
                <a:ea typeface="Calibri"/>
                <a:cs typeface="Calibri"/>
              </a:rPr>
              <a:t>Data: Istanbul Metropolitan Municipality (IBB), Hourly Traffic Density Data Set, open licence.  Kapoor &amp; Narayanan (2023), Patterns 4(9): misaligned time inflates ML results.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d"/>
          <p:cNvSpPr txBox="1"/>
          <p:nvPr/>
        </p:nvSpPr>
        <p:spPr>
          <a:xfrm>
            <a:off x="457200" y="182880"/>
            <a:ext cx="8229600" cy="777240"/>
          </a:xfrm>
          <a:prstGeom prst="rect">
            <a:avLst/>
          </a:prstGeom>
          <a:noFill/>
        </p:spPr>
        <p:txBody>
          <a:bodyPr wrap="square" lIns="0" rIns="0" tIns="0" bIns="0" anchor="ctr">
            <a:spAutoFit/>
          </a:bodyPr>
          <a:lstStyle/>
          <a:p>
            <a:pPr algn="l"/>
            <a:r>
              <a:rPr sz="2800" b="1">
                <a:solidFill>
                  <a:srgbClr val="1F3864"/>
                </a:solidFill>
                <a:latin typeface="Calibri"/>
                <a:ea typeface="Calibri"/>
                <a:cs typeface="Calibri"/>
              </a:rPr>
              <a:t>#2 Research Questions</a:t>
            </a:r>
          </a:p>
        </p:txBody>
      </p:sp>
      <p:cxnSp>
        <p:nvCxnSpPr>
          <p:cNvPr id="3" name="Div"/>
          <p:cNvCxnSpPr/>
          <p:nvPr/>
        </p:nvCxnSpPr>
        <p:spPr>
          <a:xfrm>
            <a:off x="457200" y="960120"/>
            <a:ext cx="8229600" cy="0"/>
          </a:xfrm>
          <a:prstGeom prst="line">
            <a:avLst/>
          </a:prstGeom>
          <a:ln w="19050">
            <a:solidFill>
              <a:srgbClr val="4472C4"/>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457200" y="1097280"/>
            <a:ext cx="2697480"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50" b="1">
                <a:solidFill>
                  <a:srgbClr val="FFFFFF"/>
                </a:solidFill>
                <a:latin typeface="Calibri"/>
                <a:ea typeface="Calibri"/>
                <a:cs typeface="Calibri"/>
              </a:rPr>
              <a:t>RQ1 · Traffic patterns</a:t>
            </a:r>
          </a:p>
        </p:txBody>
      </p:sp>
      <p:sp>
        <p:nvSpPr>
          <p:cNvPr id="5" name="Rectangle 4"/>
          <p:cNvSpPr/>
          <p:nvPr/>
        </p:nvSpPr>
        <p:spPr>
          <a:xfrm>
            <a:off x="457200" y="1554480"/>
            <a:ext cx="2697480" cy="3200400"/>
          </a:xfrm>
          <a:prstGeom prst="rect">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645920"/>
            <a:ext cx="2468880" cy="3063240"/>
          </a:xfrm>
          <a:prstGeom prst="rect">
            <a:avLst/>
          </a:prstGeom>
          <a:noFill/>
        </p:spPr>
        <p:txBody>
          <a:bodyPr wrap="square" lIns="0" rIns="0" tIns="0" bIns="0" anchor="t">
            <a:spAutoFit/>
          </a:bodyPr>
          <a:lstStyle/>
          <a:p>
            <a:pPr algn="l">
              <a:spcAft>
                <a:spcPts val="200"/>
              </a:spcAft>
            </a:pPr>
            <a:r>
              <a:rPr sz="1350" b="0">
                <a:solidFill>
                  <a:srgbClr val="1E293B"/>
                </a:solidFill>
                <a:latin typeface="Calibri"/>
                <a:ea typeface="Calibri"/>
                <a:cs typeface="Calibri"/>
              </a:rPr>
              <a:t>How does traffic vary by hour, day type and month, and how complete is the record?</a:t>
            </a:r>
          </a:p>
          <a:p>
            <a:pPr algn="l">
              <a:spcAft>
                <a:spcPts val="200"/>
              </a:spcAft>
            </a:pPr>
            <a:r>
              <a:rPr sz="600" b="0">
                <a:solidFill>
                  <a:srgbClr val="2C2C2C"/>
                </a:solidFill>
                <a:latin typeface="Calibri"/>
                <a:ea typeface="Calibri"/>
                <a:cs typeface="Calibri"/>
              </a:rPr>
              <a:t> </a:t>
            </a:r>
          </a:p>
          <a:p>
            <a:pPr algn="l">
              <a:spcAft>
                <a:spcPts val="200"/>
              </a:spcAft>
            </a:pPr>
            <a:r>
              <a:rPr sz="1150" b="1">
                <a:solidFill>
                  <a:srgbClr val="0D9488"/>
                </a:solidFill>
                <a:latin typeface="Calibri"/>
                <a:ea typeface="Calibri"/>
                <a:cs typeface="Calibri"/>
              </a:rPr>
              <a:t>Method</a:t>
            </a:r>
          </a:p>
          <a:p>
            <a:pPr algn="l">
              <a:spcAft>
                <a:spcPts val="200"/>
              </a:spcAft>
            </a:pPr>
            <a:r>
              <a:rPr sz="1150" b="0">
                <a:solidFill>
                  <a:srgbClr val="64748B"/>
                </a:solidFill>
                <a:latin typeface="Calibri"/>
                <a:ea typeface="Calibri"/>
                <a:cs typeface="Calibri"/>
              </a:rPr>
              <a:t>SQL (DuckDB) queries Q1–Q5</a:t>
            </a:r>
          </a:p>
          <a:p>
            <a:pPr algn="l">
              <a:spcAft>
                <a:spcPts val="200"/>
              </a:spcAft>
            </a:pPr>
            <a:r>
              <a:rPr sz="1150" b="1">
                <a:solidFill>
                  <a:srgbClr val="0D9488"/>
                </a:solidFill>
                <a:latin typeface="Calibri"/>
                <a:ea typeface="Calibri"/>
                <a:cs typeface="Calibri"/>
              </a:rPr>
              <a:t>Output</a:t>
            </a:r>
          </a:p>
          <a:p>
            <a:pPr algn="l">
              <a:spcAft>
                <a:spcPts val="200"/>
              </a:spcAft>
            </a:pPr>
            <a:r>
              <a:rPr sz="1150" b="0">
                <a:solidFill>
                  <a:srgbClr val="64748B"/>
                </a:solidFill>
                <a:latin typeface="Calibri"/>
                <a:ea typeface="Calibri"/>
                <a:cs typeface="Calibri"/>
              </a:rPr>
              <a:t>Hour × weekday profiles, gaps, holiday echo ratio</a:t>
            </a:r>
          </a:p>
        </p:txBody>
      </p:sp>
      <p:sp>
        <p:nvSpPr>
          <p:cNvPr id="7" name="Rectangle 6"/>
          <p:cNvSpPr/>
          <p:nvPr/>
        </p:nvSpPr>
        <p:spPr>
          <a:xfrm>
            <a:off x="3246120" y="1097280"/>
            <a:ext cx="2697480" cy="4572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50" b="1">
                <a:solidFill>
                  <a:srgbClr val="FFFFFF"/>
                </a:solidFill>
                <a:latin typeface="Calibri"/>
                <a:ea typeface="Calibri"/>
                <a:cs typeface="Calibri"/>
              </a:rPr>
              <a:t>RQ2 · Model comparison</a:t>
            </a:r>
          </a:p>
        </p:txBody>
      </p:sp>
      <p:sp>
        <p:nvSpPr>
          <p:cNvPr id="8" name="Rectangle 7"/>
          <p:cNvSpPr/>
          <p:nvPr/>
        </p:nvSpPr>
        <p:spPr>
          <a:xfrm>
            <a:off x="3246120" y="1554480"/>
            <a:ext cx="2697480" cy="3200400"/>
          </a:xfrm>
          <a:prstGeom prst="rect">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355848" y="1645920"/>
            <a:ext cx="2468880" cy="3063240"/>
          </a:xfrm>
          <a:prstGeom prst="rect">
            <a:avLst/>
          </a:prstGeom>
          <a:noFill/>
        </p:spPr>
        <p:txBody>
          <a:bodyPr wrap="square" lIns="0" rIns="0" tIns="0" bIns="0" anchor="t">
            <a:spAutoFit/>
          </a:bodyPr>
          <a:lstStyle/>
          <a:p>
            <a:pPr algn="l">
              <a:spcAft>
                <a:spcPts val="200"/>
              </a:spcAft>
            </a:pPr>
            <a:r>
              <a:rPr sz="1350" b="0">
                <a:solidFill>
                  <a:srgbClr val="1E293B"/>
                </a:solidFill>
                <a:latin typeface="Calibri"/>
                <a:ea typeface="Calibri"/>
                <a:cs typeface="Calibri"/>
              </a:rPr>
              <a:t>Which of four models forecasts next-hour vehicles best, and by how much over simple baselines?</a:t>
            </a:r>
          </a:p>
          <a:p>
            <a:pPr algn="l">
              <a:spcAft>
                <a:spcPts val="200"/>
              </a:spcAft>
            </a:pPr>
            <a:r>
              <a:rPr sz="600" b="0">
                <a:solidFill>
                  <a:srgbClr val="2C2C2C"/>
                </a:solidFill>
                <a:latin typeface="Calibri"/>
                <a:ea typeface="Calibri"/>
                <a:cs typeface="Calibri"/>
              </a:rPr>
              <a:t> </a:t>
            </a:r>
          </a:p>
          <a:p>
            <a:pPr algn="l">
              <a:spcAft>
                <a:spcPts val="200"/>
              </a:spcAft>
            </a:pPr>
            <a:r>
              <a:rPr sz="1150" b="1">
                <a:solidFill>
                  <a:srgbClr val="EA580C"/>
                </a:solidFill>
                <a:latin typeface="Calibri"/>
                <a:ea typeface="Calibri"/>
                <a:cs typeface="Calibri"/>
              </a:rPr>
              <a:t>Method</a:t>
            </a:r>
          </a:p>
          <a:p>
            <a:pPr algn="l">
              <a:spcAft>
                <a:spcPts val="200"/>
              </a:spcAft>
            </a:pPr>
            <a:r>
              <a:rPr sz="1150" b="0">
                <a:solidFill>
                  <a:srgbClr val="64748B"/>
                </a:solidFill>
                <a:latin typeface="Calibri"/>
                <a:ea typeface="Calibri"/>
                <a:cs typeface="Calibri"/>
              </a:rPr>
              <a:t>Ridge, Extra Trees, LightGBM, MLP · 8 quarters · 3 seeds</a:t>
            </a:r>
          </a:p>
          <a:p>
            <a:pPr algn="l">
              <a:spcAft>
                <a:spcPts val="200"/>
              </a:spcAft>
            </a:pPr>
            <a:r>
              <a:rPr sz="1150" b="1">
                <a:solidFill>
                  <a:srgbClr val="EA580C"/>
                </a:solidFill>
                <a:latin typeface="Calibri"/>
                <a:ea typeface="Calibri"/>
                <a:cs typeface="Calibri"/>
              </a:rPr>
              <a:t>Output</a:t>
            </a:r>
          </a:p>
          <a:p>
            <a:pPr algn="l">
              <a:spcAft>
                <a:spcPts val="200"/>
              </a:spcAft>
            </a:pPr>
            <a:r>
              <a:rPr sz="1150" b="0">
                <a:solidFill>
                  <a:srgbClr val="64748B"/>
                </a:solidFill>
                <a:latin typeface="Calibri"/>
                <a:ea typeface="Calibri"/>
                <a:cs typeface="Calibri"/>
              </a:rPr>
              <a:t>MAE, MASE vs persistence, per quarter</a:t>
            </a:r>
          </a:p>
        </p:txBody>
      </p:sp>
      <p:sp>
        <p:nvSpPr>
          <p:cNvPr id="10" name="Rectangle 9"/>
          <p:cNvSpPr/>
          <p:nvPr/>
        </p:nvSpPr>
        <p:spPr>
          <a:xfrm>
            <a:off x="6035040" y="1097280"/>
            <a:ext cx="2697480"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50" b="1">
                <a:solidFill>
                  <a:srgbClr val="FFFFFF"/>
                </a:solidFill>
                <a:latin typeface="Calibri"/>
                <a:ea typeface="Calibri"/>
                <a:cs typeface="Calibri"/>
              </a:rPr>
              <a:t>RQ3 · Repair value &amp; holidays</a:t>
            </a:r>
          </a:p>
        </p:txBody>
      </p:sp>
      <p:sp>
        <p:nvSpPr>
          <p:cNvPr id="11" name="Rectangle 10"/>
          <p:cNvSpPr/>
          <p:nvPr/>
        </p:nvSpPr>
        <p:spPr>
          <a:xfrm>
            <a:off x="6035040" y="1554480"/>
            <a:ext cx="2697480" cy="3200400"/>
          </a:xfrm>
          <a:prstGeom prst="rect">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144768" y="1645920"/>
            <a:ext cx="2468880" cy="3063240"/>
          </a:xfrm>
          <a:prstGeom prst="rect">
            <a:avLst/>
          </a:prstGeom>
          <a:noFill/>
        </p:spPr>
        <p:txBody>
          <a:bodyPr wrap="square" lIns="0" rIns="0" tIns="0" bIns="0" anchor="t">
            <a:spAutoFit/>
          </a:bodyPr>
          <a:lstStyle/>
          <a:p>
            <a:pPr algn="l">
              <a:spcAft>
                <a:spcPts val="200"/>
              </a:spcAft>
            </a:pPr>
            <a:r>
              <a:rPr sz="1350" b="0">
                <a:solidFill>
                  <a:srgbClr val="1E293B"/>
                </a:solidFill>
                <a:latin typeface="Calibri"/>
                <a:ea typeface="Calibri"/>
                <a:cs typeface="Calibri"/>
              </a:rPr>
              <a:t>How much is each repair step worth, and what happens in the week after a holiday?</a:t>
            </a:r>
          </a:p>
          <a:p>
            <a:pPr algn="l">
              <a:spcAft>
                <a:spcPts val="200"/>
              </a:spcAft>
            </a:pPr>
            <a:r>
              <a:rPr sz="600" b="0">
                <a:solidFill>
                  <a:srgbClr val="2C2C2C"/>
                </a:solidFill>
                <a:latin typeface="Calibri"/>
                <a:ea typeface="Calibri"/>
                <a:cs typeface="Calibri"/>
              </a:rPr>
              <a:t> </a:t>
            </a:r>
          </a:p>
          <a:p>
            <a:pPr algn="l">
              <a:spcAft>
                <a:spcPts val="200"/>
              </a:spcAft>
            </a:pPr>
            <a:r>
              <a:rPr sz="1150" b="1">
                <a:solidFill>
                  <a:srgbClr val="7C3AED"/>
                </a:solidFill>
                <a:latin typeface="Calibri"/>
                <a:ea typeface="Calibri"/>
                <a:cs typeface="Calibri"/>
              </a:rPr>
              <a:t>Method</a:t>
            </a:r>
          </a:p>
          <a:p>
            <a:pPr algn="l">
              <a:spcAft>
                <a:spcPts val="200"/>
              </a:spcAft>
            </a:pPr>
            <a:r>
              <a:rPr sz="1150" b="0">
                <a:solidFill>
                  <a:srgbClr val="64748B"/>
                </a:solidFill>
                <a:latin typeface="Calibri"/>
                <a:ea typeface="Calibri"/>
                <a:cs typeface="Calibri"/>
              </a:rPr>
              <a:t>Repair ladder R0–R5 · weekly lags L0–L4 · Wilcoxon</a:t>
            </a:r>
          </a:p>
          <a:p>
            <a:pPr algn="l">
              <a:spcAft>
                <a:spcPts val="200"/>
              </a:spcAft>
            </a:pPr>
            <a:r>
              <a:rPr sz="1150" b="1">
                <a:solidFill>
                  <a:srgbClr val="7C3AED"/>
                </a:solidFill>
                <a:latin typeface="Calibri"/>
                <a:ea typeface="Calibri"/>
                <a:cs typeface="Calibri"/>
              </a:rPr>
              <a:t>Output</a:t>
            </a:r>
          </a:p>
          <a:p>
            <a:pPr algn="l">
              <a:spcAft>
                <a:spcPts val="200"/>
              </a:spcAft>
            </a:pPr>
            <a:r>
              <a:rPr sz="1150" b="0">
                <a:solidFill>
                  <a:srgbClr val="64748B"/>
                </a:solidFill>
                <a:latin typeface="Calibri"/>
                <a:ea typeface="Calibri"/>
                <a:cs typeface="Calibri"/>
              </a:rPr>
              <a:t>MAE change per step, error by days from a holiday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d"/>
          <p:cNvSpPr txBox="1"/>
          <p:nvPr/>
        </p:nvSpPr>
        <p:spPr>
          <a:xfrm>
            <a:off x="457200" y="182880"/>
            <a:ext cx="8229600" cy="777240"/>
          </a:xfrm>
          <a:prstGeom prst="rect">
            <a:avLst/>
          </a:prstGeom>
          <a:noFill/>
        </p:spPr>
        <p:txBody>
          <a:bodyPr wrap="square" lIns="0" rIns="0" tIns="0" bIns="0" anchor="ctr">
            <a:spAutoFit/>
          </a:bodyPr>
          <a:lstStyle/>
          <a:p>
            <a:pPr algn="l"/>
            <a:r>
              <a:rPr sz="2800" b="1">
                <a:solidFill>
                  <a:srgbClr val="1F3864"/>
                </a:solidFill>
                <a:latin typeface="Calibri"/>
                <a:ea typeface="Calibri"/>
                <a:cs typeface="Calibri"/>
              </a:rPr>
              <a:t>#3 Data Understanding — Study Area</a:t>
            </a:r>
          </a:p>
        </p:txBody>
      </p:sp>
      <p:cxnSp>
        <p:nvCxnSpPr>
          <p:cNvPr id="3" name="Div"/>
          <p:cNvCxnSpPr/>
          <p:nvPr/>
        </p:nvCxnSpPr>
        <p:spPr>
          <a:xfrm>
            <a:off x="457200" y="960120"/>
            <a:ext cx="8229600" cy="0"/>
          </a:xfrm>
          <a:prstGeom prst="line">
            <a:avLst/>
          </a:prstGeom>
          <a:ln w="19050">
            <a:solidFill>
              <a:srgbClr val="4472C4"/>
            </a:solidFill>
          </a:ln>
        </p:spPr>
        <p:style>
          <a:lnRef idx="2">
            <a:schemeClr val="accent1"/>
          </a:lnRef>
          <a:fillRef idx="0">
            <a:schemeClr val="accent1"/>
          </a:fillRef>
          <a:effectRef idx="1">
            <a:schemeClr val="accent1"/>
          </a:effectRef>
          <a:fontRef idx="minor">
            <a:schemeClr val="tx1"/>
          </a:fontRef>
        </p:style>
      </p:cxnSp>
      <p:pic>
        <p:nvPicPr>
          <p:cNvPr id="4" name="Picture 3" descr="fig_map_cells.png"/>
          <p:cNvPicPr>
            <a:picLocks noChangeAspect="1"/>
          </p:cNvPicPr>
          <p:nvPr/>
        </p:nvPicPr>
        <p:blipFill>
          <a:blip r:embed="rId2"/>
          <a:stretch>
            <a:fillRect/>
          </a:stretch>
        </p:blipFill>
        <p:spPr>
          <a:xfrm>
            <a:off x="457200" y="1128228"/>
            <a:ext cx="5120640" cy="3229942"/>
          </a:xfrm>
          <a:prstGeom prst="rect">
            <a:avLst/>
          </a:prstGeom>
          <a:ln w="6350">
            <a:solidFill>
              <a:srgbClr val="D9D9D9"/>
            </a:solidFill>
          </a:ln>
        </p:spPr>
      </p:pic>
      <p:sp>
        <p:nvSpPr>
          <p:cNvPr id="5" name="Caption"/>
          <p:cNvSpPr txBox="1"/>
          <p:nvPr/>
        </p:nvSpPr>
        <p:spPr>
          <a:xfrm>
            <a:off x="457200" y="4526280"/>
            <a:ext cx="8229600" cy="201168"/>
          </a:xfrm>
          <a:prstGeom prst="rect">
            <a:avLst/>
          </a:prstGeom>
          <a:noFill/>
        </p:spPr>
        <p:txBody>
          <a:bodyPr wrap="square" lIns="0" rIns="0" tIns="0" bIns="0" anchor="t">
            <a:spAutoFit/>
          </a:bodyPr>
          <a:lstStyle/>
          <a:p>
            <a:pPr algn="l"/>
            <a:r>
              <a:rPr sz="1000" b="0">
                <a:solidFill>
                  <a:srgbClr val="64748B"/>
                </a:solidFill>
                <a:latin typeface="Calibri"/>
                <a:ea typeface="Calibri"/>
                <a:cs typeface="Calibri"/>
              </a:rPr>
              <a:t>Fig. 2 (paper): all 2,459 cells reporting in 2022, coloured by mean vehicles per hour (log scale); 150 selected cells outlined in blue. Base map: Esri, DeLorme, NAVTEQ.</a:t>
            </a:r>
          </a:p>
        </p:txBody>
      </p:sp>
      <p:sp>
        <p:nvSpPr>
          <p:cNvPr id="6" name="Rectangle 5"/>
          <p:cNvSpPr/>
          <p:nvPr/>
        </p:nvSpPr>
        <p:spPr>
          <a:xfrm>
            <a:off x="5760720" y="1097280"/>
            <a:ext cx="2926080" cy="1024128"/>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870448" y="1170432"/>
            <a:ext cx="2706624" cy="502920"/>
          </a:xfrm>
          <a:prstGeom prst="rect">
            <a:avLst/>
          </a:prstGeom>
          <a:noFill/>
        </p:spPr>
        <p:txBody>
          <a:bodyPr wrap="square" lIns="0" rIns="0" tIns="0" bIns="0" anchor="ctr">
            <a:spAutoFit/>
          </a:bodyPr>
          <a:lstStyle/>
          <a:p>
            <a:pPr algn="l"/>
            <a:r>
              <a:rPr sz="2600" b="1">
                <a:solidFill>
                  <a:srgbClr val="1F3864"/>
                </a:solidFill>
                <a:latin typeface="Calibri"/>
                <a:ea typeface="Calibri"/>
                <a:cs typeface="Calibri"/>
              </a:rPr>
              <a:t>150</a:t>
            </a:r>
            <a:r>
              <a:rPr sz="1200" b="1">
                <a:solidFill>
                  <a:srgbClr val="1F3864"/>
                </a:solidFill>
                <a:latin typeface="Calibri"/>
                <a:ea typeface="Calibri"/>
                <a:cs typeface="Calibri"/>
              </a:rPr>
              <a:t>  busiest cells</a:t>
            </a:r>
          </a:p>
        </p:txBody>
      </p:sp>
      <p:sp>
        <p:nvSpPr>
          <p:cNvPr id="8" name="TextBox 7"/>
          <p:cNvSpPr txBox="1"/>
          <p:nvPr/>
        </p:nvSpPr>
        <p:spPr>
          <a:xfrm>
            <a:off x="5870448" y="1664207"/>
            <a:ext cx="2706624" cy="402336"/>
          </a:xfrm>
          <a:prstGeom prst="rect">
            <a:avLst/>
          </a:prstGeom>
          <a:noFill/>
        </p:spPr>
        <p:txBody>
          <a:bodyPr wrap="square" lIns="0" rIns="0" tIns="0" bIns="0" anchor="t">
            <a:spAutoFit/>
          </a:bodyPr>
          <a:lstStyle/>
          <a:p>
            <a:pPr algn="l"/>
            <a:r>
              <a:rPr sz="1100" b="0">
                <a:solidFill>
                  <a:srgbClr val="64748B"/>
                </a:solidFill>
                <a:latin typeface="Calibri"/>
                <a:ea typeface="Calibri"/>
                <a:cs typeface="Calibri"/>
              </a:rPr>
              <a:t>74 European side · 76 Asian side; 245.8–503.5 vehicles per hour</a:t>
            </a:r>
          </a:p>
        </p:txBody>
      </p:sp>
      <p:sp>
        <p:nvSpPr>
          <p:cNvPr id="9" name="Rectangle 8"/>
          <p:cNvSpPr/>
          <p:nvPr/>
        </p:nvSpPr>
        <p:spPr>
          <a:xfrm>
            <a:off x="5760720" y="2221992"/>
            <a:ext cx="2926080" cy="1024128"/>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870448" y="2295144"/>
            <a:ext cx="2706624" cy="502920"/>
          </a:xfrm>
          <a:prstGeom prst="rect">
            <a:avLst/>
          </a:prstGeom>
          <a:noFill/>
        </p:spPr>
        <p:txBody>
          <a:bodyPr wrap="square" lIns="0" rIns="0" tIns="0" bIns="0" anchor="ctr">
            <a:spAutoFit/>
          </a:bodyPr>
          <a:lstStyle/>
          <a:p>
            <a:pPr algn="l"/>
            <a:r>
              <a:rPr sz="2600" b="1">
                <a:solidFill>
                  <a:srgbClr val="1F3864"/>
                </a:solidFill>
                <a:latin typeface="Calibri"/>
                <a:ea typeface="Calibri"/>
                <a:cs typeface="Calibri"/>
              </a:rPr>
              <a:t>36</a:t>
            </a:r>
            <a:r>
              <a:rPr sz="1200" b="1">
                <a:solidFill>
                  <a:srgbClr val="1F3864"/>
                </a:solidFill>
                <a:latin typeface="Calibri"/>
                <a:ea typeface="Calibri"/>
                <a:cs typeface="Calibri"/>
              </a:rPr>
              <a:t>  monthly files</a:t>
            </a:r>
          </a:p>
        </p:txBody>
      </p:sp>
      <p:sp>
        <p:nvSpPr>
          <p:cNvPr id="11" name="TextBox 10"/>
          <p:cNvSpPr txBox="1"/>
          <p:nvPr/>
        </p:nvSpPr>
        <p:spPr>
          <a:xfrm>
            <a:off x="5870448" y="2788920"/>
            <a:ext cx="2706624" cy="402336"/>
          </a:xfrm>
          <a:prstGeom prst="rect">
            <a:avLst/>
          </a:prstGeom>
          <a:noFill/>
        </p:spPr>
        <p:txBody>
          <a:bodyPr wrap="square" lIns="0" rIns="0" tIns="0" bIns="0" anchor="t">
            <a:spAutoFit/>
          </a:bodyPr>
          <a:lstStyle/>
          <a:p>
            <a:pPr algn="l"/>
            <a:r>
              <a:rPr sz="1100" b="0">
                <a:solidFill>
                  <a:srgbClr val="64748B"/>
                </a:solidFill>
                <a:latin typeface="Calibri"/>
                <a:ea typeface="Calibri"/>
                <a:cs typeface="Calibri"/>
              </a:rPr>
              <a:t>Hourly, Jan 2022 – Dec 2024; 58.4 million records, 8 columns</a:t>
            </a:r>
          </a:p>
        </p:txBody>
      </p:sp>
      <p:sp>
        <p:nvSpPr>
          <p:cNvPr id="12" name="Rectangle 11"/>
          <p:cNvSpPr/>
          <p:nvPr/>
        </p:nvSpPr>
        <p:spPr>
          <a:xfrm>
            <a:off x="5760720" y="3346704"/>
            <a:ext cx="2926080" cy="1024128"/>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870448" y="3419856"/>
            <a:ext cx="2706624" cy="502920"/>
          </a:xfrm>
          <a:prstGeom prst="rect">
            <a:avLst/>
          </a:prstGeom>
          <a:noFill/>
        </p:spPr>
        <p:txBody>
          <a:bodyPr wrap="square" lIns="0" rIns="0" tIns="0" bIns="0" anchor="ctr">
            <a:spAutoFit/>
          </a:bodyPr>
          <a:lstStyle/>
          <a:p>
            <a:pPr algn="l"/>
            <a:r>
              <a:rPr sz="2600" b="1">
                <a:solidFill>
                  <a:srgbClr val="1F3864"/>
                </a:solidFill>
                <a:latin typeface="Calibri"/>
                <a:ea typeface="Calibri"/>
                <a:cs typeface="Calibri"/>
              </a:rPr>
              <a:t>3.95 M</a:t>
            </a:r>
            <a:r>
              <a:rPr sz="1200" b="1">
                <a:solidFill>
                  <a:srgbClr val="1F3864"/>
                </a:solidFill>
                <a:latin typeface="Calibri"/>
                <a:ea typeface="Calibri"/>
                <a:cs typeface="Calibri"/>
              </a:rPr>
              <a:t>  cell-hours</a:t>
            </a:r>
          </a:p>
        </p:txBody>
      </p:sp>
      <p:sp>
        <p:nvSpPr>
          <p:cNvPr id="14" name="TextBox 13"/>
          <p:cNvSpPr txBox="1"/>
          <p:nvPr/>
        </p:nvSpPr>
        <p:spPr>
          <a:xfrm>
            <a:off x="5870448" y="3913632"/>
            <a:ext cx="2706624" cy="402336"/>
          </a:xfrm>
          <a:prstGeom prst="rect">
            <a:avLst/>
          </a:prstGeom>
          <a:noFill/>
        </p:spPr>
        <p:txBody>
          <a:bodyPr wrap="square" lIns="0" rIns="0" tIns="0" bIns="0" anchor="t">
            <a:spAutoFit/>
          </a:bodyPr>
          <a:lstStyle/>
          <a:p>
            <a:pPr algn="l"/>
            <a:r>
              <a:rPr sz="1100" b="0">
                <a:solidFill>
                  <a:srgbClr val="64748B"/>
                </a:solidFill>
                <a:latin typeface="Calibri"/>
                <a:ea typeface="Calibri"/>
                <a:cs typeface="Calibri"/>
              </a:rPr>
              <a:t>complete hourly grid of the 150 cells; 93.98% have a record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d"/>
          <p:cNvSpPr txBox="1"/>
          <p:nvPr/>
        </p:nvSpPr>
        <p:spPr>
          <a:xfrm>
            <a:off x="457200" y="182880"/>
            <a:ext cx="8229600" cy="777240"/>
          </a:xfrm>
          <a:prstGeom prst="rect">
            <a:avLst/>
          </a:prstGeom>
          <a:noFill/>
        </p:spPr>
        <p:txBody>
          <a:bodyPr wrap="square" lIns="0" rIns="0" tIns="0" bIns="0" anchor="ctr">
            <a:spAutoFit/>
          </a:bodyPr>
          <a:lstStyle/>
          <a:p>
            <a:pPr algn="l"/>
            <a:r>
              <a:rPr sz="2800" b="1">
                <a:solidFill>
                  <a:srgbClr val="1F3864"/>
                </a:solidFill>
                <a:latin typeface="Calibri"/>
                <a:ea typeface="Calibri"/>
                <a:cs typeface="Calibri"/>
              </a:rPr>
              <a:t>#3 Data Understanding — Data Cleaning</a:t>
            </a:r>
          </a:p>
        </p:txBody>
      </p:sp>
      <p:cxnSp>
        <p:nvCxnSpPr>
          <p:cNvPr id="3" name="Div"/>
          <p:cNvCxnSpPr/>
          <p:nvPr/>
        </p:nvCxnSpPr>
        <p:spPr>
          <a:xfrm>
            <a:off x="457200" y="960120"/>
            <a:ext cx="8229600" cy="0"/>
          </a:xfrm>
          <a:prstGeom prst="line">
            <a:avLst/>
          </a:prstGeom>
          <a:ln w="19050">
            <a:solidFill>
              <a:srgbClr val="4472C4"/>
            </a:solidFill>
          </a:ln>
        </p:spPr>
        <p:style>
          <a:lnRef idx="2">
            <a:schemeClr val="accent1"/>
          </a:lnRef>
          <a:fillRef idx="0">
            <a:schemeClr val="accent1"/>
          </a:fillRef>
          <a:effectRef idx="1">
            <a:schemeClr val="accent1"/>
          </a:effectRef>
          <a:fontRef idx="minor">
            <a:schemeClr val="tx1"/>
          </a:fontRef>
        </p:style>
      </p:cxnSp>
      <p:pic>
        <p:nvPicPr>
          <p:cNvPr id="4" name="Picture 3" descr="fig_rq1_completeness.png"/>
          <p:cNvPicPr>
            <a:picLocks noChangeAspect="1"/>
          </p:cNvPicPr>
          <p:nvPr/>
        </p:nvPicPr>
        <p:blipFill>
          <a:blip r:embed="rId2"/>
          <a:stretch>
            <a:fillRect/>
          </a:stretch>
        </p:blipFill>
        <p:spPr>
          <a:xfrm>
            <a:off x="457200" y="1165860"/>
            <a:ext cx="5120640" cy="2194560"/>
          </a:xfrm>
          <a:prstGeom prst="rect">
            <a:avLst/>
          </a:prstGeom>
          <a:ln w="6350">
            <a:solidFill>
              <a:srgbClr val="D9D9D9"/>
            </a:solidFill>
          </a:ln>
        </p:spPr>
      </p:pic>
      <p:sp>
        <p:nvSpPr>
          <p:cNvPr id="5" name="Caption"/>
          <p:cNvSpPr txBox="1"/>
          <p:nvPr/>
        </p:nvSpPr>
        <p:spPr>
          <a:xfrm>
            <a:off x="457200" y="3493008"/>
            <a:ext cx="8229600" cy="201168"/>
          </a:xfrm>
          <a:prstGeom prst="rect">
            <a:avLst/>
          </a:prstGeom>
          <a:noFill/>
        </p:spPr>
        <p:txBody>
          <a:bodyPr wrap="square" lIns="0" rIns="0" tIns="0" bIns="0" anchor="t">
            <a:spAutoFit/>
          </a:bodyPr>
          <a:lstStyle/>
          <a:p>
            <a:pPr algn="l"/>
            <a:r>
              <a:rPr sz="1000" b="0">
                <a:solidFill>
                  <a:srgbClr val="64748B"/>
                </a:solidFill>
                <a:latin typeface="Calibri"/>
                <a:ea typeface="Calibri"/>
                <a:cs typeface="Calibri"/>
              </a:rPr>
              <a:t>Share of cell-hours without a record, by month (bar chart). January 2024: 45.4% missing.</a:t>
            </a:r>
          </a:p>
        </p:txBody>
      </p:sp>
      <p:sp>
        <p:nvSpPr>
          <p:cNvPr id="6" name="Rectangle 5"/>
          <p:cNvSpPr/>
          <p:nvPr/>
        </p:nvSpPr>
        <p:spPr>
          <a:xfrm>
            <a:off x="457200" y="3767328"/>
            <a:ext cx="2468880" cy="1097280"/>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3822191"/>
            <a:ext cx="2286000" cy="987552"/>
          </a:xfrm>
          <a:prstGeom prst="rect">
            <a:avLst/>
          </a:prstGeom>
          <a:noFill/>
        </p:spPr>
        <p:txBody>
          <a:bodyPr wrap="square" lIns="36576" rIns="36576" tIns="36576" bIns="36576" anchor="t">
            <a:spAutoFit/>
          </a:bodyPr>
          <a:lstStyle/>
          <a:p>
            <a:pPr algn="l">
              <a:spcAft>
                <a:spcPts val="200"/>
              </a:spcAft>
            </a:pPr>
            <a:r>
              <a:rPr sz="1300" b="1">
                <a:solidFill>
                  <a:srgbClr val="0D9488"/>
                </a:solidFill>
                <a:latin typeface="Calibri"/>
                <a:ea typeface="Calibri"/>
                <a:cs typeface="Calibri"/>
              </a:rPr>
              <a:t>Rows are clean</a:t>
            </a:r>
          </a:p>
          <a:p>
            <a:pPr algn="l">
              <a:spcAft>
                <a:spcPts val="200"/>
              </a:spcAft>
            </a:pPr>
            <a:r>
              <a:rPr sz="1150" b="0">
                <a:solidFill>
                  <a:srgbClr val="2C2C2C"/>
                </a:solidFill>
                <a:latin typeface="Calibri"/>
                <a:ea typeface="Calibri"/>
                <a:cs typeface="Calibri"/>
              </a:rPr>
              <a:t>0 duplicate keys · 0 bad values · 0 unparsed times</a:t>
            </a:r>
          </a:p>
        </p:txBody>
      </p:sp>
      <p:sp>
        <p:nvSpPr>
          <p:cNvPr id="8" name="Rectangle 7"/>
          <p:cNvSpPr/>
          <p:nvPr/>
        </p:nvSpPr>
        <p:spPr>
          <a:xfrm>
            <a:off x="3063240" y="3767328"/>
            <a:ext cx="2514600" cy="1097280"/>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154680" y="3822191"/>
            <a:ext cx="2331720" cy="987552"/>
          </a:xfrm>
          <a:prstGeom prst="rect">
            <a:avLst/>
          </a:prstGeom>
          <a:noFill/>
        </p:spPr>
        <p:txBody>
          <a:bodyPr wrap="square" lIns="36576" rIns="36576" tIns="36576" bIns="36576" anchor="t">
            <a:spAutoFit/>
          </a:bodyPr>
          <a:lstStyle/>
          <a:p>
            <a:pPr algn="l">
              <a:spcAft>
                <a:spcPts val="200"/>
              </a:spcAft>
            </a:pPr>
            <a:r>
              <a:rPr sz="1300" b="1">
                <a:solidFill>
                  <a:srgbClr val="EA580C"/>
                </a:solidFill>
                <a:latin typeface="Calibri"/>
                <a:ea typeface="Calibri"/>
                <a:cs typeface="Calibri"/>
              </a:rPr>
              <a:t>Hours are missing</a:t>
            </a:r>
          </a:p>
          <a:p>
            <a:pPr algn="l">
              <a:spcAft>
                <a:spcPts val="200"/>
              </a:spcAft>
            </a:pPr>
            <a:r>
              <a:rPr sz="1150" b="0">
                <a:solidFill>
                  <a:srgbClr val="2C2C2C"/>
                </a:solidFill>
                <a:latin typeface="Calibri"/>
                <a:ea typeface="Calibri"/>
                <a:cs typeface="Calibri"/>
              </a:rPr>
              <a:t>237,596 cell-hours (6.02%) without a record</a:t>
            </a:r>
          </a:p>
        </p:txBody>
      </p:sp>
      <p:sp>
        <p:nvSpPr>
          <p:cNvPr id="10" name="Rectangle 9"/>
          <p:cNvSpPr/>
          <p:nvPr/>
        </p:nvSpPr>
        <p:spPr>
          <a:xfrm>
            <a:off x="5760720" y="1097280"/>
            <a:ext cx="2926080" cy="1463040"/>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852159" y="1152144"/>
            <a:ext cx="2743200" cy="1353312"/>
          </a:xfrm>
          <a:prstGeom prst="rect">
            <a:avLst/>
          </a:prstGeom>
          <a:noFill/>
        </p:spPr>
        <p:txBody>
          <a:bodyPr wrap="square" lIns="36576" rIns="36576" tIns="36576" bIns="36576" anchor="t">
            <a:spAutoFit/>
          </a:bodyPr>
          <a:lstStyle/>
          <a:p>
            <a:pPr algn="l">
              <a:spcAft>
                <a:spcPts val="200"/>
              </a:spcAft>
            </a:pPr>
            <a:r>
              <a:rPr sz="1300" b="1">
                <a:solidFill>
                  <a:srgbClr val="1F3864"/>
                </a:solidFill>
                <a:latin typeface="Calibri"/>
                <a:ea typeface="Calibri"/>
                <a:cs typeface="Calibri"/>
              </a:rPr>
              <a:t>Outage flags</a:t>
            </a:r>
          </a:p>
          <a:p>
            <a:pPr algn="l">
              <a:spcAft>
                <a:spcPts val="200"/>
              </a:spcAft>
            </a:pPr>
            <a:r>
              <a:rPr sz="1150" b="0">
                <a:solidFill>
                  <a:srgbClr val="2C2C2C"/>
                </a:solidFill>
                <a:latin typeface="Calibri"/>
                <a:ea typeface="Calibri"/>
                <a:cs typeface="Calibri"/>
              </a:rPr>
              <a:t>1,544 city-wide outage hours</a:t>
            </a:r>
          </a:p>
          <a:p>
            <a:pPr algn="l">
              <a:spcAft>
                <a:spcPts val="200"/>
              </a:spcAft>
            </a:pPr>
            <a:r>
              <a:rPr sz="1150" b="0">
                <a:solidFill>
                  <a:srgbClr val="2C2C2C"/>
                </a:solidFill>
                <a:latin typeface="Calibri"/>
                <a:ea typeface="Calibri"/>
                <a:cs typeface="Calibri"/>
              </a:rPr>
              <a:t>53 partial outage hours</a:t>
            </a:r>
          </a:p>
          <a:p>
            <a:pPr algn="l">
              <a:spcAft>
                <a:spcPts val="200"/>
              </a:spcAft>
            </a:pPr>
            <a:r>
              <a:rPr sz="1150" b="0">
                <a:solidFill>
                  <a:srgbClr val="2C2C2C"/>
                </a:solidFill>
                <a:latin typeface="Calibri"/>
                <a:ea typeface="Calibri"/>
                <a:cs typeface="Calibri"/>
              </a:rPr>
              <a:t>99 faulty hours (far below normal)</a:t>
            </a:r>
          </a:p>
          <a:p>
            <a:pPr algn="l">
              <a:spcAft>
                <a:spcPts val="200"/>
              </a:spcAft>
            </a:pPr>
            <a:r>
              <a:rPr sz="1150" b="0">
                <a:solidFill>
                  <a:srgbClr val="2C2C2C"/>
                </a:solidFill>
                <a:latin typeface="Calibri"/>
                <a:ea typeface="Calibri"/>
                <a:cs typeface="Calibri"/>
              </a:rPr>
              <a:t>Not scored: rule fixed before testing</a:t>
            </a:r>
          </a:p>
        </p:txBody>
      </p:sp>
      <p:sp>
        <p:nvSpPr>
          <p:cNvPr id="12" name="Rectangle 11"/>
          <p:cNvSpPr/>
          <p:nvPr/>
        </p:nvSpPr>
        <p:spPr>
          <a:xfrm>
            <a:off x="5760720" y="2697480"/>
            <a:ext cx="2926080" cy="1097280"/>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852159" y="2752344"/>
            <a:ext cx="2743200" cy="987552"/>
          </a:xfrm>
          <a:prstGeom prst="rect">
            <a:avLst/>
          </a:prstGeom>
          <a:noFill/>
        </p:spPr>
        <p:txBody>
          <a:bodyPr wrap="square" lIns="36576" rIns="36576" tIns="36576" bIns="36576" anchor="t">
            <a:spAutoFit/>
          </a:bodyPr>
          <a:lstStyle/>
          <a:p>
            <a:pPr algn="l">
              <a:spcAft>
                <a:spcPts val="200"/>
              </a:spcAft>
            </a:pPr>
            <a:r>
              <a:rPr sz="1300" b="1">
                <a:solidFill>
                  <a:srgbClr val="7C3AED"/>
                </a:solidFill>
                <a:latin typeface="Calibri"/>
                <a:ea typeface="Calibri"/>
                <a:cs typeface="Calibri"/>
              </a:rPr>
              <a:t>Holiday calendar</a:t>
            </a:r>
          </a:p>
          <a:p>
            <a:pPr algn="l">
              <a:spcAft>
                <a:spcPts val="200"/>
              </a:spcAft>
            </a:pPr>
            <a:r>
              <a:rPr sz="1150" b="0">
                <a:solidFill>
                  <a:srgbClr val="2C2C2C"/>
                </a:solidFill>
                <a:latin typeface="Calibri"/>
                <a:ea typeface="Calibri"/>
                <a:cs typeface="Calibri"/>
              </a:rPr>
              <a:t>41 holiday days · 9 arife · 3 bridge days</a:t>
            </a:r>
          </a:p>
          <a:p>
            <a:pPr algn="l">
              <a:spcAft>
                <a:spcPts val="200"/>
              </a:spcAft>
            </a:pPr>
            <a:r>
              <a:rPr sz="1150" b="0">
                <a:solidFill>
                  <a:srgbClr val="2C2C2C"/>
                </a:solidFill>
                <a:latin typeface="Calibri"/>
                <a:ea typeface="Calibri"/>
                <a:cs typeface="Calibri"/>
              </a:rPr>
              <a:t>51 days in the week after a holiday</a:t>
            </a:r>
          </a:p>
        </p:txBody>
      </p:sp>
      <p:sp>
        <p:nvSpPr>
          <p:cNvPr id="14" name="Rectangle 13"/>
          <p:cNvSpPr/>
          <p:nvPr/>
        </p:nvSpPr>
        <p:spPr>
          <a:xfrm>
            <a:off x="5760720" y="3931920"/>
            <a:ext cx="2926080" cy="932688"/>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852159" y="3986783"/>
            <a:ext cx="2743200" cy="822960"/>
          </a:xfrm>
          <a:prstGeom prst="rect">
            <a:avLst/>
          </a:prstGeom>
          <a:noFill/>
        </p:spPr>
        <p:txBody>
          <a:bodyPr wrap="square" lIns="36576" rIns="36576" tIns="36576" bIns="36576" anchor="t">
            <a:spAutoFit/>
          </a:bodyPr>
          <a:lstStyle/>
          <a:p>
            <a:pPr algn="l">
              <a:spcAft>
                <a:spcPts val="200"/>
              </a:spcAft>
            </a:pPr>
            <a:r>
              <a:rPr sz="1300" b="1">
                <a:solidFill>
                  <a:srgbClr val="EA580C"/>
                </a:solidFill>
                <a:latin typeface="Calibri"/>
                <a:ea typeface="Calibri"/>
                <a:cs typeface="Calibri"/>
              </a:rPr>
              <a:t>Level break</a:t>
            </a:r>
          </a:p>
          <a:p>
            <a:pPr algn="l">
              <a:spcAft>
                <a:spcPts val="200"/>
              </a:spcAft>
            </a:pPr>
            <a:r>
              <a:rPr sz="1150" b="0">
                <a:solidFill>
                  <a:srgbClr val="2C2C2C"/>
                </a:solidFill>
                <a:latin typeface="Calibri"/>
                <a:ea typeface="Calibri"/>
                <a:cs typeface="Calibri"/>
              </a:rPr>
              <a:t>~24 Jan 2024: weekday mean 271.6 → 491.8 (+81.1%)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d"/>
          <p:cNvSpPr txBox="1"/>
          <p:nvPr/>
        </p:nvSpPr>
        <p:spPr>
          <a:xfrm>
            <a:off x="457200" y="182880"/>
            <a:ext cx="8229600" cy="777240"/>
          </a:xfrm>
          <a:prstGeom prst="rect">
            <a:avLst/>
          </a:prstGeom>
          <a:noFill/>
        </p:spPr>
        <p:txBody>
          <a:bodyPr wrap="square" lIns="0" rIns="0" tIns="0" bIns="0" anchor="ctr">
            <a:spAutoFit/>
          </a:bodyPr>
          <a:lstStyle/>
          <a:p>
            <a:pPr algn="l"/>
            <a:r>
              <a:rPr sz="2800" b="1">
                <a:solidFill>
                  <a:srgbClr val="1F3864"/>
                </a:solidFill>
                <a:latin typeface="Calibri"/>
                <a:ea typeface="Calibri"/>
                <a:cs typeface="Calibri"/>
              </a:rPr>
              <a:t>#4 SQL Queries — DuckDB</a:t>
            </a:r>
          </a:p>
        </p:txBody>
      </p:sp>
      <p:cxnSp>
        <p:nvCxnSpPr>
          <p:cNvPr id="3" name="Div"/>
          <p:cNvCxnSpPr/>
          <p:nvPr/>
        </p:nvCxnSpPr>
        <p:spPr>
          <a:xfrm>
            <a:off x="457200" y="960120"/>
            <a:ext cx="8229600" cy="0"/>
          </a:xfrm>
          <a:prstGeom prst="line">
            <a:avLst/>
          </a:prstGeom>
          <a:ln w="19050">
            <a:solidFill>
              <a:srgbClr val="4472C4"/>
            </a:solidFill>
          </a:ln>
        </p:spPr>
        <p:style>
          <a:lnRef idx="2">
            <a:schemeClr val="accent1"/>
          </a:lnRef>
          <a:fillRef idx="0">
            <a:schemeClr val="accent1"/>
          </a:fillRef>
          <a:effectRef idx="1">
            <a:schemeClr val="accent1"/>
          </a:effectRef>
          <a:fontRef idx="minor">
            <a:schemeClr val="tx1"/>
          </a:fontRef>
        </p:style>
      </p:cxnSp>
      <p:graphicFrame>
        <p:nvGraphicFramePr>
          <p:cNvPr id="4" name="Table 3"/>
          <p:cNvGraphicFramePr>
            <a:graphicFrameLocks noGrp="1"/>
          </p:cNvGraphicFramePr>
          <p:nvPr/>
        </p:nvGraphicFramePr>
        <p:xfrm>
          <a:off x="457200" y="1097280"/>
          <a:ext cx="5257798" cy="2706624"/>
        </p:xfrm>
        <a:graphic>
          <a:graphicData uri="http://schemas.openxmlformats.org/drawingml/2006/table">
            <a:tbl>
              <a:tblPr firstRow="0" bandRow="0">
                <a:tableStyleId>{5C22544A-7EE6-4342-B048-85BDC9FD1C3A}</a:tableStyleId>
              </a:tblPr>
              <a:tblGrid>
                <a:gridCol w="539261"/>
                <a:gridCol w="2336800"/>
                <a:gridCol w="1707661"/>
                <a:gridCol w="674076"/>
              </a:tblGrid>
              <a:tr h="338328">
                <a:tc>
                  <a:txBody>
                    <a:bodyPr wrap="square"/>
                    <a:lstStyle/>
                    <a:p>
                      <a:pPr algn="ctr"/>
                      <a:r>
                        <a:rPr sz="1150" b="1">
                          <a:solidFill>
                            <a:srgbClr val="FFFFFF"/>
                          </a:solidFill>
                          <a:latin typeface="Calibri"/>
                          <a:ea typeface="Calibri"/>
                          <a:cs typeface="Calibri"/>
                        </a:rPr>
                        <a:t>Query</a:t>
                      </a:r>
                    </a:p>
                  </a:txBody>
                  <a:tcPr marL="54864" marR="54864" marT="22860" marB="22860" anchor="ctr">
                    <a:solidFill>
                      <a:srgbClr val="1F3864"/>
                    </a:solidFill>
                  </a:tcPr>
                </a:tc>
                <a:tc>
                  <a:txBody>
                    <a:bodyPr wrap="square"/>
                    <a:lstStyle/>
                    <a:p>
                      <a:pPr algn="ctr"/>
                      <a:r>
                        <a:rPr sz="1150" b="1">
                          <a:solidFill>
                            <a:srgbClr val="FFFFFF"/>
                          </a:solidFill>
                          <a:latin typeface="Calibri"/>
                          <a:ea typeface="Calibri"/>
                          <a:cs typeface="Calibri"/>
                        </a:rPr>
                        <a:t>Purpose</a:t>
                      </a:r>
                    </a:p>
                  </a:txBody>
                  <a:tcPr marL="54864" marR="54864" marT="22860" marB="22860" anchor="ctr">
                    <a:solidFill>
                      <a:srgbClr val="1F3864"/>
                    </a:solidFill>
                  </a:tcPr>
                </a:tc>
                <a:tc>
                  <a:txBody>
                    <a:bodyPr wrap="square"/>
                    <a:lstStyle/>
                    <a:p>
                      <a:pPr algn="ctr"/>
                      <a:r>
                        <a:rPr sz="1150" b="1">
                          <a:solidFill>
                            <a:srgbClr val="FFFFFF"/>
                          </a:solidFill>
                          <a:latin typeface="Calibri"/>
                          <a:ea typeface="Calibri"/>
                          <a:cs typeface="Calibri"/>
                        </a:rPr>
                        <a:t>Technique</a:t>
                      </a:r>
                    </a:p>
                  </a:txBody>
                  <a:tcPr marL="54864" marR="54864" marT="22860" marB="22860" anchor="ctr">
                    <a:solidFill>
                      <a:srgbClr val="1F3864"/>
                    </a:solidFill>
                  </a:tcPr>
                </a:tc>
                <a:tc>
                  <a:txBody>
                    <a:bodyPr wrap="square"/>
                    <a:lstStyle/>
                    <a:p>
                      <a:pPr algn="ctr"/>
                      <a:r>
                        <a:rPr sz="1150" b="1">
                          <a:solidFill>
                            <a:srgbClr val="FFFFFF"/>
                          </a:solidFill>
                          <a:latin typeface="Calibri"/>
                          <a:ea typeface="Calibri"/>
                          <a:cs typeface="Calibri"/>
                        </a:rPr>
                        <a:t>RQ</a:t>
                      </a:r>
                    </a:p>
                  </a:txBody>
                  <a:tcPr marL="54864" marR="54864" marT="22860" marB="22860" anchor="ctr">
                    <a:solidFill>
                      <a:srgbClr val="1F3864"/>
                    </a:solidFill>
                  </a:tcPr>
                </a:tc>
              </a:tr>
              <a:tr h="338328">
                <a:tc>
                  <a:txBody>
                    <a:bodyPr wrap="square"/>
                    <a:lstStyle/>
                    <a:p>
                      <a:pPr algn="ctr"/>
                      <a:r>
                        <a:rPr sz="1100" b="1">
                          <a:solidFill>
                            <a:srgbClr val="2C2C2C"/>
                          </a:solidFill>
                          <a:latin typeface="Calibri"/>
                          <a:ea typeface="Calibri"/>
                          <a:cs typeface="Calibri"/>
                        </a:rPr>
                        <a:t>Q1</a:t>
                      </a:r>
                    </a:p>
                  </a:txBody>
                  <a:tcPr marL="54864" marR="54864" marT="22860" marB="22860" anchor="ctr">
                    <a:solidFill>
                      <a:srgbClr val="EEF2FF"/>
                    </a:solidFill>
                  </a:tcPr>
                </a:tc>
                <a:tc>
                  <a:txBody>
                    <a:bodyPr wrap="square"/>
                    <a:lstStyle/>
                    <a:p>
                      <a:pPr algn="l"/>
                      <a:r>
                        <a:rPr sz="1100" b="0">
                          <a:solidFill>
                            <a:srgbClr val="2C2C2C"/>
                          </a:solidFill>
                          <a:latin typeface="Calibri"/>
                          <a:ea typeface="Calibri"/>
                          <a:cs typeface="Calibri"/>
                        </a:rPr>
                        <a:t>Hourly profile by day type</a:t>
                      </a:r>
                    </a:p>
                  </a:txBody>
                  <a:tcPr marL="54864" marR="54864" marT="22860" marB="22860" anchor="ctr">
                    <a:solidFill>
                      <a:srgbClr val="EEF2FF"/>
                    </a:solidFill>
                  </a:tcPr>
                </a:tc>
                <a:tc>
                  <a:txBody>
                    <a:bodyPr wrap="square"/>
                    <a:lstStyle/>
                    <a:p>
                      <a:pPr algn="l"/>
                      <a:r>
                        <a:rPr sz="1100" b="0">
                          <a:solidFill>
                            <a:srgbClr val="2C2C2C"/>
                          </a:solidFill>
                          <a:latin typeface="Calibri"/>
                          <a:ea typeface="Calibri"/>
                          <a:cs typeface="Calibri"/>
                        </a:rPr>
                        <a:t>GROUP BY · WHERE</a:t>
                      </a:r>
                    </a:p>
                  </a:txBody>
                  <a:tcPr marL="54864" marR="54864" marT="22860" marB="22860" anchor="ctr">
                    <a:solidFill>
                      <a:srgbClr val="EEF2FF"/>
                    </a:solidFill>
                  </a:tcPr>
                </a:tc>
                <a:tc>
                  <a:txBody>
                    <a:bodyPr wrap="square"/>
                    <a:lstStyle/>
                    <a:p>
                      <a:pPr algn="ctr"/>
                      <a:r>
                        <a:rPr sz="1100" b="0">
                          <a:solidFill>
                            <a:srgbClr val="2C2C2C"/>
                          </a:solidFill>
                          <a:latin typeface="Calibri"/>
                          <a:ea typeface="Calibri"/>
                          <a:cs typeface="Calibri"/>
                        </a:rPr>
                        <a:t>RQ1</a:t>
                      </a:r>
                    </a:p>
                  </a:txBody>
                  <a:tcPr marL="54864" marR="54864" marT="22860" marB="22860" anchor="ctr">
                    <a:solidFill>
                      <a:srgbClr val="EEF2FF"/>
                    </a:solidFill>
                  </a:tcPr>
                </a:tc>
              </a:tr>
              <a:tr h="338328">
                <a:tc>
                  <a:txBody>
                    <a:bodyPr wrap="square"/>
                    <a:lstStyle/>
                    <a:p>
                      <a:pPr algn="ctr"/>
                      <a:r>
                        <a:rPr sz="1100" b="1">
                          <a:solidFill>
                            <a:srgbClr val="2C2C2C"/>
                          </a:solidFill>
                          <a:latin typeface="Calibri"/>
                          <a:ea typeface="Calibri"/>
                          <a:cs typeface="Calibri"/>
                        </a:rPr>
                        <a:t>Q2</a:t>
                      </a:r>
                    </a:p>
                  </a:txBody>
                  <a:tcPr marL="54864" marR="54864" marT="22860" marB="22860" anchor="ctr">
                    <a:solidFill>
                      <a:srgbClr val="FFFFFF"/>
                    </a:solidFill>
                  </a:tcPr>
                </a:tc>
                <a:tc>
                  <a:txBody>
                    <a:bodyPr wrap="square"/>
                    <a:lstStyle/>
                    <a:p>
                      <a:pPr algn="l"/>
                      <a:r>
                        <a:rPr sz="1100" b="0">
                          <a:solidFill>
                            <a:srgbClr val="2C2C2C"/>
                          </a:solidFill>
                          <a:latin typeface="Calibri"/>
                          <a:ea typeface="Calibri"/>
                          <a:cs typeface="Calibri"/>
                        </a:rPr>
                        <a:t>Day type vs weekdays, by period</a:t>
                      </a:r>
                    </a:p>
                  </a:txBody>
                  <a:tcPr marL="54864" marR="54864" marT="22860" marB="22860" anchor="ctr">
                    <a:solidFill>
                      <a:srgbClr val="FFFFFF"/>
                    </a:solidFill>
                  </a:tcPr>
                </a:tc>
                <a:tc>
                  <a:txBody>
                    <a:bodyPr wrap="square"/>
                    <a:lstStyle/>
                    <a:p>
                      <a:pPr algn="l"/>
                      <a:r>
                        <a:rPr sz="1100" b="0">
                          <a:solidFill>
                            <a:srgbClr val="2C2C2C"/>
                          </a:solidFill>
                          <a:latin typeface="Calibri"/>
                          <a:ea typeface="Calibri"/>
                          <a:cs typeface="Calibri"/>
                        </a:rPr>
                        <a:t>CTE · JOIN · CASE</a:t>
                      </a:r>
                    </a:p>
                  </a:txBody>
                  <a:tcPr marL="54864" marR="54864" marT="22860" marB="22860" anchor="ctr">
                    <a:solidFill>
                      <a:srgbClr val="FFFFFF"/>
                    </a:solidFill>
                  </a:tcPr>
                </a:tc>
                <a:tc>
                  <a:txBody>
                    <a:bodyPr wrap="square"/>
                    <a:lstStyle/>
                    <a:p>
                      <a:pPr algn="ctr"/>
                      <a:r>
                        <a:rPr sz="1100" b="0">
                          <a:solidFill>
                            <a:srgbClr val="2C2C2C"/>
                          </a:solidFill>
                          <a:latin typeface="Calibri"/>
                          <a:ea typeface="Calibri"/>
                          <a:cs typeface="Calibri"/>
                        </a:rPr>
                        <a:t>RQ1</a:t>
                      </a:r>
                    </a:p>
                  </a:txBody>
                  <a:tcPr marL="54864" marR="54864" marT="22860" marB="22860" anchor="ctr">
                    <a:solidFill>
                      <a:srgbClr val="FFFFFF"/>
                    </a:solidFill>
                  </a:tcPr>
                </a:tc>
              </a:tr>
              <a:tr h="338328">
                <a:tc>
                  <a:txBody>
                    <a:bodyPr wrap="square"/>
                    <a:lstStyle/>
                    <a:p>
                      <a:pPr algn="ctr"/>
                      <a:r>
                        <a:rPr sz="1100" b="1">
                          <a:solidFill>
                            <a:srgbClr val="2C2C2C"/>
                          </a:solidFill>
                          <a:latin typeface="Calibri"/>
                          <a:ea typeface="Calibri"/>
                          <a:cs typeface="Calibri"/>
                        </a:rPr>
                        <a:t>Q3</a:t>
                      </a:r>
                    </a:p>
                  </a:txBody>
                  <a:tcPr marL="54864" marR="54864" marT="22860" marB="22860" anchor="ctr">
                    <a:solidFill>
                      <a:srgbClr val="EEF2FF"/>
                    </a:solidFill>
                  </a:tcPr>
                </a:tc>
                <a:tc>
                  <a:txBody>
                    <a:bodyPr wrap="square"/>
                    <a:lstStyle/>
                    <a:p>
                      <a:pPr algn="l"/>
                      <a:r>
                        <a:rPr sz="1100" b="0">
                          <a:solidFill>
                            <a:srgbClr val="2C2C2C"/>
                          </a:solidFill>
                          <a:latin typeface="Calibri"/>
                          <a:ea typeface="Calibri"/>
                          <a:cs typeface="Calibri"/>
                        </a:rPr>
                        <a:t>Completeness and outages by month</a:t>
                      </a:r>
                    </a:p>
                  </a:txBody>
                  <a:tcPr marL="54864" marR="54864" marT="22860" marB="22860" anchor="ctr">
                    <a:solidFill>
                      <a:srgbClr val="EEF2FF"/>
                    </a:solidFill>
                  </a:tcPr>
                </a:tc>
                <a:tc>
                  <a:txBody>
                    <a:bodyPr wrap="square"/>
                    <a:lstStyle/>
                    <a:p>
                      <a:pPr algn="l"/>
                      <a:r>
                        <a:rPr sz="1100" b="0">
                          <a:solidFill>
                            <a:srgbClr val="2C2C2C"/>
                          </a:solidFill>
                          <a:latin typeface="Calibri"/>
                          <a:ea typeface="Calibri"/>
                          <a:cs typeface="Calibri"/>
                        </a:rPr>
                        <a:t>GROUP BY</a:t>
                      </a:r>
                    </a:p>
                  </a:txBody>
                  <a:tcPr marL="54864" marR="54864" marT="22860" marB="22860" anchor="ctr">
                    <a:solidFill>
                      <a:srgbClr val="EEF2FF"/>
                    </a:solidFill>
                  </a:tcPr>
                </a:tc>
                <a:tc>
                  <a:txBody>
                    <a:bodyPr wrap="square"/>
                    <a:lstStyle/>
                    <a:p>
                      <a:pPr algn="ctr"/>
                      <a:r>
                        <a:rPr sz="1100" b="0">
                          <a:solidFill>
                            <a:srgbClr val="2C2C2C"/>
                          </a:solidFill>
                          <a:latin typeface="Calibri"/>
                          <a:ea typeface="Calibri"/>
                          <a:cs typeface="Calibri"/>
                        </a:rPr>
                        <a:t>RQ1</a:t>
                      </a:r>
                    </a:p>
                  </a:txBody>
                  <a:tcPr marL="54864" marR="54864" marT="22860" marB="22860" anchor="ctr">
                    <a:solidFill>
                      <a:srgbClr val="EEF2FF"/>
                    </a:solidFill>
                  </a:tcPr>
                </a:tc>
              </a:tr>
              <a:tr h="338328">
                <a:tc>
                  <a:txBody>
                    <a:bodyPr wrap="square"/>
                    <a:lstStyle/>
                    <a:p>
                      <a:pPr algn="ctr"/>
                      <a:r>
                        <a:rPr sz="1100" b="1">
                          <a:solidFill>
                            <a:srgbClr val="2C2C2C"/>
                          </a:solidFill>
                          <a:latin typeface="Calibri"/>
                          <a:ea typeface="Calibri"/>
                          <a:cs typeface="Calibri"/>
                        </a:rPr>
                        <a:t>Q4</a:t>
                      </a:r>
                    </a:p>
                  </a:txBody>
                  <a:tcPr marL="54864" marR="54864" marT="22860" marB="22860" anchor="ctr">
                    <a:solidFill>
                      <a:srgbClr val="FFFFFF"/>
                    </a:solidFill>
                  </a:tcPr>
                </a:tc>
                <a:tc>
                  <a:txBody>
                    <a:bodyPr wrap="square"/>
                    <a:lstStyle/>
                    <a:p>
                      <a:pPr algn="l"/>
                      <a:r>
                        <a:rPr sz="1100" b="0">
                          <a:solidFill>
                            <a:srgbClr val="2C2C2C"/>
                          </a:solidFill>
                          <a:latin typeface="Calibri"/>
                          <a:ea typeface="Calibri"/>
                          <a:cs typeface="Calibri"/>
                        </a:rPr>
                        <a:t>Cells thinning out, by quarter</a:t>
                      </a:r>
                    </a:p>
                  </a:txBody>
                  <a:tcPr marL="54864" marR="54864" marT="22860" marB="22860" anchor="ctr">
                    <a:solidFill>
                      <a:srgbClr val="FFFFFF"/>
                    </a:solidFill>
                  </a:tcPr>
                </a:tc>
                <a:tc>
                  <a:txBody>
                    <a:bodyPr wrap="square"/>
                    <a:lstStyle/>
                    <a:p>
                      <a:pPr algn="l"/>
                      <a:r>
                        <a:rPr sz="1100" b="0">
                          <a:solidFill>
                            <a:srgbClr val="2C2C2C"/>
                          </a:solidFill>
                          <a:latin typeface="Calibri"/>
                          <a:ea typeface="Calibri"/>
                          <a:cs typeface="Calibri"/>
                        </a:rPr>
                        <a:t>CTE · CASE</a:t>
                      </a:r>
                    </a:p>
                  </a:txBody>
                  <a:tcPr marL="54864" marR="54864" marT="22860" marB="22860" anchor="ctr">
                    <a:solidFill>
                      <a:srgbClr val="FFFFFF"/>
                    </a:solidFill>
                  </a:tcPr>
                </a:tc>
                <a:tc>
                  <a:txBody>
                    <a:bodyPr wrap="square"/>
                    <a:lstStyle/>
                    <a:p>
                      <a:pPr algn="ctr"/>
                      <a:r>
                        <a:rPr sz="1100" b="0">
                          <a:solidFill>
                            <a:srgbClr val="2C2C2C"/>
                          </a:solidFill>
                          <a:latin typeface="Calibri"/>
                          <a:ea typeface="Calibri"/>
                          <a:cs typeface="Calibri"/>
                        </a:rPr>
                        <a:t>RQ1</a:t>
                      </a:r>
                    </a:p>
                  </a:txBody>
                  <a:tcPr marL="54864" marR="54864" marT="22860" marB="22860" anchor="ctr">
                    <a:solidFill>
                      <a:srgbClr val="FFFFFF"/>
                    </a:solidFill>
                  </a:tcPr>
                </a:tc>
              </a:tr>
              <a:tr h="338328">
                <a:tc>
                  <a:txBody>
                    <a:bodyPr wrap="square"/>
                    <a:lstStyle/>
                    <a:p>
                      <a:pPr algn="ctr"/>
                      <a:r>
                        <a:rPr sz="1100" b="1">
                          <a:solidFill>
                            <a:srgbClr val="2C2C2C"/>
                          </a:solidFill>
                          <a:latin typeface="Calibri"/>
                          <a:ea typeface="Calibri"/>
                          <a:cs typeface="Calibri"/>
                        </a:rPr>
                        <a:t>Q5</a:t>
                      </a:r>
                    </a:p>
                  </a:txBody>
                  <a:tcPr marL="54864" marR="54864" marT="22860" marB="22860" anchor="ctr">
                    <a:solidFill>
                      <a:srgbClr val="EEF2FF"/>
                    </a:solidFill>
                  </a:tcPr>
                </a:tc>
                <a:tc>
                  <a:txBody>
                    <a:bodyPr wrap="square"/>
                    <a:lstStyle/>
                    <a:p>
                      <a:pPr algn="l"/>
                      <a:r>
                        <a:rPr sz="1100" b="0">
                          <a:solidFill>
                            <a:srgbClr val="2C2C2C"/>
                          </a:solidFill>
                          <a:latin typeface="Calibri"/>
                          <a:ea typeface="Calibri"/>
                          <a:cs typeface="Calibri"/>
                        </a:rPr>
                        <a:t>Holiday echo: last week / today</a:t>
                      </a:r>
                    </a:p>
                  </a:txBody>
                  <a:tcPr marL="54864" marR="54864" marT="22860" marB="22860" anchor="ctr">
                    <a:solidFill>
                      <a:srgbClr val="EEF2FF"/>
                    </a:solidFill>
                  </a:tcPr>
                </a:tc>
                <a:tc>
                  <a:txBody>
                    <a:bodyPr wrap="square"/>
                    <a:lstStyle/>
                    <a:p>
                      <a:pPr algn="l"/>
                      <a:r>
                        <a:rPr sz="1100" b="0">
                          <a:solidFill>
                            <a:srgbClr val="2C2C2C"/>
                          </a:solidFill>
                          <a:latin typeface="Calibri"/>
                          <a:ea typeface="Calibri"/>
                          <a:cs typeface="Calibri"/>
                        </a:rPr>
                        <a:t>LAG OVER · CTE</a:t>
                      </a:r>
                    </a:p>
                  </a:txBody>
                  <a:tcPr marL="54864" marR="54864" marT="22860" marB="22860" anchor="ctr">
                    <a:solidFill>
                      <a:srgbClr val="EEF2FF"/>
                    </a:solidFill>
                  </a:tcPr>
                </a:tc>
                <a:tc>
                  <a:txBody>
                    <a:bodyPr wrap="square"/>
                    <a:lstStyle/>
                    <a:p>
                      <a:pPr algn="ctr"/>
                      <a:r>
                        <a:rPr sz="1100" b="0">
                          <a:solidFill>
                            <a:srgbClr val="2C2C2C"/>
                          </a:solidFill>
                          <a:latin typeface="Calibri"/>
                          <a:ea typeface="Calibri"/>
                          <a:cs typeface="Calibri"/>
                        </a:rPr>
                        <a:t>RQ1, 3</a:t>
                      </a:r>
                    </a:p>
                  </a:txBody>
                  <a:tcPr marL="54864" marR="54864" marT="22860" marB="22860" anchor="ctr">
                    <a:solidFill>
                      <a:srgbClr val="EEF2FF"/>
                    </a:solidFill>
                  </a:tcPr>
                </a:tc>
              </a:tr>
              <a:tr h="338328">
                <a:tc>
                  <a:txBody>
                    <a:bodyPr wrap="square"/>
                    <a:lstStyle/>
                    <a:p>
                      <a:pPr algn="ctr"/>
                      <a:r>
                        <a:rPr sz="1100" b="1">
                          <a:solidFill>
                            <a:srgbClr val="2C2C2C"/>
                          </a:solidFill>
                          <a:latin typeface="Calibri"/>
                          <a:ea typeface="Calibri"/>
                          <a:cs typeface="Calibri"/>
                        </a:rPr>
                        <a:t>Q6</a:t>
                      </a:r>
                    </a:p>
                  </a:txBody>
                  <a:tcPr marL="54864" marR="54864" marT="22860" marB="22860" anchor="ctr">
                    <a:solidFill>
                      <a:srgbClr val="FFFFFF"/>
                    </a:solidFill>
                  </a:tcPr>
                </a:tc>
                <a:tc>
                  <a:txBody>
                    <a:bodyPr wrap="square"/>
                    <a:lstStyle/>
                    <a:p>
                      <a:pPr algn="l"/>
                      <a:r>
                        <a:rPr sz="1100" b="0">
                          <a:solidFill>
                            <a:srgbClr val="2C2C2C"/>
                          </a:solidFill>
                          <a:latin typeface="Calibri"/>
                          <a:ea typeface="Calibri"/>
                          <a:cs typeface="Calibri"/>
                        </a:rPr>
                        <a:t>Feature table, target = next hour</a:t>
                      </a:r>
                    </a:p>
                  </a:txBody>
                  <a:tcPr marL="54864" marR="54864" marT="22860" marB="22860" anchor="ctr">
                    <a:solidFill>
                      <a:srgbClr val="FFFFFF"/>
                    </a:solidFill>
                  </a:tcPr>
                </a:tc>
                <a:tc>
                  <a:txBody>
                    <a:bodyPr wrap="square"/>
                    <a:lstStyle/>
                    <a:p>
                      <a:pPr algn="l"/>
                      <a:r>
                        <a:rPr sz="1100" b="0">
                          <a:solidFill>
                            <a:srgbClr val="2C2C2C"/>
                          </a:solidFill>
                          <a:latin typeface="Calibri"/>
                          <a:ea typeface="Calibri"/>
                          <a:cs typeface="Calibri"/>
                        </a:rPr>
                        <a:t>LAG / LEAD OVER · JOIN</a:t>
                      </a:r>
                    </a:p>
                  </a:txBody>
                  <a:tcPr marL="54864" marR="54864" marT="22860" marB="22860" anchor="ctr">
                    <a:solidFill>
                      <a:srgbClr val="FFFFFF"/>
                    </a:solidFill>
                  </a:tcPr>
                </a:tc>
                <a:tc>
                  <a:txBody>
                    <a:bodyPr wrap="square"/>
                    <a:lstStyle/>
                    <a:p>
                      <a:pPr algn="ctr"/>
                      <a:r>
                        <a:rPr sz="1100" b="0">
                          <a:solidFill>
                            <a:srgbClr val="2C2C2C"/>
                          </a:solidFill>
                          <a:latin typeface="Calibri"/>
                          <a:ea typeface="Calibri"/>
                          <a:cs typeface="Calibri"/>
                        </a:rPr>
                        <a:t>RQ2, 3</a:t>
                      </a:r>
                    </a:p>
                  </a:txBody>
                  <a:tcPr marL="54864" marR="54864" marT="22860" marB="22860" anchor="ctr">
                    <a:solidFill>
                      <a:srgbClr val="FFFFFF"/>
                    </a:solidFill>
                  </a:tcPr>
                </a:tc>
              </a:tr>
              <a:tr h="338328">
                <a:tc>
                  <a:txBody>
                    <a:bodyPr wrap="square"/>
                    <a:lstStyle/>
                    <a:p>
                      <a:pPr algn="ctr"/>
                      <a:r>
                        <a:rPr sz="1100" b="1">
                          <a:solidFill>
                            <a:srgbClr val="2C2C2C"/>
                          </a:solidFill>
                          <a:latin typeface="Calibri"/>
                          <a:ea typeface="Calibri"/>
                          <a:cs typeface="Calibri"/>
                        </a:rPr>
                        <a:t>Q7</a:t>
                      </a:r>
                    </a:p>
                  </a:txBody>
                  <a:tcPr marL="54864" marR="54864" marT="22860" marB="22860" anchor="ctr">
                    <a:solidFill>
                      <a:srgbClr val="EEF2FF"/>
                    </a:solidFill>
                  </a:tcPr>
                </a:tc>
                <a:tc>
                  <a:txBody>
                    <a:bodyPr wrap="square"/>
                    <a:lstStyle/>
                    <a:p>
                      <a:pPr algn="l"/>
                      <a:r>
                        <a:rPr sz="1100" b="0">
                          <a:solidFill>
                            <a:srgbClr val="2C2C2C"/>
                          </a:solidFill>
                          <a:latin typeface="Calibri"/>
                          <a:ea typeface="Calibri"/>
                          <a:cs typeface="Calibri"/>
                        </a:rPr>
                        <a:t>Quality check of the feature table</a:t>
                      </a:r>
                    </a:p>
                  </a:txBody>
                  <a:tcPr marL="54864" marR="54864" marT="22860" marB="22860" anchor="ctr">
                    <a:solidFill>
                      <a:srgbClr val="EEF2FF"/>
                    </a:solidFill>
                  </a:tcPr>
                </a:tc>
                <a:tc>
                  <a:txBody>
                    <a:bodyPr wrap="square"/>
                    <a:lstStyle/>
                    <a:p>
                      <a:pPr algn="l"/>
                      <a:r>
                        <a:rPr sz="1100" b="0">
                          <a:solidFill>
                            <a:srgbClr val="2C2C2C"/>
                          </a:solidFill>
                          <a:latin typeface="Calibri"/>
                          <a:ea typeface="Calibri"/>
                          <a:cs typeface="Calibri"/>
                        </a:rPr>
                        <a:t>COUNT DISTINCT</a:t>
                      </a:r>
                    </a:p>
                  </a:txBody>
                  <a:tcPr marL="54864" marR="54864" marT="22860" marB="22860" anchor="ctr">
                    <a:solidFill>
                      <a:srgbClr val="EEF2FF"/>
                    </a:solidFill>
                  </a:tcPr>
                </a:tc>
                <a:tc>
                  <a:txBody>
                    <a:bodyPr wrap="square"/>
                    <a:lstStyle/>
                    <a:p>
                      <a:pPr algn="ctr"/>
                      <a:r>
                        <a:rPr sz="1100" b="0">
                          <a:solidFill>
                            <a:srgbClr val="2C2C2C"/>
                          </a:solidFill>
                          <a:latin typeface="Calibri"/>
                          <a:ea typeface="Calibri"/>
                          <a:cs typeface="Calibri"/>
                        </a:rPr>
                        <a:t>Q6</a:t>
                      </a:r>
                    </a:p>
                  </a:txBody>
                  <a:tcPr marL="54864" marR="54864" marT="22860" marB="22860" anchor="ctr">
                    <a:solidFill>
                      <a:srgbClr val="EEF2FF"/>
                    </a:solidFill>
                  </a:tcPr>
                </a:tc>
              </a:tr>
            </a:tbl>
          </a:graphicData>
        </a:graphic>
      </p:graphicFrame>
      <p:sp>
        <p:nvSpPr>
          <p:cNvPr id="5" name="Code"/>
          <p:cNvSpPr txBox="1"/>
          <p:nvPr/>
        </p:nvSpPr>
        <p:spPr>
          <a:xfrm>
            <a:off x="5852160" y="1097280"/>
            <a:ext cx="2834640" cy="2697480"/>
          </a:xfrm>
          <a:prstGeom prst="rect">
            <a:avLst/>
          </a:prstGeom>
          <a:solidFill>
            <a:srgbClr val="1E293B"/>
          </a:solidFill>
        </p:spPr>
        <p:txBody>
          <a:bodyPr wrap="square" lIns="109728" rIns="109728" tIns="109728" bIns="109728" anchor="t">
            <a:spAutoFit/>
          </a:bodyPr>
          <a:lstStyle/>
          <a:p>
            <a:pPr algn="l"/>
            <a:r>
              <a:rPr sz="950" b="0">
                <a:solidFill>
                  <a:srgbClr val="E2E8F0"/>
                </a:solidFill>
                <a:latin typeface="Courier New"/>
                <a:ea typeface="Courier New"/>
                <a:cs typeface="Courier New"/>
              </a:rPr>
              <a:t>SELECT cell, ts, vehicles AS volume,</a:t>
            </a:r>
          </a:p>
          <a:p>
            <a:pPr algn="l"/>
            <a:r>
              <a:rPr sz="950" b="0">
                <a:solidFill>
                  <a:srgbClr val="E2E8F0"/>
                </a:solidFill>
                <a:latin typeface="Courier New"/>
                <a:ea typeface="Courier New"/>
                <a:cs typeface="Courier New"/>
              </a:rPr>
              <a:t>  LEAD(vehicles, 1) OVER w AS y,</a:t>
            </a:r>
          </a:p>
          <a:p>
            <a:pPr algn="l"/>
            <a:r>
              <a:rPr sz="950" b="0">
                <a:solidFill>
                  <a:srgbClr val="E2E8F0"/>
                </a:solidFill>
                <a:latin typeface="Courier New"/>
                <a:ea typeface="Courier New"/>
                <a:cs typeface="Courier New"/>
              </a:rPr>
              <a:t>  LAG(vehicles, 1)  OVER w AS lag1,</a:t>
            </a:r>
          </a:p>
          <a:p>
            <a:pPr algn="l"/>
            <a:r>
              <a:rPr sz="950" b="0">
                <a:solidFill>
                  <a:srgbClr val="E2E8F0"/>
                </a:solidFill>
                <a:latin typeface="Courier New"/>
                <a:ea typeface="Courier New"/>
                <a:cs typeface="Courier New"/>
              </a:rPr>
              <a:t>  LAG(vehicles, 23) OVER w AS lag23,</a:t>
            </a:r>
          </a:p>
          <a:p>
            <a:pPr algn="l"/>
            <a:r>
              <a:rPr sz="950" b="0">
                <a:solidFill>
                  <a:srgbClr val="86EFAC"/>
                </a:solidFill>
                <a:latin typeface="Courier New"/>
                <a:ea typeface="Courier New"/>
                <a:cs typeface="Courier New"/>
              </a:rPr>
              <a:t>  -- same hour last week</a:t>
            </a:r>
          </a:p>
          <a:p>
            <a:pPr algn="l"/>
            <a:r>
              <a:rPr sz="950" b="0">
                <a:solidFill>
                  <a:srgbClr val="E2E8F0"/>
                </a:solidFill>
                <a:latin typeface="Courier New"/>
                <a:ea typeface="Courier New"/>
                <a:cs typeface="Courier New"/>
              </a:rPr>
              <a:t>  LAG(vehicles, 167) OVER w</a:t>
            </a:r>
          </a:p>
          <a:p>
            <a:pPr algn="l"/>
            <a:r>
              <a:rPr sz="950" b="0">
                <a:solidFill>
                  <a:srgbClr val="E2E8F0"/>
                </a:solidFill>
                <a:latin typeface="Courier New"/>
                <a:ea typeface="Courier New"/>
                <a:cs typeface="Courier New"/>
              </a:rPr>
              <a:t>    AS lag167,</a:t>
            </a:r>
          </a:p>
          <a:p>
            <a:pPr algn="l"/>
            <a:r>
              <a:rPr sz="950" b="0">
                <a:solidFill>
                  <a:srgbClr val="E2E8F0"/>
                </a:solidFill>
                <a:latin typeface="Courier New"/>
                <a:ea typeface="Courier New"/>
                <a:cs typeface="Courier New"/>
              </a:rPr>
              <a:t>  ts - LAG(ts, 1) OVER w AS gap</a:t>
            </a:r>
          </a:p>
          <a:p>
            <a:pPr algn="l"/>
            <a:r>
              <a:rPr sz="950" b="0">
                <a:solidFill>
                  <a:srgbClr val="E2E8F0"/>
                </a:solidFill>
                <a:latin typeface="Courier New"/>
                <a:ea typeface="Courier New"/>
                <a:cs typeface="Courier New"/>
              </a:rPr>
              <a:t>FROM tr</a:t>
            </a:r>
          </a:p>
          <a:p>
            <a:pPr algn="l"/>
            <a:r>
              <a:rPr sz="950" b="0">
                <a:solidFill>
                  <a:srgbClr val="E2E8F0"/>
                </a:solidFill>
                <a:latin typeface="Courier New"/>
                <a:ea typeface="Courier New"/>
                <a:cs typeface="Courier New"/>
              </a:rPr>
              <a:t>WINDOW w AS (PARTITION BY cell</a:t>
            </a:r>
          </a:p>
          <a:p>
            <a:pPr algn="l"/>
            <a:r>
              <a:rPr sz="950" b="0">
                <a:solidFill>
                  <a:srgbClr val="E2E8F0"/>
                </a:solidFill>
                <a:latin typeface="Courier New"/>
                <a:ea typeface="Courier New"/>
                <a:cs typeface="Courier New"/>
              </a:rPr>
              <a:t>             ORDER BY ts);</a:t>
            </a:r>
          </a:p>
        </p:txBody>
      </p:sp>
      <p:sp>
        <p:nvSpPr>
          <p:cNvPr id="6" name="TextBox 5"/>
          <p:cNvSpPr txBox="1"/>
          <p:nvPr/>
        </p:nvSpPr>
        <p:spPr>
          <a:xfrm>
            <a:off x="5852160" y="3822191"/>
            <a:ext cx="2834640" cy="201168"/>
          </a:xfrm>
          <a:prstGeom prst="rect">
            <a:avLst/>
          </a:prstGeom>
          <a:noFill/>
        </p:spPr>
        <p:txBody>
          <a:bodyPr wrap="square" lIns="0" rIns="0" tIns="0" bIns="0" anchor="t">
            <a:spAutoFit/>
          </a:bodyPr>
          <a:lstStyle/>
          <a:p>
            <a:pPr algn="l"/>
            <a:r>
              <a:rPr sz="1000" b="0">
                <a:solidFill>
                  <a:srgbClr val="64748B"/>
                </a:solidFill>
                <a:latin typeface="Calibri"/>
                <a:ea typeface="Calibri"/>
                <a:cs typeface="Calibri"/>
              </a:rPr>
              <a:t>Q6, simplified (full query in sql/queries.sql)</a:t>
            </a:r>
          </a:p>
        </p:txBody>
      </p:sp>
      <p:sp>
        <p:nvSpPr>
          <p:cNvPr id="7" name="Rectangle 6"/>
          <p:cNvSpPr/>
          <p:nvPr/>
        </p:nvSpPr>
        <p:spPr>
          <a:xfrm>
            <a:off x="457200" y="3931920"/>
            <a:ext cx="1691640" cy="960120"/>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48640" y="3986783"/>
            <a:ext cx="1508760" cy="850392"/>
          </a:xfrm>
          <a:prstGeom prst="rect">
            <a:avLst/>
          </a:prstGeom>
          <a:noFill/>
        </p:spPr>
        <p:txBody>
          <a:bodyPr wrap="square" lIns="36576" rIns="36576" tIns="36576" bIns="36576" anchor="t">
            <a:spAutoFit/>
          </a:bodyPr>
          <a:lstStyle/>
          <a:p>
            <a:pPr algn="l">
              <a:spcAft>
                <a:spcPts val="200"/>
              </a:spcAft>
            </a:pPr>
            <a:r>
              <a:rPr sz="1200" b="1">
                <a:solidFill>
                  <a:srgbClr val="1F3864"/>
                </a:solidFill>
                <a:latin typeface="Calibri"/>
                <a:ea typeface="Calibri"/>
                <a:cs typeface="Calibri"/>
              </a:rPr>
              <a:t>7 queries</a:t>
            </a:r>
          </a:p>
          <a:p>
            <a:pPr algn="l">
              <a:spcAft>
                <a:spcPts val="200"/>
              </a:spcAft>
            </a:pPr>
            <a:r>
              <a:rPr sz="1050" b="0">
                <a:solidFill>
                  <a:srgbClr val="2C2C2C"/>
                </a:solidFill>
                <a:latin typeface="Calibri"/>
                <a:ea typeface="Calibri"/>
                <a:cs typeface="Calibri"/>
              </a:rPr>
              <a:t>sql/queries.sql, results in report/table_q*.csv</a:t>
            </a:r>
          </a:p>
        </p:txBody>
      </p:sp>
      <p:sp>
        <p:nvSpPr>
          <p:cNvPr id="9" name="Rectangle 8"/>
          <p:cNvSpPr/>
          <p:nvPr/>
        </p:nvSpPr>
        <p:spPr>
          <a:xfrm>
            <a:off x="2240280" y="3931920"/>
            <a:ext cx="1691640" cy="960120"/>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2331720" y="3986783"/>
            <a:ext cx="1508760" cy="850392"/>
          </a:xfrm>
          <a:prstGeom prst="rect">
            <a:avLst/>
          </a:prstGeom>
          <a:noFill/>
        </p:spPr>
        <p:txBody>
          <a:bodyPr wrap="square" lIns="36576" rIns="36576" tIns="36576" bIns="36576" anchor="t">
            <a:spAutoFit/>
          </a:bodyPr>
          <a:lstStyle/>
          <a:p>
            <a:pPr algn="l">
              <a:spcAft>
                <a:spcPts val="200"/>
              </a:spcAft>
            </a:pPr>
            <a:r>
              <a:rPr sz="1200" b="1">
                <a:solidFill>
                  <a:srgbClr val="1F3864"/>
                </a:solidFill>
                <a:latin typeface="Calibri"/>
                <a:ea typeface="Calibri"/>
                <a:cs typeface="Calibri"/>
              </a:rPr>
              <a:t>Past-only inputs</a:t>
            </a:r>
          </a:p>
          <a:p>
            <a:pPr algn="l">
              <a:spcAft>
                <a:spcPts val="200"/>
              </a:spcAft>
            </a:pPr>
            <a:r>
              <a:rPr sz="1050" b="0">
                <a:solidFill>
                  <a:srgbClr val="2C2C2C"/>
                </a:solidFill>
                <a:latin typeface="Calibri"/>
                <a:ea typeface="Calibri"/>
                <a:cs typeface="Calibri"/>
              </a:rPr>
              <a:t>LEAD used only for the target y</a:t>
            </a:r>
          </a:p>
        </p:txBody>
      </p:sp>
      <p:sp>
        <p:nvSpPr>
          <p:cNvPr id="11" name="Rectangle 10"/>
          <p:cNvSpPr/>
          <p:nvPr/>
        </p:nvSpPr>
        <p:spPr>
          <a:xfrm>
            <a:off x="4023360" y="3931920"/>
            <a:ext cx="1691640" cy="960120"/>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114800" y="3986783"/>
            <a:ext cx="1508760" cy="850392"/>
          </a:xfrm>
          <a:prstGeom prst="rect">
            <a:avLst/>
          </a:prstGeom>
          <a:noFill/>
        </p:spPr>
        <p:txBody>
          <a:bodyPr wrap="square" lIns="36576" rIns="36576" tIns="36576" bIns="36576" anchor="t">
            <a:spAutoFit/>
          </a:bodyPr>
          <a:lstStyle/>
          <a:p>
            <a:pPr algn="l">
              <a:spcAft>
                <a:spcPts val="200"/>
              </a:spcAft>
            </a:pPr>
            <a:r>
              <a:rPr sz="1200" b="1">
                <a:solidFill>
                  <a:srgbClr val="1F3864"/>
                </a:solidFill>
                <a:latin typeface="Calibri"/>
                <a:ea typeface="Calibri"/>
                <a:cs typeface="Calibri"/>
              </a:rPr>
              <a:t>Q7 check</a:t>
            </a:r>
          </a:p>
          <a:p>
            <a:pPr algn="l">
              <a:spcAft>
                <a:spcPts val="200"/>
              </a:spcAft>
            </a:pPr>
            <a:r>
              <a:rPr sz="1050" b="0">
                <a:solidFill>
                  <a:srgbClr val="2C2C2C"/>
                </a:solidFill>
                <a:latin typeface="Calibri"/>
                <a:ea typeface="Calibri"/>
                <a:cs typeface="Calibri"/>
              </a:rPr>
              <a:t>max gap 1 h · 0 duplicate keys · 3,945,450 rows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d"/>
          <p:cNvSpPr txBox="1"/>
          <p:nvPr/>
        </p:nvSpPr>
        <p:spPr>
          <a:xfrm>
            <a:off x="457200" y="182880"/>
            <a:ext cx="8229600" cy="777240"/>
          </a:xfrm>
          <a:prstGeom prst="rect">
            <a:avLst/>
          </a:prstGeom>
          <a:noFill/>
        </p:spPr>
        <p:txBody>
          <a:bodyPr wrap="square" lIns="0" rIns="0" tIns="0" bIns="0" anchor="ctr">
            <a:spAutoFit/>
          </a:bodyPr>
          <a:lstStyle/>
          <a:p>
            <a:pPr algn="l"/>
            <a:r>
              <a:rPr sz="2800" b="1">
                <a:solidFill>
                  <a:srgbClr val="1F3864"/>
                </a:solidFill>
                <a:latin typeface="Calibri"/>
                <a:ea typeface="Calibri"/>
                <a:cs typeface="Calibri"/>
              </a:rPr>
              <a:t>#4 SQL Queries — Q5: the holiday echo</a:t>
            </a:r>
          </a:p>
        </p:txBody>
      </p:sp>
      <p:cxnSp>
        <p:nvCxnSpPr>
          <p:cNvPr id="3" name="Div"/>
          <p:cNvCxnSpPr/>
          <p:nvPr/>
        </p:nvCxnSpPr>
        <p:spPr>
          <a:xfrm>
            <a:off x="457200" y="960120"/>
            <a:ext cx="8229600" cy="0"/>
          </a:xfrm>
          <a:prstGeom prst="line">
            <a:avLst/>
          </a:prstGeom>
          <a:ln w="19050">
            <a:solidFill>
              <a:srgbClr val="4472C4"/>
            </a:solidFill>
          </a:ln>
        </p:spPr>
        <p:style>
          <a:lnRef idx="2">
            <a:schemeClr val="accent1"/>
          </a:lnRef>
          <a:fillRef idx="0">
            <a:schemeClr val="accent1"/>
          </a:fillRef>
          <a:effectRef idx="1">
            <a:schemeClr val="accent1"/>
          </a:effectRef>
          <a:fontRef idx="minor">
            <a:schemeClr val="tx1"/>
          </a:fontRef>
        </p:style>
      </p:cxnSp>
      <p:sp>
        <p:nvSpPr>
          <p:cNvPr id="4" name="Code"/>
          <p:cNvSpPr txBox="1"/>
          <p:nvPr/>
        </p:nvSpPr>
        <p:spPr>
          <a:xfrm>
            <a:off x="457200" y="1097280"/>
            <a:ext cx="4572000" cy="3063240"/>
          </a:xfrm>
          <a:prstGeom prst="rect">
            <a:avLst/>
          </a:prstGeom>
          <a:solidFill>
            <a:srgbClr val="1E293B"/>
          </a:solidFill>
        </p:spPr>
        <p:txBody>
          <a:bodyPr wrap="square" lIns="109728" rIns="109728" tIns="109728" bIns="109728" anchor="t">
            <a:spAutoFit/>
          </a:bodyPr>
          <a:lstStyle/>
          <a:p>
            <a:pPr algn="l"/>
            <a:r>
              <a:rPr sz="950" b="0">
                <a:solidFill>
                  <a:srgbClr val="86EFAC"/>
                </a:solidFill>
                <a:latin typeface="Courier New"/>
                <a:ea typeface="Courier New"/>
                <a:cs typeface="Courier New"/>
              </a:rPr>
              <a:t>-- Q5: same hour one week earlier divided by</a:t>
            </a:r>
          </a:p>
          <a:p>
            <a:pPr algn="l"/>
            <a:r>
              <a:rPr sz="950" b="0">
                <a:solidFill>
                  <a:srgbClr val="86EFAC"/>
                </a:solidFill>
                <a:latin typeface="Courier New"/>
                <a:ea typeface="Courier New"/>
                <a:cs typeface="Courier New"/>
              </a:rPr>
              <a:t>-- today, by type of the current day</a:t>
            </a:r>
          </a:p>
          <a:p>
            <a:pPr algn="l"/>
            <a:r>
              <a:rPr sz="950" b="0">
                <a:solidFill>
                  <a:srgbClr val="E2E8F0"/>
                </a:solidFill>
                <a:latin typeface="Courier New"/>
                <a:ea typeface="Courier New"/>
                <a:cs typeface="Courier New"/>
              </a:rPr>
              <a:t>WITH d AS (</a:t>
            </a:r>
          </a:p>
          <a:p>
            <a:pPr algn="l"/>
            <a:r>
              <a:rPr sz="950" b="0">
                <a:solidFill>
                  <a:srgbClr val="E2E8F0"/>
                </a:solidFill>
                <a:latin typeface="Courier New"/>
                <a:ea typeface="Courier New"/>
                <a:cs typeface="Courier New"/>
              </a:rPr>
              <a:t>  SELECT cell, ts, day_type, vehicles,</a:t>
            </a:r>
          </a:p>
          <a:p>
            <a:pPr algn="l"/>
            <a:r>
              <a:rPr sz="950" b="0">
                <a:solidFill>
                  <a:srgbClr val="E2E8F0"/>
                </a:solidFill>
                <a:latin typeface="Courier New"/>
                <a:ea typeface="Courier New"/>
                <a:cs typeface="Courier New"/>
              </a:rPr>
              <a:t>         LAG(vehicles, 168) OVER (PARTITION BY cell</a:t>
            </a:r>
          </a:p>
          <a:p>
            <a:pPr algn="l"/>
            <a:r>
              <a:rPr sz="950" b="0">
                <a:solidFill>
                  <a:srgbClr val="E2E8F0"/>
                </a:solidFill>
                <a:latin typeface="Courier New"/>
                <a:ea typeface="Courier New"/>
                <a:cs typeface="Courier New"/>
              </a:rPr>
              <a:t>                                  ORDER BY ts) AS last_week</a:t>
            </a:r>
          </a:p>
          <a:p>
            <a:pPr algn="l"/>
            <a:r>
              <a:rPr sz="950" b="0">
                <a:solidFill>
                  <a:srgbClr val="E2E8F0"/>
                </a:solidFill>
                <a:latin typeface="Courier New"/>
                <a:ea typeface="Courier New"/>
                <a:cs typeface="Courier New"/>
              </a:rPr>
              <a:t>  FROM tr)</a:t>
            </a:r>
          </a:p>
          <a:p>
            <a:pPr algn="l"/>
            <a:r>
              <a:rPr sz="950" b="0">
                <a:solidFill>
                  <a:srgbClr val="E2E8F0"/>
                </a:solidFill>
                <a:latin typeface="Courier New"/>
                <a:ea typeface="Courier New"/>
                <a:cs typeface="Courier New"/>
              </a:rPr>
              <a:t>SELECT day_type,</a:t>
            </a:r>
          </a:p>
          <a:p>
            <a:pPr algn="l"/>
            <a:r>
              <a:rPr sz="950" b="0">
                <a:solidFill>
                  <a:srgbClr val="E2E8F0"/>
                </a:solidFill>
                <a:latin typeface="Courier New"/>
                <a:ea typeface="Courier New"/>
                <a:cs typeface="Courier New"/>
              </a:rPr>
              <a:t>       COUNT(*) AS cell_hours,</a:t>
            </a:r>
          </a:p>
          <a:p>
            <a:pPr algn="l"/>
            <a:r>
              <a:rPr sz="950" b="0">
                <a:solidFill>
                  <a:srgbClr val="E2E8F0"/>
                </a:solidFill>
                <a:latin typeface="Courier New"/>
                <a:ea typeface="Courier New"/>
                <a:cs typeface="Courier New"/>
              </a:rPr>
              <a:t>       ROUND(SUM(last_week) / SUM(vehicles), 3)</a:t>
            </a:r>
          </a:p>
          <a:p>
            <a:pPr algn="l"/>
            <a:r>
              <a:rPr sz="950" b="0">
                <a:solidFill>
                  <a:srgbClr val="E2E8F0"/>
                </a:solidFill>
                <a:latin typeface="Courier New"/>
                <a:ea typeface="Courier New"/>
                <a:cs typeface="Courier New"/>
              </a:rPr>
              <a:t>         AS last_week_over_today</a:t>
            </a:r>
          </a:p>
          <a:p>
            <a:pPr algn="l"/>
            <a:r>
              <a:rPr sz="950" b="0">
                <a:solidFill>
                  <a:srgbClr val="E2E8F0"/>
                </a:solidFill>
                <a:latin typeface="Courier New"/>
                <a:ea typeface="Courier New"/>
                <a:cs typeface="Courier New"/>
              </a:rPr>
              <a:t>FROM d</a:t>
            </a:r>
          </a:p>
          <a:p>
            <a:pPr algn="l"/>
            <a:r>
              <a:rPr sz="950" b="0">
                <a:solidFill>
                  <a:srgbClr val="E2E8F0"/>
                </a:solidFill>
                <a:latin typeface="Courier New"/>
                <a:ea typeface="Courier New"/>
                <a:cs typeface="Courier New"/>
              </a:rPr>
              <a:t>WHERE vehicles IS NOT NULL AND last_week IS NOT NULL</a:t>
            </a:r>
          </a:p>
          <a:p>
            <a:pPr algn="l"/>
            <a:r>
              <a:rPr sz="950" b="0">
                <a:solidFill>
                  <a:srgbClr val="E2E8F0"/>
                </a:solidFill>
                <a:latin typeface="Courier New"/>
                <a:ea typeface="Courier New"/>
                <a:cs typeface="Courier New"/>
              </a:rPr>
              <a:t>GROUP BY 1</a:t>
            </a:r>
          </a:p>
          <a:p>
            <a:pPr algn="l"/>
            <a:r>
              <a:rPr sz="950" b="0">
                <a:solidFill>
                  <a:srgbClr val="E2E8F0"/>
                </a:solidFill>
                <a:latin typeface="Courier New"/>
                <a:ea typeface="Courier New"/>
                <a:cs typeface="Courier New"/>
              </a:rPr>
              <a:t>ORDER BY 3;</a:t>
            </a:r>
          </a:p>
        </p:txBody>
      </p:sp>
      <p:sp>
        <p:nvSpPr>
          <p:cNvPr id="5" name="TextBox 4"/>
          <p:cNvSpPr txBox="1"/>
          <p:nvPr/>
        </p:nvSpPr>
        <p:spPr>
          <a:xfrm>
            <a:off x="5212080" y="1097280"/>
            <a:ext cx="3474720" cy="228600"/>
          </a:xfrm>
          <a:prstGeom prst="rect">
            <a:avLst/>
          </a:prstGeom>
          <a:noFill/>
        </p:spPr>
        <p:txBody>
          <a:bodyPr wrap="square" lIns="0" rIns="0" tIns="0" bIns="0" anchor="t">
            <a:spAutoFit/>
          </a:bodyPr>
          <a:lstStyle/>
          <a:p>
            <a:pPr algn="l"/>
            <a:r>
              <a:rPr sz="1100" b="1">
                <a:solidFill>
                  <a:srgbClr val="1F3864"/>
                </a:solidFill>
                <a:latin typeface="Calibri"/>
                <a:ea typeface="Calibri"/>
                <a:cs typeface="Calibri"/>
              </a:rPr>
              <a:t>Result (7 of 7 rows, report/table_q5.csv)</a:t>
            </a:r>
          </a:p>
        </p:txBody>
      </p:sp>
      <p:graphicFrame>
        <p:nvGraphicFramePr>
          <p:cNvPr id="6" name="Table 5"/>
          <p:cNvGraphicFramePr>
            <a:graphicFrameLocks noGrp="1"/>
          </p:cNvGraphicFramePr>
          <p:nvPr/>
        </p:nvGraphicFramePr>
        <p:xfrm>
          <a:off x="5212080" y="1344168"/>
          <a:ext cx="3474717" cy="2414016"/>
        </p:xfrm>
        <a:graphic>
          <a:graphicData uri="http://schemas.openxmlformats.org/drawingml/2006/table">
            <a:tbl>
              <a:tblPr firstRow="0" bandRow="0">
                <a:tableStyleId>{5C22544A-7EE6-4342-B048-85BDC9FD1C3A}</a:tableStyleId>
              </a:tblPr>
              <a:tblGrid>
                <a:gridCol w="1463039"/>
                <a:gridCol w="1005839"/>
                <a:gridCol w="1005839"/>
              </a:tblGrid>
              <a:tr h="301752">
                <a:tc>
                  <a:txBody>
                    <a:bodyPr wrap="square"/>
                    <a:lstStyle/>
                    <a:p>
                      <a:pPr algn="ctr"/>
                      <a:r>
                        <a:rPr sz="1100" b="1">
                          <a:solidFill>
                            <a:srgbClr val="FFFFFF"/>
                          </a:solidFill>
                          <a:latin typeface="Calibri"/>
                          <a:ea typeface="Calibri"/>
                          <a:cs typeface="Calibri"/>
                        </a:rPr>
                        <a:t>day_type</a:t>
                      </a:r>
                    </a:p>
                  </a:txBody>
                  <a:tcPr marL="54864" marR="54864" marT="22860" marB="22860" anchor="ctr">
                    <a:solidFill>
                      <a:srgbClr val="1F3864"/>
                    </a:solidFill>
                  </a:tcPr>
                </a:tc>
                <a:tc>
                  <a:txBody>
                    <a:bodyPr wrap="square"/>
                    <a:lstStyle/>
                    <a:p>
                      <a:pPr algn="ctr"/>
                      <a:r>
                        <a:rPr sz="1100" b="1">
                          <a:solidFill>
                            <a:srgbClr val="FFFFFF"/>
                          </a:solidFill>
                          <a:latin typeface="Calibri"/>
                          <a:ea typeface="Calibri"/>
                          <a:cs typeface="Calibri"/>
                        </a:rPr>
                        <a:t>cell-hours</a:t>
                      </a:r>
                    </a:p>
                  </a:txBody>
                  <a:tcPr marL="54864" marR="54864" marT="22860" marB="22860" anchor="ctr">
                    <a:solidFill>
                      <a:srgbClr val="1F3864"/>
                    </a:solidFill>
                  </a:tcPr>
                </a:tc>
                <a:tc>
                  <a:txBody>
                    <a:bodyPr wrap="square"/>
                    <a:lstStyle/>
                    <a:p>
                      <a:pPr algn="ctr"/>
                      <a:r>
                        <a:rPr sz="1100" b="1">
                          <a:solidFill>
                            <a:srgbClr val="FFFFFF"/>
                          </a:solidFill>
                          <a:latin typeface="Calibri"/>
                          <a:ea typeface="Calibri"/>
                          <a:cs typeface="Calibri"/>
                        </a:rPr>
                        <a:t>last wk / today</a:t>
                      </a:r>
                    </a:p>
                  </a:txBody>
                  <a:tcPr marL="54864" marR="54864" marT="22860" marB="22860" anchor="ctr">
                    <a:solidFill>
                      <a:srgbClr val="1F3864"/>
                    </a:solidFill>
                  </a:tcPr>
                </a:tc>
              </a:tr>
              <a:tr h="301752">
                <a:tc>
                  <a:txBody>
                    <a:bodyPr wrap="square"/>
                    <a:lstStyle/>
                    <a:p>
                      <a:pPr algn="l"/>
                      <a:r>
                        <a:rPr sz="1100" b="0">
                          <a:solidFill>
                            <a:srgbClr val="2C2C2C"/>
                          </a:solidFill>
                          <a:latin typeface="Calibri"/>
                          <a:ea typeface="Calibri"/>
                          <a:cs typeface="Calibri"/>
                        </a:rPr>
                        <a:t>week after holiday</a:t>
                      </a:r>
                    </a:p>
                  </a:txBody>
                  <a:tcPr marL="54864" marR="54864" marT="22860" marB="22860" anchor="ctr">
                    <a:solidFill>
                      <a:srgbClr val="EEF2FF"/>
                    </a:solidFill>
                  </a:tcPr>
                </a:tc>
                <a:tc>
                  <a:txBody>
                    <a:bodyPr wrap="square"/>
                    <a:lstStyle/>
                    <a:p>
                      <a:pPr algn="r"/>
                      <a:r>
                        <a:rPr sz="1100" b="0">
                          <a:solidFill>
                            <a:srgbClr val="2C2C2C"/>
                          </a:solidFill>
                          <a:latin typeface="Calibri"/>
                          <a:ea typeface="Calibri"/>
                          <a:cs typeface="Calibri"/>
                        </a:rPr>
                        <a:t>170,404</a:t>
                      </a:r>
                    </a:p>
                  </a:txBody>
                  <a:tcPr marL="54864" marR="54864" marT="22860" marB="22860" anchor="ctr">
                    <a:solidFill>
                      <a:srgbClr val="EEF2FF"/>
                    </a:solidFill>
                  </a:tcPr>
                </a:tc>
                <a:tc>
                  <a:txBody>
                    <a:bodyPr wrap="square"/>
                    <a:lstStyle/>
                    <a:p>
                      <a:pPr algn="r"/>
                      <a:r>
                        <a:rPr sz="1100" b="1">
                          <a:solidFill>
                            <a:srgbClr val="2C2C2C"/>
                          </a:solidFill>
                          <a:latin typeface="Calibri"/>
                          <a:ea typeface="Calibri"/>
                          <a:cs typeface="Calibri"/>
                        </a:rPr>
                        <a:t>0.764</a:t>
                      </a:r>
                    </a:p>
                  </a:txBody>
                  <a:tcPr marL="54864" marR="54864" marT="22860" marB="22860" anchor="ctr">
                    <a:solidFill>
                      <a:srgbClr val="EEF2FF"/>
                    </a:solidFill>
                  </a:tcPr>
                </a:tc>
              </a:tr>
              <a:tr h="301752">
                <a:tc>
                  <a:txBody>
                    <a:bodyPr wrap="square"/>
                    <a:lstStyle/>
                    <a:p>
                      <a:pPr algn="l"/>
                      <a:r>
                        <a:rPr sz="1100" b="0">
                          <a:solidFill>
                            <a:srgbClr val="2C2C2C"/>
                          </a:solidFill>
                          <a:latin typeface="Calibri"/>
                          <a:ea typeface="Calibri"/>
                          <a:cs typeface="Calibri"/>
                        </a:rPr>
                        <a:t>weekend</a:t>
                      </a:r>
                    </a:p>
                  </a:txBody>
                  <a:tcPr marL="54864" marR="54864" marT="22860" marB="22860" anchor="ctr">
                    <a:solidFill>
                      <a:srgbClr val="FFFFFF"/>
                    </a:solidFill>
                  </a:tcPr>
                </a:tc>
                <a:tc>
                  <a:txBody>
                    <a:bodyPr wrap="square"/>
                    <a:lstStyle/>
                    <a:p>
                      <a:pPr algn="r"/>
                      <a:r>
                        <a:rPr sz="1100" b="0">
                          <a:solidFill>
                            <a:srgbClr val="2C2C2C"/>
                          </a:solidFill>
                          <a:latin typeface="Calibri"/>
                          <a:ea typeface="Calibri"/>
                          <a:cs typeface="Calibri"/>
                        </a:rPr>
                        <a:t>894,013</a:t>
                      </a:r>
                    </a:p>
                  </a:txBody>
                  <a:tcPr marL="54864" marR="54864" marT="22860" marB="22860" anchor="ctr">
                    <a:solidFill>
                      <a:srgbClr val="FFFFFF"/>
                    </a:solidFill>
                  </a:tcPr>
                </a:tc>
                <a:tc>
                  <a:txBody>
                    <a:bodyPr wrap="square"/>
                    <a:lstStyle/>
                    <a:p>
                      <a:pPr algn="r"/>
                      <a:r>
                        <a:rPr sz="1100" b="0">
                          <a:solidFill>
                            <a:srgbClr val="2C2C2C"/>
                          </a:solidFill>
                          <a:latin typeface="Calibri"/>
                          <a:ea typeface="Calibri"/>
                          <a:cs typeface="Calibri"/>
                        </a:rPr>
                        <a:t>0.992</a:t>
                      </a:r>
                    </a:p>
                  </a:txBody>
                  <a:tcPr marL="54864" marR="54864" marT="22860" marB="22860" anchor="ctr">
                    <a:solidFill>
                      <a:srgbClr val="FFFFFF"/>
                    </a:solidFill>
                  </a:tcPr>
                </a:tc>
              </a:tr>
              <a:tr h="301752">
                <a:tc>
                  <a:txBody>
                    <a:bodyPr wrap="square"/>
                    <a:lstStyle/>
                    <a:p>
                      <a:pPr algn="l"/>
                      <a:r>
                        <a:rPr sz="1100" b="0">
                          <a:solidFill>
                            <a:srgbClr val="2C2C2C"/>
                          </a:solidFill>
                          <a:latin typeface="Calibri"/>
                          <a:ea typeface="Calibri"/>
                          <a:cs typeface="Calibri"/>
                        </a:rPr>
                        <a:t>weekday</a:t>
                      </a:r>
                    </a:p>
                  </a:txBody>
                  <a:tcPr marL="54864" marR="54864" marT="22860" marB="22860" anchor="ctr">
                    <a:solidFill>
                      <a:srgbClr val="EEF2FF"/>
                    </a:solidFill>
                  </a:tcPr>
                </a:tc>
                <a:tc>
                  <a:txBody>
                    <a:bodyPr wrap="square"/>
                    <a:lstStyle/>
                    <a:p>
                      <a:pPr algn="r"/>
                      <a:r>
                        <a:rPr sz="1100" b="0">
                          <a:solidFill>
                            <a:srgbClr val="2C2C2C"/>
                          </a:solidFill>
                          <a:latin typeface="Calibri"/>
                          <a:ea typeface="Calibri"/>
                          <a:cs typeface="Calibri"/>
                        </a:rPr>
                        <a:t>2,216,710</a:t>
                      </a:r>
                    </a:p>
                  </a:txBody>
                  <a:tcPr marL="54864" marR="54864" marT="22860" marB="22860" anchor="ctr">
                    <a:solidFill>
                      <a:srgbClr val="EEF2FF"/>
                    </a:solidFill>
                  </a:tcPr>
                </a:tc>
                <a:tc>
                  <a:txBody>
                    <a:bodyPr wrap="square"/>
                    <a:lstStyle/>
                    <a:p>
                      <a:pPr algn="r"/>
                      <a:r>
                        <a:rPr sz="1100" b="0">
                          <a:solidFill>
                            <a:srgbClr val="2C2C2C"/>
                          </a:solidFill>
                          <a:latin typeface="Calibri"/>
                          <a:ea typeface="Calibri"/>
                          <a:cs typeface="Calibri"/>
                        </a:rPr>
                        <a:t>1.001</a:t>
                      </a:r>
                    </a:p>
                  </a:txBody>
                  <a:tcPr marL="54864" marR="54864" marT="22860" marB="22860" anchor="ctr">
                    <a:solidFill>
                      <a:srgbClr val="EEF2FF"/>
                    </a:solidFill>
                  </a:tcPr>
                </a:tc>
              </a:tr>
              <a:tr h="301752">
                <a:tc>
                  <a:txBody>
                    <a:bodyPr wrap="square"/>
                    <a:lstStyle/>
                    <a:p>
                      <a:pPr algn="l"/>
                      <a:r>
                        <a:rPr sz="1100" b="0">
                          <a:solidFill>
                            <a:srgbClr val="2C2C2C"/>
                          </a:solidFill>
                          <a:latin typeface="Calibri"/>
                          <a:ea typeface="Calibri"/>
                          <a:cs typeface="Calibri"/>
                        </a:rPr>
                        <a:t>special event</a:t>
                      </a:r>
                    </a:p>
                  </a:txBody>
                  <a:tcPr marL="54864" marR="54864" marT="22860" marB="22860" anchor="ctr">
                    <a:solidFill>
                      <a:srgbClr val="FFFFFF"/>
                    </a:solidFill>
                  </a:tcPr>
                </a:tc>
                <a:tc>
                  <a:txBody>
                    <a:bodyPr wrap="square"/>
                    <a:lstStyle/>
                    <a:p>
                      <a:pPr algn="r"/>
                      <a:r>
                        <a:rPr sz="1100" b="0">
                          <a:solidFill>
                            <a:srgbClr val="2C2C2C"/>
                          </a:solidFill>
                          <a:latin typeface="Calibri"/>
                          <a:ea typeface="Calibri"/>
                          <a:cs typeface="Calibri"/>
                        </a:rPr>
                        <a:t>51,157</a:t>
                      </a:r>
                    </a:p>
                  </a:txBody>
                  <a:tcPr marL="54864" marR="54864" marT="22860" marB="22860" anchor="ctr">
                    <a:solidFill>
                      <a:srgbClr val="FFFFFF"/>
                    </a:solidFill>
                  </a:tcPr>
                </a:tc>
                <a:tc>
                  <a:txBody>
                    <a:bodyPr wrap="square"/>
                    <a:lstStyle/>
                    <a:p>
                      <a:pPr algn="r"/>
                      <a:r>
                        <a:rPr sz="1100" b="0">
                          <a:solidFill>
                            <a:srgbClr val="2C2C2C"/>
                          </a:solidFill>
                          <a:latin typeface="Calibri"/>
                          <a:ea typeface="Calibri"/>
                          <a:cs typeface="Calibri"/>
                        </a:rPr>
                        <a:t>1.081</a:t>
                      </a:r>
                    </a:p>
                  </a:txBody>
                  <a:tcPr marL="54864" marR="54864" marT="22860" marB="22860" anchor="ctr">
                    <a:solidFill>
                      <a:srgbClr val="FFFFFF"/>
                    </a:solidFill>
                  </a:tcPr>
                </a:tc>
              </a:tr>
              <a:tr h="301752">
                <a:tc>
                  <a:txBody>
                    <a:bodyPr wrap="square"/>
                    <a:lstStyle/>
                    <a:p>
                      <a:pPr algn="l"/>
                      <a:r>
                        <a:rPr sz="1100" b="0">
                          <a:solidFill>
                            <a:srgbClr val="2C2C2C"/>
                          </a:solidFill>
                          <a:latin typeface="Calibri"/>
                          <a:ea typeface="Calibri"/>
                          <a:cs typeface="Calibri"/>
                        </a:rPr>
                        <a:t>arife</a:t>
                      </a:r>
                    </a:p>
                  </a:txBody>
                  <a:tcPr marL="54864" marR="54864" marT="22860" marB="22860" anchor="ctr">
                    <a:solidFill>
                      <a:srgbClr val="EEF2FF"/>
                    </a:solidFill>
                  </a:tcPr>
                </a:tc>
                <a:tc>
                  <a:txBody>
                    <a:bodyPr wrap="square"/>
                    <a:lstStyle/>
                    <a:p>
                      <a:pPr algn="r"/>
                      <a:r>
                        <a:rPr sz="1100" b="0">
                          <a:solidFill>
                            <a:srgbClr val="2C2C2C"/>
                          </a:solidFill>
                          <a:latin typeface="Calibri"/>
                          <a:ea typeface="Calibri"/>
                          <a:cs typeface="Calibri"/>
                        </a:rPr>
                        <a:t>27,150</a:t>
                      </a:r>
                    </a:p>
                  </a:txBody>
                  <a:tcPr marL="54864" marR="54864" marT="22860" marB="22860" anchor="ctr">
                    <a:solidFill>
                      <a:srgbClr val="EEF2FF"/>
                    </a:solidFill>
                  </a:tcPr>
                </a:tc>
                <a:tc>
                  <a:txBody>
                    <a:bodyPr wrap="square"/>
                    <a:lstStyle/>
                    <a:p>
                      <a:pPr algn="r"/>
                      <a:r>
                        <a:rPr sz="1100" b="0">
                          <a:solidFill>
                            <a:srgbClr val="2C2C2C"/>
                          </a:solidFill>
                          <a:latin typeface="Calibri"/>
                          <a:ea typeface="Calibri"/>
                          <a:cs typeface="Calibri"/>
                        </a:rPr>
                        <a:t>1.220</a:t>
                      </a:r>
                    </a:p>
                  </a:txBody>
                  <a:tcPr marL="54864" marR="54864" marT="22860" marB="22860" anchor="ctr">
                    <a:solidFill>
                      <a:srgbClr val="EEF2FF"/>
                    </a:solidFill>
                  </a:tcPr>
                </a:tc>
              </a:tr>
              <a:tr h="301752">
                <a:tc>
                  <a:txBody>
                    <a:bodyPr wrap="square"/>
                    <a:lstStyle/>
                    <a:p>
                      <a:pPr algn="l"/>
                      <a:r>
                        <a:rPr sz="1100" b="0">
                          <a:solidFill>
                            <a:srgbClr val="2C2C2C"/>
                          </a:solidFill>
                          <a:latin typeface="Calibri"/>
                          <a:ea typeface="Calibri"/>
                          <a:cs typeface="Calibri"/>
                        </a:rPr>
                        <a:t>admin leave</a:t>
                      </a:r>
                    </a:p>
                  </a:txBody>
                  <a:tcPr marL="54864" marR="54864" marT="22860" marB="22860" anchor="ctr">
                    <a:solidFill>
                      <a:srgbClr val="FFFFFF"/>
                    </a:solidFill>
                  </a:tcPr>
                </a:tc>
                <a:tc>
                  <a:txBody>
                    <a:bodyPr wrap="square"/>
                    <a:lstStyle/>
                    <a:p>
                      <a:pPr algn="r"/>
                      <a:r>
                        <a:rPr sz="1100" b="0">
                          <a:solidFill>
                            <a:srgbClr val="2C2C2C"/>
                          </a:solidFill>
                          <a:latin typeface="Calibri"/>
                          <a:ea typeface="Calibri"/>
                          <a:cs typeface="Calibri"/>
                        </a:rPr>
                        <a:t>7,200</a:t>
                      </a:r>
                    </a:p>
                  </a:txBody>
                  <a:tcPr marL="54864" marR="54864" marT="22860" marB="22860" anchor="ctr">
                    <a:solidFill>
                      <a:srgbClr val="FFFFFF"/>
                    </a:solidFill>
                  </a:tcPr>
                </a:tc>
                <a:tc>
                  <a:txBody>
                    <a:bodyPr wrap="square"/>
                    <a:lstStyle/>
                    <a:p>
                      <a:pPr algn="r"/>
                      <a:r>
                        <a:rPr sz="1100" b="0">
                          <a:solidFill>
                            <a:srgbClr val="2C2C2C"/>
                          </a:solidFill>
                          <a:latin typeface="Calibri"/>
                          <a:ea typeface="Calibri"/>
                          <a:cs typeface="Calibri"/>
                        </a:rPr>
                        <a:t>1.347</a:t>
                      </a:r>
                    </a:p>
                  </a:txBody>
                  <a:tcPr marL="54864" marR="54864" marT="22860" marB="22860" anchor="ctr">
                    <a:solidFill>
                      <a:srgbClr val="FFFFFF"/>
                    </a:solidFill>
                  </a:tcPr>
                </a:tc>
              </a:tr>
              <a:tr h="301752">
                <a:tc>
                  <a:txBody>
                    <a:bodyPr wrap="square"/>
                    <a:lstStyle/>
                    <a:p>
                      <a:pPr algn="l"/>
                      <a:r>
                        <a:rPr sz="1100" b="0">
                          <a:solidFill>
                            <a:srgbClr val="2C2C2C"/>
                          </a:solidFill>
                          <a:latin typeface="Calibri"/>
                          <a:ea typeface="Calibri"/>
                          <a:cs typeface="Calibri"/>
                        </a:rPr>
                        <a:t>holiday</a:t>
                      </a:r>
                    </a:p>
                  </a:txBody>
                  <a:tcPr marL="54864" marR="54864" marT="22860" marB="22860" anchor="ctr">
                    <a:solidFill>
                      <a:srgbClr val="EEF2FF"/>
                    </a:solidFill>
                  </a:tcPr>
                </a:tc>
                <a:tc>
                  <a:txBody>
                    <a:bodyPr wrap="square"/>
                    <a:lstStyle/>
                    <a:p>
                      <a:pPr algn="r"/>
                      <a:r>
                        <a:rPr sz="1100" b="0">
                          <a:solidFill>
                            <a:srgbClr val="2C2C2C"/>
                          </a:solidFill>
                          <a:latin typeface="Calibri"/>
                          <a:ea typeface="Calibri"/>
                          <a:cs typeface="Calibri"/>
                        </a:rPr>
                        <a:t>138,000</a:t>
                      </a:r>
                    </a:p>
                  </a:txBody>
                  <a:tcPr marL="54864" marR="54864" marT="22860" marB="22860" anchor="ctr">
                    <a:solidFill>
                      <a:srgbClr val="EEF2FF"/>
                    </a:solidFill>
                  </a:tcPr>
                </a:tc>
                <a:tc>
                  <a:txBody>
                    <a:bodyPr wrap="square"/>
                    <a:lstStyle/>
                    <a:p>
                      <a:pPr algn="r"/>
                      <a:r>
                        <a:rPr sz="1100" b="1">
                          <a:solidFill>
                            <a:srgbClr val="2C2C2C"/>
                          </a:solidFill>
                          <a:latin typeface="Calibri"/>
                          <a:ea typeface="Calibri"/>
                          <a:cs typeface="Calibri"/>
                        </a:rPr>
                        <a:t>1.428</a:t>
                      </a:r>
                    </a:p>
                  </a:txBody>
                  <a:tcPr marL="54864" marR="54864" marT="22860" marB="22860" anchor="ctr">
                    <a:solidFill>
                      <a:srgbClr val="EEF2FF"/>
                    </a:solidFill>
                  </a:tcPr>
                </a:tc>
              </a:tr>
            </a:tbl>
          </a:graphicData>
        </a:graphic>
      </p:graphicFrame>
      <p:sp>
        <p:nvSpPr>
          <p:cNvPr id="7" name="Insight"/>
          <p:cNvSpPr txBox="1"/>
          <p:nvPr/>
        </p:nvSpPr>
        <p:spPr>
          <a:xfrm>
            <a:off x="457200" y="4297680"/>
            <a:ext cx="8229600" cy="640080"/>
          </a:xfrm>
          <a:prstGeom prst="rect">
            <a:avLst/>
          </a:prstGeom>
          <a:solidFill>
            <a:srgbClr val="EEF2FF"/>
          </a:solidFill>
        </p:spPr>
        <p:txBody>
          <a:bodyPr wrap="square" lIns="73152" rIns="73152" tIns="73152" bIns="73152" anchor="ctr">
            <a:spAutoFit/>
          </a:bodyPr>
          <a:lstStyle/>
          <a:p>
            <a:pPr algn="l"/>
            <a:r>
              <a:rPr sz="1200" b="1">
                <a:solidFill>
                  <a:srgbClr val="1F3864"/>
                </a:solidFill>
                <a:latin typeface="Calibri"/>
                <a:ea typeface="Calibri"/>
                <a:cs typeface="Calibri"/>
              </a:rPr>
              <a:t>Insight: </a:t>
            </a:r>
            <a:r>
              <a:rPr sz="1200" b="0">
                <a:solidFill>
                  <a:srgbClr val="2C2C2C"/>
                </a:solidFill>
                <a:latin typeface="Calibri"/>
                <a:ea typeface="Calibri"/>
                <a:cs typeface="Calibri"/>
              </a:rPr>
              <a:t>last week's count is 1.43× today on holidays and 0.76× in the week after a holiday, but 1.00 on weekdays. The "same hour last week" feature is biased exactly when last week was a holiday: we call this the holiday echo. (RQ1 → RQ3)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ox2"/>
          <p:cNvSpPr/>
          <p:nvPr/>
        </p:nvSpPr>
        <p:spPr>
          <a:xfrm>
            <a:off x="0" y="0"/>
            <a:ext cx="9144000" cy="5143500"/>
          </a:xfrm>
          <a:prstGeom prst="rect">
            <a:avLst/>
          </a:prstGeom>
          <a:solidFill>
            <a:srgbClr val="065F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ox3"/>
          <p:cNvSpPr/>
          <p:nvPr/>
        </p:nvSpPr>
        <p:spPr>
          <a:xfrm>
            <a:off x="0" y="1197864"/>
            <a:ext cx="9144000" cy="5029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ea typeface="Calibri"/>
                <a:cs typeface="Calibri"/>
              </a:rPr>
              <a:t>PART 2</a:t>
            </a:r>
          </a:p>
        </p:txBody>
      </p:sp>
      <p:sp>
        <p:nvSpPr>
          <p:cNvPr id="4" name="Box4"/>
          <p:cNvSpPr/>
          <p:nvPr/>
        </p:nvSpPr>
        <p:spPr>
          <a:xfrm>
            <a:off x="402336" y="1783080"/>
            <a:ext cx="8348472" cy="89611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3200" b="1">
                <a:solidFill>
                  <a:srgbClr val="FFFFFF"/>
                </a:solidFill>
                <a:latin typeface="Calibri"/>
                <a:ea typeface="Calibri"/>
                <a:cs typeface="Calibri"/>
              </a:rPr>
              <a:t>Analysis &amp; Visualization  (RQ1)</a:t>
            </a:r>
          </a:p>
        </p:txBody>
      </p:sp>
      <p:sp>
        <p:nvSpPr>
          <p:cNvPr id="5" name="Box10"/>
          <p:cNvSpPr/>
          <p:nvPr/>
        </p:nvSpPr>
        <p:spPr>
          <a:xfrm>
            <a:off x="246888" y="2898648"/>
            <a:ext cx="2846832" cy="4480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0">
                <a:solidFill>
                  <a:srgbClr val="1F3864"/>
                </a:solidFill>
                <a:latin typeface="Calibri"/>
                <a:ea typeface="Calibri"/>
                <a:cs typeface="Calibri"/>
              </a:rPr>
              <a:t>Study pipeline</a:t>
            </a:r>
          </a:p>
        </p:txBody>
      </p:sp>
      <p:sp>
        <p:nvSpPr>
          <p:cNvPr id="6" name="Box11"/>
          <p:cNvSpPr/>
          <p:nvPr/>
        </p:nvSpPr>
        <p:spPr>
          <a:xfrm>
            <a:off x="3148584" y="2898648"/>
            <a:ext cx="2846832" cy="4480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0">
                <a:solidFill>
                  <a:srgbClr val="1F3864"/>
                </a:solidFill>
                <a:latin typeface="Calibri"/>
                <a:ea typeface="Calibri"/>
                <a:cs typeface="Calibri"/>
              </a:rPr>
              <a:t>Weekly rhythm by hour</a:t>
            </a:r>
          </a:p>
        </p:txBody>
      </p:sp>
      <p:sp>
        <p:nvSpPr>
          <p:cNvPr id="7" name="Box12"/>
          <p:cNvSpPr/>
          <p:nvPr/>
        </p:nvSpPr>
        <p:spPr>
          <a:xfrm>
            <a:off x="6050280" y="2898648"/>
            <a:ext cx="2846832" cy="4480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0">
                <a:solidFill>
                  <a:srgbClr val="1F3864"/>
                </a:solidFill>
                <a:latin typeface="Calibri"/>
                <a:ea typeface="Calibri"/>
                <a:cs typeface="Calibri"/>
              </a:rPr>
              <a:t>Holidays by month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d"/>
          <p:cNvSpPr txBox="1"/>
          <p:nvPr/>
        </p:nvSpPr>
        <p:spPr>
          <a:xfrm>
            <a:off x="457200" y="182880"/>
            <a:ext cx="8229600" cy="777240"/>
          </a:xfrm>
          <a:prstGeom prst="rect">
            <a:avLst/>
          </a:prstGeom>
          <a:noFill/>
        </p:spPr>
        <p:txBody>
          <a:bodyPr wrap="square" lIns="0" rIns="0" tIns="0" bIns="0" anchor="ctr">
            <a:spAutoFit/>
          </a:bodyPr>
          <a:lstStyle/>
          <a:p>
            <a:pPr algn="l"/>
            <a:r>
              <a:rPr sz="2800" b="1">
                <a:solidFill>
                  <a:srgbClr val="1F3864"/>
                </a:solidFill>
                <a:latin typeface="Calibri"/>
                <a:ea typeface="Calibri"/>
                <a:cs typeface="Calibri"/>
              </a:rPr>
              <a:t>#5 Study Pipeline</a:t>
            </a:r>
          </a:p>
        </p:txBody>
      </p:sp>
      <p:cxnSp>
        <p:nvCxnSpPr>
          <p:cNvPr id="3" name="Div"/>
          <p:cNvCxnSpPr/>
          <p:nvPr/>
        </p:nvCxnSpPr>
        <p:spPr>
          <a:xfrm>
            <a:off x="457200" y="960120"/>
            <a:ext cx="8229600" cy="0"/>
          </a:xfrm>
          <a:prstGeom prst="line">
            <a:avLst/>
          </a:prstGeom>
          <a:ln w="19050">
            <a:solidFill>
              <a:srgbClr val="4472C4"/>
            </a:solidFill>
          </a:ln>
        </p:spPr>
        <p:style>
          <a:lnRef idx="2">
            <a:schemeClr val="accent1"/>
          </a:lnRef>
          <a:fillRef idx="0">
            <a:schemeClr val="accent1"/>
          </a:fillRef>
          <a:effectRef idx="1">
            <a:schemeClr val="accent1"/>
          </a:effectRef>
          <a:fontRef idx="minor">
            <a:schemeClr val="tx1"/>
          </a:fontRef>
        </p:style>
      </p:cxnSp>
      <p:pic>
        <p:nvPicPr>
          <p:cNvPr id="4" name="Picture 3" descr="fig_pipeline.png"/>
          <p:cNvPicPr>
            <a:picLocks noChangeAspect="1"/>
          </p:cNvPicPr>
          <p:nvPr/>
        </p:nvPicPr>
        <p:blipFill>
          <a:blip r:embed="rId2"/>
          <a:stretch>
            <a:fillRect/>
          </a:stretch>
        </p:blipFill>
        <p:spPr>
          <a:xfrm>
            <a:off x="457200" y="1103962"/>
            <a:ext cx="8229600" cy="2684115"/>
          </a:xfrm>
          <a:prstGeom prst="rect">
            <a:avLst/>
          </a:prstGeom>
          <a:ln w="6350">
            <a:solidFill>
              <a:srgbClr val="D9D9D9"/>
            </a:solidFill>
          </a:ln>
        </p:spPr>
      </p:pic>
      <p:sp>
        <p:nvSpPr>
          <p:cNvPr id="5" name="Caption"/>
          <p:cNvSpPr txBox="1"/>
          <p:nvPr/>
        </p:nvSpPr>
        <p:spPr>
          <a:xfrm>
            <a:off x="457200" y="3840480"/>
            <a:ext cx="8229600" cy="201168"/>
          </a:xfrm>
          <a:prstGeom prst="rect">
            <a:avLst/>
          </a:prstGeom>
          <a:noFill/>
        </p:spPr>
        <p:txBody>
          <a:bodyPr wrap="square" lIns="0" rIns="0" tIns="0" bIns="0" anchor="t">
            <a:spAutoFit/>
          </a:bodyPr>
          <a:lstStyle/>
          <a:p>
            <a:pPr algn="l"/>
            <a:r>
              <a:rPr sz="1000" b="0">
                <a:solidFill>
                  <a:srgbClr val="64748B"/>
                </a:solidFill>
                <a:latin typeface="Calibri"/>
                <a:ea typeface="Calibri"/>
                <a:cs typeface="Calibri"/>
              </a:rPr>
              <a:t>Fig. 1 (paper): the open data are reduced to the 150 busiest cells of 2022, placed on a complete hourly grid with a holiday calendar, split in time, and used for three analyses.</a:t>
            </a:r>
          </a:p>
        </p:txBody>
      </p:sp>
      <p:sp>
        <p:nvSpPr>
          <p:cNvPr id="6" name="Rectangle 5"/>
          <p:cNvSpPr/>
          <p:nvPr/>
        </p:nvSpPr>
        <p:spPr>
          <a:xfrm>
            <a:off x="457200" y="4160520"/>
            <a:ext cx="2651760" cy="777240"/>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4215383"/>
            <a:ext cx="2468879" cy="667512"/>
          </a:xfrm>
          <a:prstGeom prst="rect">
            <a:avLst/>
          </a:prstGeom>
          <a:noFill/>
        </p:spPr>
        <p:txBody>
          <a:bodyPr wrap="square" lIns="36576" rIns="36576" tIns="36576" bIns="36576" anchor="t">
            <a:spAutoFit/>
          </a:bodyPr>
          <a:lstStyle/>
          <a:p>
            <a:pPr algn="l">
              <a:spcAft>
                <a:spcPts val="200"/>
              </a:spcAft>
            </a:pPr>
            <a:r>
              <a:rPr sz="1200" b="1">
                <a:solidFill>
                  <a:srgbClr val="0D9488"/>
                </a:solidFill>
                <a:latin typeface="Calibri"/>
                <a:ea typeface="Calibri"/>
                <a:cs typeface="Calibri"/>
              </a:rPr>
              <a:t>Notebook A</a:t>
            </a:r>
          </a:p>
          <a:p>
            <a:pPr algn="l">
              <a:spcAft>
                <a:spcPts val="200"/>
              </a:spcAft>
            </a:pPr>
            <a:r>
              <a:rPr sz="1100" b="0">
                <a:solidFill>
                  <a:srgbClr val="2C2C2C"/>
                </a:solidFill>
                <a:latin typeface="Calibri"/>
                <a:ea typeface="Calibri"/>
                <a:cs typeface="Calibri"/>
              </a:rPr>
              <a:t>download, clean, calendar, SQL, RQ1</a:t>
            </a:r>
          </a:p>
        </p:txBody>
      </p:sp>
      <p:sp>
        <p:nvSpPr>
          <p:cNvPr id="8" name="Rectangle 7"/>
          <p:cNvSpPr/>
          <p:nvPr/>
        </p:nvSpPr>
        <p:spPr>
          <a:xfrm>
            <a:off x="3246120" y="4160520"/>
            <a:ext cx="2651760" cy="777240"/>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337560" y="4215383"/>
            <a:ext cx="2468879" cy="667512"/>
          </a:xfrm>
          <a:prstGeom prst="rect">
            <a:avLst/>
          </a:prstGeom>
          <a:noFill/>
        </p:spPr>
        <p:txBody>
          <a:bodyPr wrap="square" lIns="36576" rIns="36576" tIns="36576" bIns="36576" anchor="t">
            <a:spAutoFit/>
          </a:bodyPr>
          <a:lstStyle/>
          <a:p>
            <a:pPr algn="l">
              <a:spcAft>
                <a:spcPts val="200"/>
              </a:spcAft>
            </a:pPr>
            <a:r>
              <a:rPr sz="1200" b="1">
                <a:solidFill>
                  <a:srgbClr val="EA580C"/>
                </a:solidFill>
                <a:latin typeface="Calibri"/>
                <a:ea typeface="Calibri"/>
                <a:cs typeface="Calibri"/>
              </a:rPr>
              <a:t>Notebook B</a:t>
            </a:r>
          </a:p>
          <a:p>
            <a:pPr algn="l">
              <a:spcAft>
                <a:spcPts val="200"/>
              </a:spcAft>
            </a:pPr>
            <a:r>
              <a:rPr sz="1100" b="0">
                <a:solidFill>
                  <a:srgbClr val="2C2C2C"/>
                </a:solidFill>
                <a:latin typeface="Calibri"/>
                <a:ea typeface="Calibri"/>
                <a:cs typeface="Calibri"/>
              </a:rPr>
              <a:t>8 folds, 4 models, RQ2 and RQ3</a:t>
            </a:r>
          </a:p>
        </p:txBody>
      </p:sp>
      <p:sp>
        <p:nvSpPr>
          <p:cNvPr id="10" name="Rectangle 9"/>
          <p:cNvSpPr/>
          <p:nvPr/>
        </p:nvSpPr>
        <p:spPr>
          <a:xfrm>
            <a:off x="6035040" y="4160520"/>
            <a:ext cx="2651760" cy="777240"/>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126479" y="4215383"/>
            <a:ext cx="2468879" cy="667512"/>
          </a:xfrm>
          <a:prstGeom prst="rect">
            <a:avLst/>
          </a:prstGeom>
          <a:noFill/>
        </p:spPr>
        <p:txBody>
          <a:bodyPr wrap="square" lIns="36576" rIns="36576" tIns="36576" bIns="36576" anchor="t">
            <a:spAutoFit/>
          </a:bodyPr>
          <a:lstStyle/>
          <a:p>
            <a:pPr algn="l">
              <a:spcAft>
                <a:spcPts val="200"/>
              </a:spcAft>
            </a:pPr>
            <a:r>
              <a:rPr sz="1200" b="1">
                <a:solidFill>
                  <a:srgbClr val="7C3AED"/>
                </a:solidFill>
                <a:latin typeface="Calibri"/>
                <a:ea typeface="Calibri"/>
                <a:cs typeface="Calibri"/>
              </a:rPr>
              <a:t>Hand-over check</a:t>
            </a:r>
          </a:p>
          <a:p>
            <a:pPr algn="l">
              <a:spcAft>
                <a:spcPts val="200"/>
              </a:spcAft>
            </a:pPr>
            <a:r>
              <a:rPr sz="1100" b="0">
                <a:solidFill>
                  <a:srgbClr val="2C2C2C"/>
                </a:solidFill>
                <a:latin typeface="Calibri"/>
                <a:ea typeface="Calibri"/>
                <a:cs typeface="Calibri"/>
              </a:rPr>
              <a:t>file hashes match: "handover ok"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d"/>
          <p:cNvSpPr txBox="1"/>
          <p:nvPr/>
        </p:nvSpPr>
        <p:spPr>
          <a:xfrm>
            <a:off x="457200" y="182880"/>
            <a:ext cx="8229600" cy="777240"/>
          </a:xfrm>
          <a:prstGeom prst="rect">
            <a:avLst/>
          </a:prstGeom>
          <a:noFill/>
        </p:spPr>
        <p:txBody>
          <a:bodyPr wrap="square" lIns="0" rIns="0" tIns="0" bIns="0" anchor="ctr">
            <a:spAutoFit/>
          </a:bodyPr>
          <a:lstStyle/>
          <a:p>
            <a:pPr algn="l"/>
            <a:r>
              <a:rPr sz="2800" b="1">
                <a:solidFill>
                  <a:srgbClr val="1F3864"/>
                </a:solidFill>
                <a:latin typeface="Calibri"/>
                <a:ea typeface="Calibri"/>
                <a:cs typeface="Calibri"/>
              </a:rPr>
              <a:t>RQ1 — Weekdays share a sharp 06:00 peak</a:t>
            </a:r>
          </a:p>
        </p:txBody>
      </p:sp>
      <p:cxnSp>
        <p:nvCxnSpPr>
          <p:cNvPr id="3" name="Div"/>
          <p:cNvCxnSpPr/>
          <p:nvPr/>
        </p:nvCxnSpPr>
        <p:spPr>
          <a:xfrm>
            <a:off x="457200" y="960120"/>
            <a:ext cx="8229600" cy="0"/>
          </a:xfrm>
          <a:prstGeom prst="line">
            <a:avLst/>
          </a:prstGeom>
          <a:ln w="19050">
            <a:solidFill>
              <a:srgbClr val="4472C4"/>
            </a:solidFill>
          </a:ln>
        </p:spPr>
        <p:style>
          <a:lnRef idx="2">
            <a:schemeClr val="accent1"/>
          </a:lnRef>
          <a:fillRef idx="0">
            <a:schemeClr val="accent1"/>
          </a:fillRef>
          <a:effectRef idx="1">
            <a:schemeClr val="accent1"/>
          </a:effectRef>
          <a:fontRef idx="minor">
            <a:schemeClr val="tx1"/>
          </a:fontRef>
        </p:style>
      </p:cxnSp>
      <p:pic>
        <p:nvPicPr>
          <p:cNvPr id="4" name="Picture 3" descr="fig_rq1_heatmap_hour_dow.png"/>
          <p:cNvPicPr>
            <a:picLocks noChangeAspect="1"/>
          </p:cNvPicPr>
          <p:nvPr/>
        </p:nvPicPr>
        <p:blipFill>
          <a:blip r:embed="rId2"/>
          <a:stretch>
            <a:fillRect/>
          </a:stretch>
        </p:blipFill>
        <p:spPr>
          <a:xfrm>
            <a:off x="947853" y="1097280"/>
            <a:ext cx="7248292" cy="2971800"/>
          </a:xfrm>
          <a:prstGeom prst="rect">
            <a:avLst/>
          </a:prstGeom>
          <a:ln w="6350">
            <a:solidFill>
              <a:srgbClr val="D9D9D9"/>
            </a:solidFill>
          </a:ln>
        </p:spPr>
      </p:pic>
      <p:sp>
        <p:nvSpPr>
          <p:cNvPr id="5" name="Caption"/>
          <p:cNvSpPr txBox="1"/>
          <p:nvPr/>
        </p:nvSpPr>
        <p:spPr>
          <a:xfrm>
            <a:off x="457200" y="4114800"/>
            <a:ext cx="8229600" cy="201168"/>
          </a:xfrm>
          <a:prstGeom prst="rect">
            <a:avLst/>
          </a:prstGeom>
          <a:noFill/>
        </p:spPr>
        <p:txBody>
          <a:bodyPr wrap="square" lIns="0" rIns="0" tIns="0" bIns="0" anchor="t">
            <a:spAutoFit/>
          </a:bodyPr>
          <a:lstStyle/>
          <a:p>
            <a:pPr algn="l"/>
            <a:r>
              <a:rPr sz="1000" b="0">
                <a:solidFill>
                  <a:srgbClr val="64748B"/>
                </a:solidFill>
                <a:latin typeface="Calibri"/>
                <a:ea typeface="Calibri"/>
                <a:cs typeface="Calibri"/>
              </a:rPr>
              <a:t>Fig. 3a (paper): mean vehicles per cell-hour by hour of day and day of week, ordinary days only, 2022–2024 (heatmap).</a:t>
            </a:r>
          </a:p>
        </p:txBody>
      </p:sp>
      <p:sp>
        <p:nvSpPr>
          <p:cNvPr id="6" name="Insight"/>
          <p:cNvSpPr txBox="1"/>
          <p:nvPr/>
        </p:nvSpPr>
        <p:spPr>
          <a:xfrm>
            <a:off x="457200" y="4389120"/>
            <a:ext cx="8229600" cy="548640"/>
          </a:xfrm>
          <a:prstGeom prst="rect">
            <a:avLst/>
          </a:prstGeom>
          <a:solidFill>
            <a:srgbClr val="EEF2FF"/>
          </a:solidFill>
        </p:spPr>
        <p:txBody>
          <a:bodyPr wrap="square" lIns="73152" rIns="73152" tIns="73152" bIns="73152" anchor="ctr">
            <a:spAutoFit/>
          </a:bodyPr>
          <a:lstStyle/>
          <a:p>
            <a:pPr algn="l"/>
            <a:r>
              <a:rPr sz="1200" b="1">
                <a:solidFill>
                  <a:srgbClr val="1F3864"/>
                </a:solidFill>
                <a:latin typeface="Calibri"/>
                <a:ea typeface="Calibri"/>
                <a:cs typeface="Calibri"/>
              </a:rPr>
              <a:t>Insight: </a:t>
            </a:r>
            <a:r>
              <a:rPr sz="1200" b="0">
                <a:solidFill>
                  <a:srgbClr val="2C2C2C"/>
                </a:solidFill>
                <a:latin typeface="Calibri"/>
                <a:ea typeface="Calibri"/>
                <a:cs typeface="Calibri"/>
              </a:rPr>
              <a:t>Monday to Friday peak at 06:00 (599–620 vehicles per cell-hour); Saturday peaks later and lower (472 at 08:00) and Sunday never passes 313. The weekly rhythm is strong, so "same hour last week" is a natural input. (RQ1)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d"/>
          <p:cNvSpPr txBox="1"/>
          <p:nvPr/>
        </p:nvSpPr>
        <p:spPr>
          <a:xfrm>
            <a:off x="457200" y="182880"/>
            <a:ext cx="8229600" cy="777240"/>
          </a:xfrm>
          <a:prstGeom prst="rect">
            <a:avLst/>
          </a:prstGeom>
          <a:noFill/>
        </p:spPr>
        <p:txBody>
          <a:bodyPr wrap="square" lIns="0" rIns="0" tIns="0" bIns="0" anchor="ctr">
            <a:spAutoFit/>
          </a:bodyPr>
          <a:lstStyle/>
          <a:p>
            <a:pPr algn="l"/>
            <a:r>
              <a:rPr sz="2800" b="1">
                <a:solidFill>
                  <a:srgbClr val="1F3864"/>
                </a:solidFill>
                <a:latin typeface="Calibri"/>
                <a:ea typeface="Calibri"/>
                <a:cs typeface="Calibri"/>
              </a:rPr>
              <a:t>RQ1 — Holidays break the weekly rhythm</a:t>
            </a:r>
          </a:p>
        </p:txBody>
      </p:sp>
      <p:cxnSp>
        <p:nvCxnSpPr>
          <p:cNvPr id="3" name="Div"/>
          <p:cNvCxnSpPr/>
          <p:nvPr/>
        </p:nvCxnSpPr>
        <p:spPr>
          <a:xfrm>
            <a:off x="457200" y="960120"/>
            <a:ext cx="8229600" cy="0"/>
          </a:xfrm>
          <a:prstGeom prst="line">
            <a:avLst/>
          </a:prstGeom>
          <a:ln w="19050">
            <a:solidFill>
              <a:srgbClr val="4472C4"/>
            </a:solidFill>
          </a:ln>
        </p:spPr>
        <p:style>
          <a:lnRef idx="2">
            <a:schemeClr val="accent1"/>
          </a:lnRef>
          <a:fillRef idx="0">
            <a:schemeClr val="accent1"/>
          </a:fillRef>
          <a:effectRef idx="1">
            <a:schemeClr val="accent1"/>
          </a:effectRef>
          <a:fontRef idx="minor">
            <a:schemeClr val="tx1"/>
          </a:fontRef>
        </p:style>
      </p:cxnSp>
      <p:pic>
        <p:nvPicPr>
          <p:cNvPr id="4" name="Picture 3" descr="fig_rq1_hourly_profile.png"/>
          <p:cNvPicPr>
            <a:picLocks noChangeAspect="1"/>
          </p:cNvPicPr>
          <p:nvPr/>
        </p:nvPicPr>
        <p:blipFill>
          <a:blip r:embed="rId2"/>
          <a:stretch>
            <a:fillRect/>
          </a:stretch>
        </p:blipFill>
        <p:spPr>
          <a:xfrm>
            <a:off x="457200" y="1290499"/>
            <a:ext cx="5394960" cy="2631080"/>
          </a:xfrm>
          <a:prstGeom prst="rect">
            <a:avLst/>
          </a:prstGeom>
          <a:ln w="6350">
            <a:solidFill>
              <a:srgbClr val="D9D9D9"/>
            </a:solidFill>
          </a:ln>
        </p:spPr>
      </p:pic>
      <p:sp>
        <p:nvSpPr>
          <p:cNvPr id="5" name="Caption"/>
          <p:cNvSpPr txBox="1"/>
          <p:nvPr/>
        </p:nvSpPr>
        <p:spPr>
          <a:xfrm>
            <a:off x="457200" y="4206240"/>
            <a:ext cx="5394960" cy="365760"/>
          </a:xfrm>
          <a:prstGeom prst="rect">
            <a:avLst/>
          </a:prstGeom>
          <a:noFill/>
        </p:spPr>
        <p:txBody>
          <a:bodyPr wrap="square" lIns="0" rIns="0" tIns="0" bIns="0" anchor="t">
            <a:spAutoFit/>
          </a:bodyPr>
          <a:lstStyle/>
          <a:p>
            <a:pPr algn="l"/>
            <a:r>
              <a:rPr sz="1000" b="0">
                <a:solidFill>
                  <a:srgbClr val="64748B"/>
                </a:solidFill>
                <a:latin typeface="Calibri"/>
                <a:ea typeface="Calibri"/>
                <a:cs typeface="Calibri"/>
              </a:rPr>
              <a:t>Fig. 3b (paper): mean vehicles per cell-hour by month for four day types (line chart). Months without a holiday are skipped.</a:t>
            </a:r>
          </a:p>
        </p:txBody>
      </p:sp>
      <p:sp>
        <p:nvSpPr>
          <p:cNvPr id="6" name="Rectangle 5"/>
          <p:cNvSpPr/>
          <p:nvPr/>
        </p:nvSpPr>
        <p:spPr>
          <a:xfrm>
            <a:off x="6035040" y="1097280"/>
            <a:ext cx="2651760" cy="1188720"/>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126479" y="1152144"/>
            <a:ext cx="2468879" cy="1078992"/>
          </a:xfrm>
          <a:prstGeom prst="rect">
            <a:avLst/>
          </a:prstGeom>
          <a:noFill/>
        </p:spPr>
        <p:txBody>
          <a:bodyPr wrap="square" lIns="36576" rIns="36576" tIns="36576" bIns="36576" anchor="t">
            <a:spAutoFit/>
          </a:bodyPr>
          <a:lstStyle/>
          <a:p>
            <a:pPr algn="l">
              <a:spcAft>
                <a:spcPts val="200"/>
              </a:spcAft>
            </a:pPr>
            <a:r>
              <a:rPr sz="1250" b="1">
                <a:solidFill>
                  <a:srgbClr val="7C3AED"/>
                </a:solidFill>
                <a:latin typeface="Calibri"/>
                <a:ea typeface="Calibri"/>
                <a:cs typeface="Calibri"/>
              </a:rPr>
              <a:t>Holidays are the quietest</a:t>
            </a:r>
          </a:p>
          <a:p>
            <a:pPr algn="l">
              <a:spcAft>
                <a:spcPts val="200"/>
              </a:spcAft>
            </a:pPr>
            <a:r>
              <a:rPr sz="1150" b="0">
                <a:solidFill>
                  <a:srgbClr val="2C2C2C"/>
                </a:solidFill>
                <a:latin typeface="Calibri"/>
                <a:ea typeface="Calibri"/>
                <a:cs typeface="Calibri"/>
              </a:rPr>
              <a:t>205.7–308.7 vehicles vs 329.7–425.4 on weekdays, in every month that has a holiday</a:t>
            </a:r>
          </a:p>
        </p:txBody>
      </p:sp>
      <p:sp>
        <p:nvSpPr>
          <p:cNvPr id="8" name="Rectangle 7"/>
          <p:cNvSpPr/>
          <p:nvPr/>
        </p:nvSpPr>
        <p:spPr>
          <a:xfrm>
            <a:off x="6035040" y="2395728"/>
            <a:ext cx="2651760" cy="1188720"/>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126479" y="2450592"/>
            <a:ext cx="2468879" cy="1078992"/>
          </a:xfrm>
          <a:prstGeom prst="rect">
            <a:avLst/>
          </a:prstGeom>
          <a:noFill/>
        </p:spPr>
        <p:txBody>
          <a:bodyPr wrap="square" lIns="36576" rIns="36576" tIns="36576" bIns="36576" anchor="t">
            <a:spAutoFit/>
          </a:bodyPr>
          <a:lstStyle/>
          <a:p>
            <a:pPr algn="l">
              <a:spcAft>
                <a:spcPts val="200"/>
              </a:spcAft>
            </a:pPr>
            <a:r>
              <a:rPr sz="1250" b="1">
                <a:solidFill>
                  <a:srgbClr val="EA580C"/>
                </a:solidFill>
                <a:latin typeface="Calibri"/>
                <a:ea typeface="Calibri"/>
                <a:cs typeface="Calibri"/>
              </a:rPr>
              <a:t>The week after is not normal</a:t>
            </a:r>
          </a:p>
          <a:p>
            <a:pPr algn="l">
              <a:spcAft>
                <a:spcPts val="200"/>
              </a:spcAft>
            </a:pPr>
            <a:r>
              <a:rPr sz="1150" b="0">
                <a:solidFill>
                  <a:srgbClr val="2C2C2C"/>
                </a:solidFill>
                <a:latin typeface="Calibri"/>
                <a:ea typeface="Calibri"/>
                <a:cs typeface="Calibri"/>
              </a:rPr>
              <a:t>Busier than a weekday in April (404.4 vs 360.6), June and September</a:t>
            </a:r>
          </a:p>
        </p:txBody>
      </p:sp>
      <p:sp>
        <p:nvSpPr>
          <p:cNvPr id="10" name="Rectangle 9"/>
          <p:cNvSpPr/>
          <p:nvPr/>
        </p:nvSpPr>
        <p:spPr>
          <a:xfrm>
            <a:off x="6035040" y="3694176"/>
            <a:ext cx="2651760" cy="1188720"/>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126479" y="3749039"/>
            <a:ext cx="2468879" cy="1078992"/>
          </a:xfrm>
          <a:prstGeom prst="rect">
            <a:avLst/>
          </a:prstGeom>
          <a:noFill/>
        </p:spPr>
        <p:txBody>
          <a:bodyPr wrap="square" lIns="36576" rIns="36576" tIns="36576" bIns="36576" anchor="t">
            <a:spAutoFit/>
          </a:bodyPr>
          <a:lstStyle/>
          <a:p>
            <a:pPr algn="l">
              <a:spcAft>
                <a:spcPts val="200"/>
              </a:spcAft>
            </a:pPr>
            <a:r>
              <a:rPr sz="1250" b="1">
                <a:solidFill>
                  <a:srgbClr val="0D9488"/>
                </a:solidFill>
                <a:latin typeface="Calibri"/>
                <a:ea typeface="Calibri"/>
                <a:cs typeface="Calibri"/>
              </a:rPr>
              <a:t>vs weekdays of the same year</a:t>
            </a:r>
          </a:p>
          <a:p>
            <a:pPr algn="l">
              <a:spcAft>
                <a:spcPts val="200"/>
              </a:spcAft>
            </a:pPr>
            <a:r>
              <a:rPr sz="1150" b="0">
                <a:solidFill>
                  <a:srgbClr val="2C2C2C"/>
                </a:solidFill>
                <a:latin typeface="Calibri"/>
                <a:ea typeface="Calibri"/>
                <a:cs typeface="Calibri"/>
              </a:rPr>
              <a:t>Holidays −27.7% (2022), −19.5% (2023); 2024 is inflated by the break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ox2"/>
          <p:cNvSpPr/>
          <p:nvPr/>
        </p:nvSpPr>
        <p:spPr>
          <a:xfrm>
            <a:off x="0" y="0"/>
            <a:ext cx="9144000" cy="5143500"/>
          </a:xfrm>
          <a:prstGeom prst="rect">
            <a:avLst/>
          </a:prstGeom>
          <a:solidFill>
            <a:srgbClr val="6B21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ox3"/>
          <p:cNvSpPr/>
          <p:nvPr/>
        </p:nvSpPr>
        <p:spPr>
          <a:xfrm>
            <a:off x="0" y="1197864"/>
            <a:ext cx="9144000" cy="5029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ea typeface="Calibri"/>
                <a:cs typeface="Calibri"/>
              </a:rPr>
              <a:t>PART 3</a:t>
            </a:r>
          </a:p>
        </p:txBody>
      </p:sp>
      <p:sp>
        <p:nvSpPr>
          <p:cNvPr id="4" name="Box4"/>
          <p:cNvSpPr/>
          <p:nvPr/>
        </p:nvSpPr>
        <p:spPr>
          <a:xfrm>
            <a:off x="402336" y="1783080"/>
            <a:ext cx="8348472" cy="89611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3200" b="1">
                <a:solidFill>
                  <a:srgbClr val="FFFFFF"/>
                </a:solidFill>
                <a:latin typeface="Calibri"/>
                <a:ea typeface="Calibri"/>
                <a:cs typeface="Calibri"/>
              </a:rPr>
              <a:t>Modeling &amp; Evaluation  (RQ2, RQ3)</a:t>
            </a:r>
          </a:p>
        </p:txBody>
      </p:sp>
      <p:sp>
        <p:nvSpPr>
          <p:cNvPr id="5" name="Box10"/>
          <p:cNvSpPr/>
          <p:nvPr/>
        </p:nvSpPr>
        <p:spPr>
          <a:xfrm>
            <a:off x="246888" y="2898648"/>
            <a:ext cx="2846832" cy="4480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0">
                <a:solidFill>
                  <a:srgbClr val="1F3864"/>
                </a:solidFill>
                <a:latin typeface="Calibri"/>
                <a:ea typeface="Calibri"/>
                <a:cs typeface="Calibri"/>
              </a:rPr>
              <a:t>Model comparison</a:t>
            </a:r>
          </a:p>
        </p:txBody>
      </p:sp>
      <p:sp>
        <p:nvSpPr>
          <p:cNvPr id="6" name="Box11"/>
          <p:cNvSpPr/>
          <p:nvPr/>
        </p:nvSpPr>
        <p:spPr>
          <a:xfrm>
            <a:off x="3148584" y="2898648"/>
            <a:ext cx="2846832" cy="4480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0">
                <a:solidFill>
                  <a:srgbClr val="1F3864"/>
                </a:solidFill>
                <a:latin typeface="Calibri"/>
                <a:ea typeface="Calibri"/>
                <a:cs typeface="Calibri"/>
              </a:rPr>
              <a:t>Repair ladder &amp; holiday echo</a:t>
            </a:r>
          </a:p>
        </p:txBody>
      </p:sp>
      <p:sp>
        <p:nvSpPr>
          <p:cNvPr id="7" name="Box12"/>
          <p:cNvSpPr/>
          <p:nvPr/>
        </p:nvSpPr>
        <p:spPr>
          <a:xfrm>
            <a:off x="6050280" y="2898648"/>
            <a:ext cx="2846832" cy="4480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0">
                <a:solidFill>
                  <a:srgbClr val="1F3864"/>
                </a:solidFill>
                <a:latin typeface="Calibri"/>
                <a:ea typeface="Calibri"/>
                <a:cs typeface="Calibri"/>
              </a:rPr>
              <a:t>Conclusion &amp; AI reflection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d"/>
          <p:cNvSpPr txBox="1"/>
          <p:nvPr/>
        </p:nvSpPr>
        <p:spPr>
          <a:xfrm>
            <a:off x="457200" y="182880"/>
            <a:ext cx="8229600" cy="777240"/>
          </a:xfrm>
          <a:prstGeom prst="rect">
            <a:avLst/>
          </a:prstGeom>
          <a:noFill/>
        </p:spPr>
        <p:txBody>
          <a:bodyPr wrap="square" lIns="0" rIns="0" tIns="0" bIns="0" anchor="ctr">
            <a:spAutoFit/>
          </a:bodyPr>
          <a:lstStyle/>
          <a:p>
            <a:pPr algn="l"/>
            <a:r>
              <a:rPr sz="2800" b="1">
                <a:solidFill>
                  <a:srgbClr val="1F3864"/>
                </a:solidFill>
                <a:latin typeface="Calibri"/>
                <a:ea typeface="Calibri"/>
                <a:cs typeface="Calibri"/>
              </a:rPr>
              <a:t>#6 Evaluation design</a:t>
            </a:r>
          </a:p>
        </p:txBody>
      </p:sp>
      <p:cxnSp>
        <p:nvCxnSpPr>
          <p:cNvPr id="3" name="Div"/>
          <p:cNvCxnSpPr/>
          <p:nvPr/>
        </p:nvCxnSpPr>
        <p:spPr>
          <a:xfrm>
            <a:off x="457200" y="960120"/>
            <a:ext cx="8229600" cy="0"/>
          </a:xfrm>
          <a:prstGeom prst="line">
            <a:avLst/>
          </a:prstGeom>
          <a:ln w="19050">
            <a:solidFill>
              <a:srgbClr val="4472C4"/>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457200" y="1097280"/>
            <a:ext cx="2011680" cy="43891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50" b="1">
                <a:solidFill>
                  <a:srgbClr val="FFFFFF"/>
                </a:solidFill>
                <a:latin typeface="Calibri"/>
                <a:ea typeface="Calibri"/>
                <a:cs typeface="Calibri"/>
              </a:rPr>
              <a:t>Train only  2022</a:t>
            </a:r>
          </a:p>
        </p:txBody>
      </p:sp>
      <p:sp>
        <p:nvSpPr>
          <p:cNvPr id="5" name="Rectangle 4"/>
          <p:cNvSpPr/>
          <p:nvPr/>
        </p:nvSpPr>
        <p:spPr>
          <a:xfrm>
            <a:off x="2542032" y="1097280"/>
            <a:ext cx="731520" cy="438912"/>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ea typeface="Calibri"/>
                <a:cs typeface="Calibri"/>
              </a:rPr>
              <a:t>23-Q1</a:t>
            </a:r>
          </a:p>
        </p:txBody>
      </p:sp>
      <p:sp>
        <p:nvSpPr>
          <p:cNvPr id="6" name="Rectangle 5"/>
          <p:cNvSpPr/>
          <p:nvPr/>
        </p:nvSpPr>
        <p:spPr>
          <a:xfrm>
            <a:off x="3310127" y="1097280"/>
            <a:ext cx="731520" cy="438912"/>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ea typeface="Calibri"/>
                <a:cs typeface="Calibri"/>
              </a:rPr>
              <a:t>23-Q2</a:t>
            </a:r>
          </a:p>
        </p:txBody>
      </p:sp>
      <p:sp>
        <p:nvSpPr>
          <p:cNvPr id="7" name="Rectangle 6"/>
          <p:cNvSpPr/>
          <p:nvPr/>
        </p:nvSpPr>
        <p:spPr>
          <a:xfrm>
            <a:off x="4078224" y="1097280"/>
            <a:ext cx="731520" cy="438912"/>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ea typeface="Calibri"/>
                <a:cs typeface="Calibri"/>
              </a:rPr>
              <a:t>23-Q3</a:t>
            </a:r>
          </a:p>
        </p:txBody>
      </p:sp>
      <p:sp>
        <p:nvSpPr>
          <p:cNvPr id="8" name="Rectangle 7"/>
          <p:cNvSpPr/>
          <p:nvPr/>
        </p:nvSpPr>
        <p:spPr>
          <a:xfrm>
            <a:off x="4846320" y="1097280"/>
            <a:ext cx="731520" cy="438912"/>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ea typeface="Calibri"/>
                <a:cs typeface="Calibri"/>
              </a:rPr>
              <a:t>23-Q4</a:t>
            </a:r>
          </a:p>
        </p:txBody>
      </p:sp>
      <p:sp>
        <p:nvSpPr>
          <p:cNvPr id="9" name="Rectangle 8"/>
          <p:cNvSpPr/>
          <p:nvPr/>
        </p:nvSpPr>
        <p:spPr>
          <a:xfrm>
            <a:off x="5614416" y="1097280"/>
            <a:ext cx="731520" cy="4389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ea typeface="Calibri"/>
                <a:cs typeface="Calibri"/>
              </a:rPr>
              <a:t>24-Q1</a:t>
            </a:r>
          </a:p>
        </p:txBody>
      </p:sp>
      <p:sp>
        <p:nvSpPr>
          <p:cNvPr id="10" name="Rectangle 9"/>
          <p:cNvSpPr/>
          <p:nvPr/>
        </p:nvSpPr>
        <p:spPr>
          <a:xfrm>
            <a:off x="6382512" y="1097280"/>
            <a:ext cx="731520" cy="4389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ea typeface="Calibri"/>
                <a:cs typeface="Calibri"/>
              </a:rPr>
              <a:t>24-Q2</a:t>
            </a:r>
          </a:p>
        </p:txBody>
      </p:sp>
      <p:sp>
        <p:nvSpPr>
          <p:cNvPr id="11" name="Rectangle 10"/>
          <p:cNvSpPr/>
          <p:nvPr/>
        </p:nvSpPr>
        <p:spPr>
          <a:xfrm>
            <a:off x="7150608" y="1097280"/>
            <a:ext cx="731520" cy="4389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ea typeface="Calibri"/>
                <a:cs typeface="Calibri"/>
              </a:rPr>
              <a:t>24-Q3</a:t>
            </a:r>
          </a:p>
        </p:txBody>
      </p:sp>
      <p:sp>
        <p:nvSpPr>
          <p:cNvPr id="12" name="Rectangle 11"/>
          <p:cNvSpPr/>
          <p:nvPr/>
        </p:nvSpPr>
        <p:spPr>
          <a:xfrm>
            <a:off x="7918704" y="1097280"/>
            <a:ext cx="731520" cy="4389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ea typeface="Calibri"/>
                <a:cs typeface="Calibri"/>
              </a:rPr>
              <a:t>24-Q4</a:t>
            </a:r>
          </a:p>
        </p:txBody>
      </p:sp>
      <p:sp>
        <p:nvSpPr>
          <p:cNvPr id="13" name="TextBox 12"/>
          <p:cNvSpPr txBox="1"/>
          <p:nvPr/>
        </p:nvSpPr>
        <p:spPr>
          <a:xfrm>
            <a:off x="457200" y="1600200"/>
            <a:ext cx="8229600" cy="457200"/>
          </a:xfrm>
          <a:prstGeom prst="rect">
            <a:avLst/>
          </a:prstGeom>
          <a:noFill/>
        </p:spPr>
        <p:txBody>
          <a:bodyPr wrap="square" lIns="0" rIns="0" tIns="0" bIns="0" anchor="t">
            <a:spAutoFit/>
          </a:bodyPr>
          <a:lstStyle/>
          <a:p>
            <a:pPr algn="l"/>
            <a:r>
              <a:rPr sz="1100" b="0">
                <a:solidFill>
                  <a:srgbClr val="64748B"/>
                </a:solidFill>
                <a:latin typeface="Calibri"/>
                <a:ea typeface="Calibri"/>
                <a:cs typeface="Calibri"/>
              </a:rPr>
              <a:t>Expanding window: each quarter of 2023–2024 is the test set once; the model learns every hour before it. 150,000 training rows per fit; main configuration run with 3 seeds. Outage and faulty hours are not scored.</a:t>
            </a:r>
          </a:p>
        </p:txBody>
      </p:sp>
      <p:sp>
        <p:nvSpPr>
          <p:cNvPr id="14" name="Rectangle 13"/>
          <p:cNvSpPr/>
          <p:nvPr/>
        </p:nvSpPr>
        <p:spPr>
          <a:xfrm>
            <a:off x="457200" y="2194560"/>
            <a:ext cx="2651760" cy="2697480"/>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48640" y="2249424"/>
            <a:ext cx="2468879" cy="2587752"/>
          </a:xfrm>
          <a:prstGeom prst="rect">
            <a:avLst/>
          </a:prstGeom>
          <a:noFill/>
        </p:spPr>
        <p:txBody>
          <a:bodyPr wrap="square" lIns="36576" rIns="36576" tIns="36576" bIns="36576" anchor="t">
            <a:spAutoFit/>
          </a:bodyPr>
          <a:lstStyle/>
          <a:p>
            <a:pPr algn="l">
              <a:spcAft>
                <a:spcPts val="200"/>
              </a:spcAft>
            </a:pPr>
            <a:r>
              <a:rPr sz="1400" b="1">
                <a:solidFill>
                  <a:srgbClr val="1F3864"/>
                </a:solidFill>
                <a:latin typeface="Calibri"/>
                <a:ea typeface="Calibri"/>
                <a:cs typeface="Calibri"/>
              </a:rPr>
              <a:t>Target</a:t>
            </a:r>
          </a:p>
          <a:p>
            <a:pPr algn="l">
              <a:spcAft>
                <a:spcPts val="200"/>
              </a:spcAft>
            </a:pPr>
            <a:r>
              <a:rPr sz="1250" b="0">
                <a:solidFill>
                  <a:srgbClr val="2C2C2C"/>
                </a:solidFill>
                <a:latin typeface="Calibri"/>
                <a:ea typeface="Calibri"/>
                <a:cs typeface="Calibri"/>
              </a:rPr>
              <a:t>Vehicles in a cell in the next hour.</a:t>
            </a:r>
          </a:p>
          <a:p>
            <a:pPr algn="l">
              <a:spcAft>
                <a:spcPts val="200"/>
              </a:spcAft>
            </a:pPr>
            <a:r>
              <a:rPr sz="1250" b="0">
                <a:solidFill>
                  <a:srgbClr val="2C2C2C"/>
                </a:solidFill>
                <a:latin typeface="Calibri"/>
                <a:ea typeface="Calibri"/>
                <a:cs typeface="Calibri"/>
              </a:rPr>
              <a:t>Models learn log(1 + vehicles) and transform back, so busy cells do not dominate.</a:t>
            </a:r>
          </a:p>
          <a:p>
            <a:pPr algn="l">
              <a:spcAft>
                <a:spcPts val="200"/>
              </a:spcAft>
            </a:pPr>
            <a:r>
              <a:rPr sz="1250" b="0">
                <a:solidFill>
                  <a:srgbClr val="64748B"/>
                </a:solidFill>
                <a:latin typeface="Calibri"/>
                <a:ea typeface="Calibri"/>
                <a:cs typeface="Calibri"/>
              </a:rPr>
              <a:t>Inputs: current count and speed, lags 1, 2 and 23 h, same hour last week, hour, weekday, cell, calendar flags.</a:t>
            </a:r>
          </a:p>
        </p:txBody>
      </p:sp>
      <p:sp>
        <p:nvSpPr>
          <p:cNvPr id="16" name="Rectangle 15"/>
          <p:cNvSpPr/>
          <p:nvPr/>
        </p:nvSpPr>
        <p:spPr>
          <a:xfrm>
            <a:off x="3246120" y="2194560"/>
            <a:ext cx="2651760" cy="2697480"/>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337560" y="2249424"/>
            <a:ext cx="2468879" cy="2587752"/>
          </a:xfrm>
          <a:prstGeom prst="rect">
            <a:avLst/>
          </a:prstGeom>
          <a:noFill/>
        </p:spPr>
        <p:txBody>
          <a:bodyPr wrap="square" lIns="36576" rIns="36576" tIns="36576" bIns="36576" anchor="t">
            <a:spAutoFit/>
          </a:bodyPr>
          <a:lstStyle/>
          <a:p>
            <a:pPr algn="l">
              <a:spcAft>
                <a:spcPts val="200"/>
              </a:spcAft>
            </a:pPr>
            <a:r>
              <a:rPr sz="1400" b="1">
                <a:solidFill>
                  <a:srgbClr val="1F3864"/>
                </a:solidFill>
                <a:latin typeface="Calibri"/>
                <a:ea typeface="Calibri"/>
                <a:cs typeface="Calibri"/>
              </a:rPr>
              <a:t>MAE and MASE</a:t>
            </a:r>
          </a:p>
          <a:p>
            <a:pPr algn="l">
              <a:spcAft>
                <a:spcPts val="200"/>
              </a:spcAft>
            </a:pPr>
            <a:r>
              <a:rPr sz="1250" b="0">
                <a:solidFill>
                  <a:srgbClr val="2C2C2C"/>
                </a:solidFill>
                <a:latin typeface="Calibri"/>
                <a:ea typeface="Calibri"/>
                <a:cs typeface="Calibri"/>
              </a:rPr>
              <a:t>MAE: mean absolute error, vehicles per cell-hour (lower is better).</a:t>
            </a:r>
          </a:p>
          <a:p>
            <a:pPr algn="l">
              <a:spcAft>
                <a:spcPts val="200"/>
              </a:spcAft>
            </a:pPr>
            <a:r>
              <a:rPr sz="1250" b="0">
                <a:solidFill>
                  <a:srgbClr val="2C2C2C"/>
                </a:solidFill>
                <a:latin typeface="Calibri"/>
                <a:ea typeface="Calibri"/>
                <a:cs typeface="Calibri"/>
              </a:rPr>
              <a:t>MASE = MAE / MAE of persistence in the same quarter (below 1 beats it).</a:t>
            </a:r>
          </a:p>
          <a:p>
            <a:pPr algn="l">
              <a:spcAft>
                <a:spcPts val="200"/>
              </a:spcAft>
            </a:pPr>
            <a:r>
              <a:rPr sz="1250" b="0">
                <a:solidFill>
                  <a:srgbClr val="64748B"/>
                </a:solidFill>
                <a:latin typeface="Calibri"/>
                <a:ea typeface="Calibri"/>
                <a:cs typeface="Calibri"/>
              </a:rPr>
              <a:t>Gaps smaller than the SD across quarters are not called a win.</a:t>
            </a:r>
          </a:p>
        </p:txBody>
      </p:sp>
      <p:sp>
        <p:nvSpPr>
          <p:cNvPr id="18" name="Rectangle 17"/>
          <p:cNvSpPr/>
          <p:nvPr/>
        </p:nvSpPr>
        <p:spPr>
          <a:xfrm>
            <a:off x="6035040" y="2194560"/>
            <a:ext cx="2651760" cy="2697480"/>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126479" y="2249424"/>
            <a:ext cx="2468879" cy="2587752"/>
          </a:xfrm>
          <a:prstGeom prst="rect">
            <a:avLst/>
          </a:prstGeom>
          <a:noFill/>
        </p:spPr>
        <p:txBody>
          <a:bodyPr wrap="square" lIns="36576" rIns="36576" tIns="36576" bIns="36576" anchor="t">
            <a:spAutoFit/>
          </a:bodyPr>
          <a:lstStyle/>
          <a:p>
            <a:pPr algn="l">
              <a:spcAft>
                <a:spcPts val="200"/>
              </a:spcAft>
            </a:pPr>
            <a:r>
              <a:rPr sz="1400" b="1">
                <a:solidFill>
                  <a:srgbClr val="1F3864"/>
                </a:solidFill>
                <a:latin typeface="Calibri"/>
                <a:ea typeface="Calibri"/>
                <a:cs typeface="Calibri"/>
              </a:rPr>
              <a:t>Models and baselines</a:t>
            </a:r>
          </a:p>
          <a:p>
            <a:pPr algn="l">
              <a:spcAft>
                <a:spcPts val="200"/>
              </a:spcAft>
            </a:pPr>
            <a:r>
              <a:rPr sz="1250" b="0">
                <a:solidFill>
                  <a:srgbClr val="2C2C2C"/>
                </a:solidFill>
                <a:latin typeface="Calibri"/>
                <a:ea typeface="Calibri"/>
                <a:cs typeface="Calibri"/>
              </a:rPr>
              <a:t>Models: Ridge · Extra Trees (200 trees) · LightGBM (600 rounds) · MLP (64-32). Fixed settings, not tuned.</a:t>
            </a:r>
          </a:p>
          <a:p>
            <a:pPr algn="l">
              <a:spcAft>
                <a:spcPts val="200"/>
              </a:spcAft>
            </a:pPr>
            <a:r>
              <a:rPr sz="1250" b="0">
                <a:solidFill>
                  <a:srgbClr val="2C2C2C"/>
                </a:solidFill>
                <a:latin typeface="Calibri"/>
                <a:ea typeface="Calibri"/>
                <a:cs typeface="Calibri"/>
              </a:rPr>
              <a:t>Baselines: same hour last week · median of 3 weeks · historical average.</a:t>
            </a:r>
          </a:p>
          <a:p>
            <a:pPr algn="l">
              <a:spcAft>
                <a:spcPts val="200"/>
              </a:spcAft>
            </a:pPr>
            <a:r>
              <a:rPr sz="1250" b="0">
                <a:solidFill>
                  <a:srgbClr val="64748B"/>
                </a:solidFill>
                <a:latin typeface="Calibri"/>
                <a:ea typeface="Calibri"/>
                <a:cs typeface="Calibri"/>
              </a:rPr>
              <a:t>Persistence (next hour = this hour) is the MASE reference.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d"/>
          <p:cNvSpPr txBox="1"/>
          <p:nvPr/>
        </p:nvSpPr>
        <p:spPr>
          <a:xfrm>
            <a:off x="457200" y="182880"/>
            <a:ext cx="8229600" cy="777240"/>
          </a:xfrm>
          <a:prstGeom prst="rect">
            <a:avLst/>
          </a:prstGeom>
          <a:noFill/>
        </p:spPr>
        <p:txBody>
          <a:bodyPr wrap="square" lIns="0" rIns="0" tIns="0" bIns="0" anchor="ctr">
            <a:spAutoFit/>
          </a:bodyPr>
          <a:lstStyle/>
          <a:p>
            <a:pPr algn="l"/>
            <a:r>
              <a:rPr sz="2800" b="1">
                <a:solidFill>
                  <a:srgbClr val="1F3864"/>
                </a:solidFill>
                <a:latin typeface="Calibri"/>
                <a:ea typeface="Calibri"/>
                <a:cs typeface="Calibri"/>
              </a:rPr>
              <a:t>RQ2 — Three models tie, all far ahead of the baselines</a:t>
            </a:r>
          </a:p>
        </p:txBody>
      </p:sp>
      <p:cxnSp>
        <p:nvCxnSpPr>
          <p:cNvPr id="3" name="Div"/>
          <p:cNvCxnSpPr/>
          <p:nvPr/>
        </p:nvCxnSpPr>
        <p:spPr>
          <a:xfrm>
            <a:off x="457200" y="960120"/>
            <a:ext cx="8229600" cy="0"/>
          </a:xfrm>
          <a:prstGeom prst="line">
            <a:avLst/>
          </a:prstGeom>
          <a:ln w="19050">
            <a:solidFill>
              <a:srgbClr val="4472C4"/>
            </a:solidFill>
          </a:ln>
        </p:spPr>
        <p:style>
          <a:lnRef idx="2">
            <a:schemeClr val="accent1"/>
          </a:lnRef>
          <a:fillRef idx="0">
            <a:schemeClr val="accent1"/>
          </a:fillRef>
          <a:effectRef idx="1">
            <a:schemeClr val="accent1"/>
          </a:effectRef>
          <a:fontRef idx="minor">
            <a:schemeClr val="tx1"/>
          </a:fontRef>
        </p:style>
      </p:cxnSp>
      <p:graphicFrame>
        <p:nvGraphicFramePr>
          <p:cNvPr id="4" name="Table 3"/>
          <p:cNvGraphicFramePr>
            <a:graphicFrameLocks noGrp="1"/>
          </p:cNvGraphicFramePr>
          <p:nvPr/>
        </p:nvGraphicFramePr>
        <p:xfrm>
          <a:off x="457200" y="1097280"/>
          <a:ext cx="4206240" cy="2962656"/>
        </p:xfrm>
        <a:graphic>
          <a:graphicData uri="http://schemas.openxmlformats.org/drawingml/2006/table">
            <a:tbl>
              <a:tblPr firstRow="0" bandRow="0">
                <a:tableStyleId>{5C22544A-7EE6-4342-B048-85BDC9FD1C3A}</a:tableStyleId>
              </a:tblPr>
              <a:tblGrid>
                <a:gridCol w="1737360"/>
                <a:gridCol w="640080"/>
                <a:gridCol w="548640"/>
                <a:gridCol w="685800"/>
                <a:gridCol w="594360"/>
              </a:tblGrid>
              <a:tr h="329184">
                <a:tc>
                  <a:txBody>
                    <a:bodyPr wrap="square"/>
                    <a:lstStyle/>
                    <a:p>
                      <a:pPr algn="ctr"/>
                      <a:r>
                        <a:rPr sz="1150" b="1">
                          <a:solidFill>
                            <a:srgbClr val="FFFFFF"/>
                          </a:solidFill>
                          <a:latin typeface="Calibri"/>
                          <a:ea typeface="Calibri"/>
                          <a:cs typeface="Calibri"/>
                        </a:rPr>
                        <a:t>Method</a:t>
                      </a:r>
                    </a:p>
                  </a:txBody>
                  <a:tcPr marL="54864" marR="54864" marT="22860" marB="22860" anchor="ctr">
                    <a:solidFill>
                      <a:srgbClr val="1F3864"/>
                    </a:solidFill>
                  </a:tcPr>
                </a:tc>
                <a:tc>
                  <a:txBody>
                    <a:bodyPr wrap="square"/>
                    <a:lstStyle/>
                    <a:p>
                      <a:pPr algn="ctr"/>
                      <a:r>
                        <a:rPr sz="1150" b="1">
                          <a:solidFill>
                            <a:srgbClr val="FFFFFF"/>
                          </a:solidFill>
                          <a:latin typeface="Calibri"/>
                          <a:ea typeface="Calibri"/>
                          <a:cs typeface="Calibri"/>
                        </a:rPr>
                        <a:t>MAE ↓</a:t>
                      </a:r>
                    </a:p>
                  </a:txBody>
                  <a:tcPr marL="54864" marR="54864" marT="22860" marB="22860" anchor="ctr">
                    <a:solidFill>
                      <a:srgbClr val="1F3864"/>
                    </a:solidFill>
                  </a:tcPr>
                </a:tc>
                <a:tc>
                  <a:txBody>
                    <a:bodyPr wrap="square"/>
                    <a:lstStyle/>
                    <a:p>
                      <a:pPr algn="ctr"/>
                      <a:r>
                        <a:rPr sz="1150" b="1">
                          <a:solidFill>
                            <a:srgbClr val="FFFFFF"/>
                          </a:solidFill>
                          <a:latin typeface="Calibri"/>
                          <a:ea typeface="Calibri"/>
                          <a:cs typeface="Calibri"/>
                        </a:rPr>
                        <a:t>SD</a:t>
                      </a:r>
                    </a:p>
                  </a:txBody>
                  <a:tcPr marL="54864" marR="54864" marT="22860" marB="22860" anchor="ctr">
                    <a:solidFill>
                      <a:srgbClr val="1F3864"/>
                    </a:solidFill>
                  </a:tcPr>
                </a:tc>
                <a:tc>
                  <a:txBody>
                    <a:bodyPr wrap="square"/>
                    <a:lstStyle/>
                    <a:p>
                      <a:pPr algn="ctr"/>
                      <a:r>
                        <a:rPr sz="1150" b="1">
                          <a:solidFill>
                            <a:srgbClr val="FFFFFF"/>
                          </a:solidFill>
                          <a:latin typeface="Calibri"/>
                          <a:ea typeface="Calibri"/>
                          <a:cs typeface="Calibri"/>
                        </a:rPr>
                        <a:t>MASE ↓</a:t>
                      </a:r>
                    </a:p>
                  </a:txBody>
                  <a:tcPr marL="54864" marR="54864" marT="22860" marB="22860" anchor="ctr">
                    <a:solidFill>
                      <a:srgbClr val="1F3864"/>
                    </a:solidFill>
                  </a:tcPr>
                </a:tc>
                <a:tc>
                  <a:txBody>
                    <a:bodyPr wrap="square"/>
                    <a:lstStyle/>
                    <a:p>
                      <a:pPr algn="ctr"/>
                      <a:r>
                        <a:rPr sz="1150" b="1">
                          <a:solidFill>
                            <a:srgbClr val="FFFFFF"/>
                          </a:solidFill>
                          <a:latin typeface="Calibri"/>
                          <a:ea typeface="Calibri"/>
                          <a:cs typeface="Calibri"/>
                        </a:rPr>
                        <a:t>MAE*</a:t>
                      </a:r>
                    </a:p>
                  </a:txBody>
                  <a:tcPr marL="54864" marR="54864" marT="22860" marB="22860" anchor="ctr">
                    <a:solidFill>
                      <a:srgbClr val="1F3864"/>
                    </a:solidFill>
                  </a:tcPr>
                </a:tc>
              </a:tr>
              <a:tr h="329184">
                <a:tc>
                  <a:txBody>
                    <a:bodyPr wrap="square"/>
                    <a:lstStyle/>
                    <a:p>
                      <a:pPr algn="l"/>
                      <a:r>
                        <a:rPr sz="1150" b="0">
                          <a:solidFill>
                            <a:srgbClr val="64748B"/>
                          </a:solidFill>
                          <a:latin typeface="Calibri"/>
                          <a:ea typeface="Calibri"/>
                          <a:cs typeface="Calibri"/>
                        </a:rPr>
                        <a:t>Persistence (ref.)</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68.1</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9.5</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1.000</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66.3</a:t>
                      </a:r>
                    </a:p>
                  </a:txBody>
                  <a:tcPr marL="54864" marR="54864" marT="22860" marB="22860" anchor="ctr">
                    <a:solidFill>
                      <a:srgbClr val="EEF2FF"/>
                    </a:solidFill>
                  </a:tcPr>
                </a:tc>
              </a:tr>
              <a:tr h="329184">
                <a:tc>
                  <a:txBody>
                    <a:bodyPr wrap="square"/>
                    <a:lstStyle/>
                    <a:p>
                      <a:pPr algn="l"/>
                      <a:r>
                        <a:rPr sz="1150" b="0">
                          <a:solidFill>
                            <a:srgbClr val="2C2C2C"/>
                          </a:solidFill>
                          <a:latin typeface="Calibri"/>
                          <a:ea typeface="Calibri"/>
                          <a:cs typeface="Calibri"/>
                        </a:rPr>
                        <a:t>Same hour last week</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60.8</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20.6</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0.908</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63.4</a:t>
                      </a:r>
                    </a:p>
                  </a:txBody>
                  <a:tcPr marL="54864" marR="54864" marT="22860" marB="22860" anchor="ctr">
                    <a:solidFill>
                      <a:srgbClr val="FFFFFF"/>
                    </a:solidFill>
                  </a:tcPr>
                </a:tc>
              </a:tr>
              <a:tr h="329184">
                <a:tc>
                  <a:txBody>
                    <a:bodyPr wrap="square"/>
                    <a:lstStyle/>
                    <a:p>
                      <a:pPr algn="l"/>
                      <a:r>
                        <a:rPr sz="1150" b="0">
                          <a:solidFill>
                            <a:srgbClr val="2C2C2C"/>
                          </a:solidFill>
                          <a:latin typeface="Calibri"/>
                          <a:ea typeface="Calibri"/>
                          <a:cs typeface="Calibri"/>
                        </a:rPr>
                        <a:t>Median of 3 weeks</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52.9</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14.5</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0.789</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54.7</a:t>
                      </a:r>
                    </a:p>
                  </a:txBody>
                  <a:tcPr marL="54864" marR="54864" marT="22860" marB="22860" anchor="ctr">
                    <a:solidFill>
                      <a:srgbClr val="EEF2FF"/>
                    </a:solidFill>
                  </a:tcPr>
                </a:tc>
              </a:tr>
              <a:tr h="329184">
                <a:tc>
                  <a:txBody>
                    <a:bodyPr wrap="square"/>
                    <a:lstStyle/>
                    <a:p>
                      <a:pPr algn="l"/>
                      <a:r>
                        <a:rPr sz="1150" b="0">
                          <a:solidFill>
                            <a:srgbClr val="2C2C2C"/>
                          </a:solidFill>
                          <a:latin typeface="Calibri"/>
                          <a:ea typeface="Calibri"/>
                          <a:cs typeface="Calibri"/>
                        </a:rPr>
                        <a:t>Historical average</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90.3</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41.9</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1.283</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82.0</a:t>
                      </a:r>
                    </a:p>
                  </a:txBody>
                  <a:tcPr marL="54864" marR="54864" marT="22860" marB="22860" anchor="ctr">
                    <a:solidFill>
                      <a:srgbClr val="FFFFFF"/>
                    </a:solidFill>
                  </a:tcPr>
                </a:tc>
              </a:tr>
              <a:tr h="329184">
                <a:tc>
                  <a:txBody>
                    <a:bodyPr wrap="square"/>
                    <a:lstStyle/>
                    <a:p>
                      <a:pPr algn="l"/>
                      <a:r>
                        <a:rPr sz="1150" b="0">
                          <a:solidFill>
                            <a:srgbClr val="2C2C2C"/>
                          </a:solidFill>
                          <a:latin typeface="Calibri"/>
                          <a:ea typeface="Calibri"/>
                          <a:cs typeface="Calibri"/>
                        </a:rPr>
                        <a:t>Ridge</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50.3</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7.2</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0.743</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49.8</a:t>
                      </a:r>
                    </a:p>
                  </a:txBody>
                  <a:tcPr marL="54864" marR="54864" marT="22860" marB="22860" anchor="ctr">
                    <a:solidFill>
                      <a:srgbClr val="EEF2FF"/>
                    </a:solidFill>
                  </a:tcPr>
                </a:tc>
              </a:tr>
              <a:tr h="329184">
                <a:tc>
                  <a:txBody>
                    <a:bodyPr wrap="square"/>
                    <a:lstStyle/>
                    <a:p>
                      <a:pPr algn="l"/>
                      <a:r>
                        <a:rPr sz="1150" b="0">
                          <a:solidFill>
                            <a:srgbClr val="2C2C2C"/>
                          </a:solidFill>
                          <a:latin typeface="Calibri"/>
                          <a:ea typeface="Calibri"/>
                          <a:cs typeface="Calibri"/>
                        </a:rPr>
                        <a:t>Extra Trees</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39.9</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8.7</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0.588</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37.4</a:t>
                      </a:r>
                    </a:p>
                  </a:txBody>
                  <a:tcPr marL="54864" marR="54864" marT="22860" marB="22860" anchor="ctr">
                    <a:solidFill>
                      <a:srgbClr val="FFFFFF"/>
                    </a:solidFill>
                  </a:tcPr>
                </a:tc>
              </a:tr>
              <a:tr h="329184">
                <a:tc>
                  <a:txBody>
                    <a:bodyPr wrap="square"/>
                    <a:lstStyle/>
                    <a:p>
                      <a:pPr algn="l"/>
                      <a:r>
                        <a:rPr sz="1150" b="1">
                          <a:solidFill>
                            <a:srgbClr val="2C2C2C"/>
                          </a:solidFill>
                          <a:latin typeface="Calibri"/>
                          <a:ea typeface="Calibri"/>
                          <a:cs typeface="Calibri"/>
                        </a:rPr>
                        <a:t>LightGBM</a:t>
                      </a:r>
                    </a:p>
                  </a:txBody>
                  <a:tcPr marL="54864" marR="54864" marT="22860" marB="22860" anchor="ctr">
                    <a:solidFill>
                      <a:srgbClr val="EEF2FF"/>
                    </a:solidFill>
                  </a:tcPr>
                </a:tc>
                <a:tc>
                  <a:txBody>
                    <a:bodyPr wrap="square"/>
                    <a:lstStyle/>
                    <a:p>
                      <a:pPr algn="r"/>
                      <a:r>
                        <a:rPr sz="1150" b="1">
                          <a:solidFill>
                            <a:srgbClr val="2C2C2C"/>
                          </a:solidFill>
                          <a:latin typeface="Calibri"/>
                          <a:ea typeface="Calibri"/>
                          <a:cs typeface="Calibri"/>
                        </a:rPr>
                        <a:t>37.9</a:t>
                      </a:r>
                    </a:p>
                  </a:txBody>
                  <a:tcPr marL="54864" marR="54864" marT="22860" marB="22860" anchor="ctr">
                    <a:solidFill>
                      <a:srgbClr val="EEF2FF"/>
                    </a:solidFill>
                  </a:tcPr>
                </a:tc>
                <a:tc>
                  <a:txBody>
                    <a:bodyPr wrap="square"/>
                    <a:lstStyle/>
                    <a:p>
                      <a:pPr algn="r"/>
                      <a:r>
                        <a:rPr sz="1150" b="1">
                          <a:solidFill>
                            <a:srgbClr val="2C2C2C"/>
                          </a:solidFill>
                          <a:latin typeface="Calibri"/>
                          <a:ea typeface="Calibri"/>
                          <a:cs typeface="Calibri"/>
                        </a:rPr>
                        <a:t>6.4</a:t>
                      </a:r>
                    </a:p>
                  </a:txBody>
                  <a:tcPr marL="54864" marR="54864" marT="22860" marB="22860" anchor="ctr">
                    <a:solidFill>
                      <a:srgbClr val="EEF2FF"/>
                    </a:solidFill>
                  </a:tcPr>
                </a:tc>
                <a:tc>
                  <a:txBody>
                    <a:bodyPr wrap="square"/>
                    <a:lstStyle/>
                    <a:p>
                      <a:pPr algn="r"/>
                      <a:r>
                        <a:rPr sz="1150" b="1">
                          <a:solidFill>
                            <a:srgbClr val="2C2C2C"/>
                          </a:solidFill>
                          <a:latin typeface="Calibri"/>
                          <a:ea typeface="Calibri"/>
                          <a:cs typeface="Calibri"/>
                        </a:rPr>
                        <a:t>0.563</a:t>
                      </a:r>
                    </a:p>
                  </a:txBody>
                  <a:tcPr marL="54864" marR="54864" marT="22860" marB="22860" anchor="ctr">
                    <a:solidFill>
                      <a:srgbClr val="EEF2FF"/>
                    </a:solidFill>
                  </a:tcPr>
                </a:tc>
                <a:tc>
                  <a:txBody>
                    <a:bodyPr wrap="square"/>
                    <a:lstStyle/>
                    <a:p>
                      <a:pPr algn="r"/>
                      <a:r>
                        <a:rPr sz="1150" b="1">
                          <a:solidFill>
                            <a:srgbClr val="2C2C2C"/>
                          </a:solidFill>
                          <a:latin typeface="Calibri"/>
                          <a:ea typeface="Calibri"/>
                          <a:cs typeface="Calibri"/>
                        </a:rPr>
                        <a:t>36.7</a:t>
                      </a:r>
                    </a:p>
                  </a:txBody>
                  <a:tcPr marL="54864" marR="54864" marT="22860" marB="22860" anchor="ctr">
                    <a:solidFill>
                      <a:srgbClr val="EEF2FF"/>
                    </a:solidFill>
                  </a:tcPr>
                </a:tc>
              </a:tr>
              <a:tr h="329184">
                <a:tc>
                  <a:txBody>
                    <a:bodyPr wrap="square"/>
                    <a:lstStyle/>
                    <a:p>
                      <a:pPr algn="l"/>
                      <a:r>
                        <a:rPr sz="1150" b="0">
                          <a:solidFill>
                            <a:srgbClr val="2C2C2C"/>
                          </a:solidFill>
                          <a:latin typeface="Calibri"/>
                          <a:ea typeface="Calibri"/>
                          <a:cs typeface="Calibri"/>
                        </a:rPr>
                        <a:t>MLP</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38.0</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4.6</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0.567</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37.9</a:t>
                      </a:r>
                    </a:p>
                  </a:txBody>
                  <a:tcPr marL="54864" marR="54864" marT="22860" marB="22860" anchor="ctr">
                    <a:solidFill>
                      <a:srgbClr val="FFFFFF"/>
                    </a:solidFill>
                  </a:tcPr>
                </a:tc>
              </a:tr>
            </a:tbl>
          </a:graphicData>
        </a:graphic>
      </p:graphicFrame>
      <p:sp>
        <p:nvSpPr>
          <p:cNvPr id="5" name="Caption"/>
          <p:cNvSpPr txBox="1"/>
          <p:nvPr/>
        </p:nvSpPr>
        <p:spPr>
          <a:xfrm>
            <a:off x="457200" y="4114800"/>
            <a:ext cx="4206240" cy="365760"/>
          </a:xfrm>
          <a:prstGeom prst="rect">
            <a:avLst/>
          </a:prstGeom>
          <a:noFill/>
        </p:spPr>
        <p:txBody>
          <a:bodyPr wrap="square" lIns="0" rIns="0" tIns="0" bIns="0" anchor="t">
            <a:spAutoFit/>
          </a:bodyPr>
          <a:lstStyle/>
          <a:p>
            <a:pPr algn="l"/>
            <a:r>
              <a:rPr sz="1000" b="0">
                <a:solidFill>
                  <a:srgbClr val="64748B"/>
                </a:solidFill>
                <a:latin typeface="Calibri"/>
                <a:ea typeface="Calibri"/>
                <a:cs typeface="Calibri"/>
              </a:rPr>
              <a:t>Table 1 (paper): mean over 8 test quarters; SD across quarters; MAE*: without 2024-Q1. Persistence = MASE reference.</a:t>
            </a:r>
          </a:p>
        </p:txBody>
      </p:sp>
      <p:pic>
        <p:nvPicPr>
          <p:cNvPr id="6" name="Picture 5" descr="fig_rq2_models.png"/>
          <p:cNvPicPr>
            <a:picLocks noChangeAspect="1"/>
          </p:cNvPicPr>
          <p:nvPr/>
        </p:nvPicPr>
        <p:blipFill>
          <a:blip r:embed="rId2"/>
          <a:stretch>
            <a:fillRect/>
          </a:stretch>
        </p:blipFill>
        <p:spPr>
          <a:xfrm>
            <a:off x="4846320" y="1327462"/>
            <a:ext cx="3840480" cy="1779914"/>
          </a:xfrm>
          <a:prstGeom prst="rect">
            <a:avLst/>
          </a:prstGeom>
          <a:ln w="6350">
            <a:solidFill>
              <a:srgbClr val="D9D9D9"/>
            </a:solidFill>
          </a:ln>
        </p:spPr>
      </p:pic>
      <p:sp>
        <p:nvSpPr>
          <p:cNvPr id="7" name="TextBox 6"/>
          <p:cNvSpPr txBox="1"/>
          <p:nvPr/>
        </p:nvSpPr>
        <p:spPr>
          <a:xfrm>
            <a:off x="4846320" y="3364992"/>
            <a:ext cx="3840480" cy="274320"/>
          </a:xfrm>
          <a:prstGeom prst="rect">
            <a:avLst/>
          </a:prstGeom>
          <a:noFill/>
        </p:spPr>
        <p:txBody>
          <a:bodyPr wrap="square" lIns="0" rIns="0" tIns="0" bIns="0" anchor="t">
            <a:spAutoFit/>
          </a:bodyPr>
          <a:lstStyle/>
          <a:p>
            <a:pPr algn="l"/>
            <a:r>
              <a:rPr sz="1000" b="0">
                <a:solidFill>
                  <a:srgbClr val="64748B"/>
                </a:solidFill>
                <a:latin typeface="Calibri"/>
                <a:ea typeface="Calibri"/>
                <a:cs typeface="Calibri"/>
              </a:rPr>
              <a:t>Fig. 4 (paper): mean MAE of 3 baselines (grey) and 4 models</a:t>
            </a:r>
          </a:p>
        </p:txBody>
      </p:sp>
      <p:sp>
        <p:nvSpPr>
          <p:cNvPr id="8" name="Rectangle 7"/>
          <p:cNvSpPr/>
          <p:nvPr/>
        </p:nvSpPr>
        <p:spPr>
          <a:xfrm>
            <a:off x="4846320" y="3657600"/>
            <a:ext cx="3840480" cy="1234440"/>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937759" y="3712463"/>
            <a:ext cx="3657600" cy="1124712"/>
          </a:xfrm>
          <a:prstGeom prst="rect">
            <a:avLst/>
          </a:prstGeom>
          <a:noFill/>
        </p:spPr>
        <p:txBody>
          <a:bodyPr wrap="square" lIns="36576" rIns="36576" tIns="36576" bIns="36576" anchor="t">
            <a:spAutoFit/>
          </a:bodyPr>
          <a:lstStyle/>
          <a:p>
            <a:pPr algn="l">
              <a:spcAft>
                <a:spcPts val="200"/>
              </a:spcAft>
            </a:pPr>
            <a:r>
              <a:rPr sz="1200" b="1">
                <a:solidFill>
                  <a:srgbClr val="EA580C"/>
                </a:solidFill>
                <a:latin typeface="Calibri"/>
                <a:ea typeface="Calibri"/>
                <a:cs typeface="Calibri"/>
              </a:rPr>
              <a:t>LightGBM 37.9 · MLP 38.0 · Extra Trees 39.9</a:t>
            </a:r>
          </a:p>
          <a:p>
            <a:pPr algn="l">
              <a:spcAft>
                <a:spcPts val="200"/>
              </a:spcAft>
            </a:pPr>
            <a:r>
              <a:rPr sz="1100" b="0">
                <a:solidFill>
                  <a:srgbClr val="2C2C2C"/>
                </a:solidFill>
                <a:latin typeface="Calibri"/>
                <a:ea typeface="Calibri"/>
                <a:cs typeface="Calibri"/>
              </a:rPr>
              <a:t>43.7% below persistence, but the gaps are smaller than the quarter SD (4.6–8.7), and the order changes without 2024-Q1.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d"/>
          <p:cNvSpPr txBox="1"/>
          <p:nvPr/>
        </p:nvSpPr>
        <p:spPr>
          <a:xfrm>
            <a:off x="457200" y="182880"/>
            <a:ext cx="8229600" cy="777240"/>
          </a:xfrm>
          <a:prstGeom prst="rect">
            <a:avLst/>
          </a:prstGeom>
          <a:noFill/>
        </p:spPr>
        <p:txBody>
          <a:bodyPr wrap="square" lIns="0" rIns="0" tIns="0" bIns="0" anchor="ctr">
            <a:spAutoFit/>
          </a:bodyPr>
          <a:lstStyle/>
          <a:p>
            <a:pPr algn="l"/>
            <a:r>
              <a:rPr sz="2800" b="1">
                <a:solidFill>
                  <a:srgbClr val="1F3864"/>
                </a:solidFill>
                <a:latin typeface="Calibri"/>
                <a:ea typeface="Calibri"/>
                <a:cs typeface="Calibri"/>
              </a:rPr>
              <a:t>RQ2 — Quarter by quarter, the echo reappears</a:t>
            </a:r>
          </a:p>
        </p:txBody>
      </p:sp>
      <p:cxnSp>
        <p:nvCxnSpPr>
          <p:cNvPr id="3" name="Div"/>
          <p:cNvCxnSpPr/>
          <p:nvPr/>
        </p:nvCxnSpPr>
        <p:spPr>
          <a:xfrm>
            <a:off x="457200" y="960120"/>
            <a:ext cx="8229600" cy="0"/>
          </a:xfrm>
          <a:prstGeom prst="line">
            <a:avLst/>
          </a:prstGeom>
          <a:ln w="19050">
            <a:solidFill>
              <a:srgbClr val="4472C4"/>
            </a:solidFill>
          </a:ln>
        </p:spPr>
        <p:style>
          <a:lnRef idx="2">
            <a:schemeClr val="accent1"/>
          </a:lnRef>
          <a:fillRef idx="0">
            <a:schemeClr val="accent1"/>
          </a:fillRef>
          <a:effectRef idx="1">
            <a:schemeClr val="accent1"/>
          </a:effectRef>
          <a:fontRef idx="minor">
            <a:schemeClr val="tx1"/>
          </a:fontRef>
        </p:style>
      </p:cxnSp>
      <p:graphicFrame>
        <p:nvGraphicFramePr>
          <p:cNvPr id="4" name="Table 3"/>
          <p:cNvGraphicFramePr>
            <a:graphicFrameLocks noGrp="1"/>
          </p:cNvGraphicFramePr>
          <p:nvPr/>
        </p:nvGraphicFramePr>
        <p:xfrm>
          <a:off x="457200" y="1097280"/>
          <a:ext cx="5486397" cy="3044952"/>
        </p:xfrm>
        <a:graphic>
          <a:graphicData uri="http://schemas.openxmlformats.org/drawingml/2006/table">
            <a:tbl>
              <a:tblPr firstRow="0" bandRow="0">
                <a:tableStyleId>{5C22544A-7EE6-4342-B048-85BDC9FD1C3A}</a:tableStyleId>
              </a:tblPr>
              <a:tblGrid>
                <a:gridCol w="868679"/>
                <a:gridCol w="960120"/>
                <a:gridCol w="1005840"/>
                <a:gridCol w="640079"/>
                <a:gridCol w="640079"/>
                <a:gridCol w="777240"/>
                <a:gridCol w="594360"/>
              </a:tblGrid>
              <a:tr h="338328">
                <a:tc>
                  <a:txBody>
                    <a:bodyPr wrap="square"/>
                    <a:lstStyle/>
                    <a:p>
                      <a:pPr algn="ctr"/>
                      <a:r>
                        <a:rPr sz="1100" b="1">
                          <a:solidFill>
                            <a:srgbClr val="FFFFFF"/>
                          </a:solidFill>
                          <a:latin typeface="Calibri"/>
                          <a:ea typeface="Calibri"/>
                          <a:cs typeface="Calibri"/>
                        </a:rPr>
                        <a:t>Quarter</a:t>
                      </a:r>
                    </a:p>
                  </a:txBody>
                  <a:tcPr marL="54864" marR="54864" marT="22860" marB="22860" anchor="ctr">
                    <a:solidFill>
                      <a:srgbClr val="1F3864"/>
                    </a:solidFill>
                  </a:tcPr>
                </a:tc>
                <a:tc>
                  <a:txBody>
                    <a:bodyPr wrap="square"/>
                    <a:lstStyle/>
                    <a:p>
                      <a:pPr algn="ctr"/>
                      <a:r>
                        <a:rPr sz="1100" b="1">
                          <a:solidFill>
                            <a:srgbClr val="FFFFFF"/>
                          </a:solidFill>
                          <a:latin typeface="Calibri"/>
                          <a:ea typeface="Calibri"/>
                          <a:cs typeface="Calibri"/>
                        </a:rPr>
                        <a:t>Week-after days</a:t>
                      </a:r>
                    </a:p>
                  </a:txBody>
                  <a:tcPr marL="54864" marR="54864" marT="22860" marB="22860" anchor="ctr">
                    <a:solidFill>
                      <a:srgbClr val="1F3864"/>
                    </a:solidFill>
                  </a:tcPr>
                </a:tc>
                <a:tc>
                  <a:txBody>
                    <a:bodyPr wrap="square"/>
                    <a:lstStyle/>
                    <a:p>
                      <a:pPr algn="ctr"/>
                      <a:r>
                        <a:rPr sz="1100" b="1">
                          <a:solidFill>
                            <a:srgbClr val="FFFFFF"/>
                          </a:solidFill>
                          <a:latin typeface="Calibri"/>
                          <a:ea typeface="Calibri"/>
                          <a:cs typeface="Calibri"/>
                        </a:rPr>
                        <a:t>Persistence MAE</a:t>
                      </a:r>
                    </a:p>
                  </a:txBody>
                  <a:tcPr marL="54864" marR="54864" marT="22860" marB="22860" anchor="ctr">
                    <a:solidFill>
                      <a:srgbClr val="1F3864"/>
                    </a:solidFill>
                  </a:tcPr>
                </a:tc>
                <a:tc>
                  <a:txBody>
                    <a:bodyPr wrap="square"/>
                    <a:lstStyle/>
                    <a:p>
                      <a:pPr algn="ctr"/>
                      <a:r>
                        <a:rPr sz="1100" b="1">
                          <a:solidFill>
                            <a:srgbClr val="FFFFFF"/>
                          </a:solidFill>
                          <a:latin typeface="Calibri"/>
                          <a:ea typeface="Calibri"/>
                          <a:cs typeface="Calibri"/>
                        </a:rPr>
                        <a:t>SHLW</a:t>
                      </a:r>
                    </a:p>
                  </a:txBody>
                  <a:tcPr marL="54864" marR="54864" marT="22860" marB="22860" anchor="ctr">
                    <a:solidFill>
                      <a:srgbClr val="1F3864"/>
                    </a:solidFill>
                  </a:tcPr>
                </a:tc>
                <a:tc>
                  <a:txBody>
                    <a:bodyPr wrap="square"/>
                    <a:lstStyle/>
                    <a:p>
                      <a:pPr algn="ctr"/>
                      <a:r>
                        <a:rPr sz="1100" b="1">
                          <a:solidFill>
                            <a:srgbClr val="FFFFFF"/>
                          </a:solidFill>
                          <a:latin typeface="Calibri"/>
                          <a:ea typeface="Calibri"/>
                          <a:cs typeface="Calibri"/>
                        </a:rPr>
                        <a:t>Med3</a:t>
                      </a:r>
                    </a:p>
                  </a:txBody>
                  <a:tcPr marL="54864" marR="54864" marT="22860" marB="22860" anchor="ctr">
                    <a:solidFill>
                      <a:srgbClr val="1F3864"/>
                    </a:solidFill>
                  </a:tcPr>
                </a:tc>
                <a:tc>
                  <a:txBody>
                    <a:bodyPr wrap="square"/>
                    <a:lstStyle/>
                    <a:p>
                      <a:pPr algn="ctr"/>
                      <a:r>
                        <a:rPr sz="1100" b="1">
                          <a:solidFill>
                            <a:srgbClr val="FFFFFF"/>
                          </a:solidFill>
                          <a:latin typeface="Calibri"/>
                          <a:ea typeface="Calibri"/>
                          <a:cs typeface="Calibri"/>
                        </a:rPr>
                        <a:t>LightGBM</a:t>
                      </a:r>
                    </a:p>
                  </a:txBody>
                  <a:tcPr marL="54864" marR="54864" marT="22860" marB="22860" anchor="ctr">
                    <a:solidFill>
                      <a:srgbClr val="1F3864"/>
                    </a:solidFill>
                  </a:tcPr>
                </a:tc>
                <a:tc>
                  <a:txBody>
                    <a:bodyPr wrap="square"/>
                    <a:lstStyle/>
                    <a:p>
                      <a:pPr algn="ctr"/>
                      <a:r>
                        <a:rPr sz="1100" b="1">
                          <a:solidFill>
                            <a:srgbClr val="FFFFFF"/>
                          </a:solidFill>
                          <a:latin typeface="Calibri"/>
                          <a:ea typeface="Calibri"/>
                          <a:cs typeface="Calibri"/>
                        </a:rPr>
                        <a:t>MLP</a:t>
                      </a:r>
                    </a:p>
                  </a:txBody>
                  <a:tcPr marL="54864" marR="54864" marT="22860" marB="22860" anchor="ctr">
                    <a:solidFill>
                      <a:srgbClr val="1F3864"/>
                    </a:solidFill>
                  </a:tcPr>
                </a:tc>
              </a:tr>
              <a:tr h="338328">
                <a:tc>
                  <a:txBody>
                    <a:bodyPr wrap="square"/>
                    <a:lstStyle/>
                    <a:p>
                      <a:pPr algn="l"/>
                      <a:r>
                        <a:rPr sz="1150" b="0">
                          <a:solidFill>
                            <a:srgbClr val="2C2C2C"/>
                          </a:solidFill>
                          <a:latin typeface="Calibri"/>
                          <a:ea typeface="Calibri"/>
                          <a:cs typeface="Calibri"/>
                        </a:rPr>
                        <a:t>2023-Q1</a:t>
                      </a:r>
                    </a:p>
                  </a:txBody>
                  <a:tcPr marL="54864" marR="54864" marT="22860" marB="22860" anchor="ctr">
                    <a:solidFill>
                      <a:srgbClr val="EEF2FF"/>
                    </a:solidFill>
                  </a:tcPr>
                </a:tc>
                <a:tc>
                  <a:txBody>
                    <a:bodyPr wrap="square"/>
                    <a:lstStyle/>
                    <a:p>
                      <a:pPr algn="ctr"/>
                      <a:r>
                        <a:rPr sz="1150" b="0">
                          <a:solidFill>
                            <a:srgbClr val="2C2C2C"/>
                          </a:solidFill>
                          <a:latin typeface="Calibri"/>
                          <a:ea typeface="Calibri"/>
                          <a:cs typeface="Calibri"/>
                        </a:rPr>
                        <a:t>1</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59.0</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0.768</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0.667</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0.509</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0.552</a:t>
                      </a:r>
                    </a:p>
                  </a:txBody>
                  <a:tcPr marL="54864" marR="54864" marT="22860" marB="22860" anchor="ctr">
                    <a:solidFill>
                      <a:srgbClr val="EEF2FF"/>
                    </a:solidFill>
                  </a:tcPr>
                </a:tc>
              </a:tr>
              <a:tr h="338328">
                <a:tc>
                  <a:txBody>
                    <a:bodyPr wrap="square"/>
                    <a:lstStyle/>
                    <a:p>
                      <a:pPr algn="l"/>
                      <a:r>
                        <a:rPr sz="1150" b="0">
                          <a:solidFill>
                            <a:srgbClr val="2C2C2C"/>
                          </a:solidFill>
                          <a:latin typeface="Calibri"/>
                          <a:ea typeface="Calibri"/>
                          <a:cs typeface="Calibri"/>
                        </a:rPr>
                        <a:t>2023-Q2</a:t>
                      </a:r>
                    </a:p>
                  </a:txBody>
                  <a:tcPr marL="54864" marR="54864" marT="22860" marB="22860" anchor="ctr">
                    <a:solidFill>
                      <a:srgbClr val="FFFFFF"/>
                    </a:solidFill>
                  </a:tcPr>
                </a:tc>
                <a:tc>
                  <a:txBody>
                    <a:bodyPr wrap="square"/>
                    <a:lstStyle/>
                    <a:p>
                      <a:pPr algn="ctr"/>
                      <a:r>
                        <a:rPr sz="1150" b="1">
                          <a:solidFill>
                            <a:srgbClr val="2C2C2C"/>
                          </a:solidFill>
                          <a:latin typeface="Calibri"/>
                          <a:ea typeface="Calibri"/>
                          <a:cs typeface="Calibri"/>
                        </a:rPr>
                        <a:t>6</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58.1</a:t>
                      </a:r>
                    </a:p>
                  </a:txBody>
                  <a:tcPr marL="54864" marR="54864" marT="22860" marB="22860" anchor="ctr">
                    <a:solidFill>
                      <a:srgbClr val="FFFFFF"/>
                    </a:solidFill>
                  </a:tcPr>
                </a:tc>
                <a:tc>
                  <a:txBody>
                    <a:bodyPr wrap="square"/>
                    <a:lstStyle/>
                    <a:p>
                      <a:pPr algn="r"/>
                      <a:r>
                        <a:rPr sz="1150" b="1">
                          <a:solidFill>
                            <a:srgbClr val="B91C1C"/>
                          </a:solidFill>
                          <a:latin typeface="Calibri"/>
                          <a:ea typeface="Calibri"/>
                          <a:cs typeface="Calibri"/>
                        </a:rPr>
                        <a:t>1.169</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0.985</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0.643</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0.689</a:t>
                      </a:r>
                    </a:p>
                  </a:txBody>
                  <a:tcPr marL="54864" marR="54864" marT="22860" marB="22860" anchor="ctr">
                    <a:solidFill>
                      <a:srgbClr val="FFFFFF"/>
                    </a:solidFill>
                  </a:tcPr>
                </a:tc>
              </a:tr>
              <a:tr h="338328">
                <a:tc>
                  <a:txBody>
                    <a:bodyPr wrap="square"/>
                    <a:lstStyle/>
                    <a:p>
                      <a:pPr algn="l"/>
                      <a:r>
                        <a:rPr sz="1150" b="0">
                          <a:solidFill>
                            <a:srgbClr val="2C2C2C"/>
                          </a:solidFill>
                          <a:latin typeface="Calibri"/>
                          <a:ea typeface="Calibri"/>
                          <a:cs typeface="Calibri"/>
                        </a:rPr>
                        <a:t>2023-Q3</a:t>
                      </a:r>
                    </a:p>
                  </a:txBody>
                  <a:tcPr marL="54864" marR="54864" marT="22860" marB="22860" anchor="ctr">
                    <a:solidFill>
                      <a:srgbClr val="EEF2FF"/>
                    </a:solidFill>
                  </a:tcPr>
                </a:tc>
                <a:tc>
                  <a:txBody>
                    <a:bodyPr wrap="square"/>
                    <a:lstStyle/>
                    <a:p>
                      <a:pPr algn="ctr"/>
                      <a:r>
                        <a:rPr sz="1150" b="1">
                          <a:solidFill>
                            <a:srgbClr val="2C2C2C"/>
                          </a:solidFill>
                          <a:latin typeface="Calibri"/>
                          <a:ea typeface="Calibri"/>
                          <a:cs typeface="Calibri"/>
                        </a:rPr>
                        <a:t>7</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62.8</a:t>
                      </a:r>
                    </a:p>
                  </a:txBody>
                  <a:tcPr marL="54864" marR="54864" marT="22860" marB="22860" anchor="ctr">
                    <a:solidFill>
                      <a:srgbClr val="EEF2FF"/>
                    </a:solidFill>
                  </a:tcPr>
                </a:tc>
                <a:tc>
                  <a:txBody>
                    <a:bodyPr wrap="square"/>
                    <a:lstStyle/>
                    <a:p>
                      <a:pPr algn="r"/>
                      <a:r>
                        <a:rPr sz="1150" b="1">
                          <a:solidFill>
                            <a:srgbClr val="B91C1C"/>
                          </a:solidFill>
                          <a:latin typeface="Calibri"/>
                          <a:ea typeface="Calibri"/>
                          <a:cs typeface="Calibri"/>
                        </a:rPr>
                        <a:t>1.212</a:t>
                      </a:r>
                    </a:p>
                  </a:txBody>
                  <a:tcPr marL="54864" marR="54864" marT="22860" marB="22860" anchor="ctr">
                    <a:solidFill>
                      <a:srgbClr val="EEF2FF"/>
                    </a:solidFill>
                  </a:tcPr>
                </a:tc>
                <a:tc>
                  <a:txBody>
                    <a:bodyPr wrap="square"/>
                    <a:lstStyle/>
                    <a:p>
                      <a:pPr algn="r"/>
                      <a:r>
                        <a:rPr sz="1150" b="1">
                          <a:solidFill>
                            <a:srgbClr val="B91C1C"/>
                          </a:solidFill>
                          <a:latin typeface="Calibri"/>
                          <a:ea typeface="Calibri"/>
                          <a:cs typeface="Calibri"/>
                        </a:rPr>
                        <a:t>1.010</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0.717</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0.737</a:t>
                      </a:r>
                    </a:p>
                  </a:txBody>
                  <a:tcPr marL="54864" marR="54864" marT="22860" marB="22860" anchor="ctr">
                    <a:solidFill>
                      <a:srgbClr val="EEF2FF"/>
                    </a:solidFill>
                  </a:tcPr>
                </a:tc>
              </a:tr>
              <a:tr h="338328">
                <a:tc>
                  <a:txBody>
                    <a:bodyPr wrap="square"/>
                    <a:lstStyle/>
                    <a:p>
                      <a:pPr algn="l"/>
                      <a:r>
                        <a:rPr sz="1150" b="0">
                          <a:solidFill>
                            <a:srgbClr val="2C2C2C"/>
                          </a:solidFill>
                          <a:latin typeface="Calibri"/>
                          <a:ea typeface="Calibri"/>
                          <a:cs typeface="Calibri"/>
                        </a:rPr>
                        <a:t>2023-Q4</a:t>
                      </a:r>
                    </a:p>
                  </a:txBody>
                  <a:tcPr marL="54864" marR="54864" marT="22860" marB="22860" anchor="ctr">
                    <a:solidFill>
                      <a:srgbClr val="FFFFFF"/>
                    </a:solidFill>
                  </a:tcPr>
                </a:tc>
                <a:tc>
                  <a:txBody>
                    <a:bodyPr wrap="square"/>
                    <a:lstStyle/>
                    <a:p>
                      <a:pPr algn="ctr"/>
                      <a:r>
                        <a:rPr sz="1150" b="0">
                          <a:solidFill>
                            <a:srgbClr val="2C2C2C"/>
                          </a:solidFill>
                          <a:latin typeface="Calibri"/>
                          <a:ea typeface="Calibri"/>
                          <a:cs typeface="Calibri"/>
                        </a:rPr>
                        <a:t>2</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58.4</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0.968</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0.864</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0.615</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0.622</a:t>
                      </a:r>
                    </a:p>
                  </a:txBody>
                  <a:tcPr marL="54864" marR="54864" marT="22860" marB="22860" anchor="ctr">
                    <a:solidFill>
                      <a:srgbClr val="FFFFFF"/>
                    </a:solidFill>
                  </a:tcPr>
                </a:tc>
              </a:tr>
              <a:tr h="338328">
                <a:tc>
                  <a:txBody>
                    <a:bodyPr wrap="square"/>
                    <a:lstStyle/>
                    <a:p>
                      <a:pPr algn="l"/>
                      <a:r>
                        <a:rPr sz="1150" b="0">
                          <a:solidFill>
                            <a:srgbClr val="2C2C2C"/>
                          </a:solidFill>
                          <a:latin typeface="Calibri"/>
                          <a:ea typeface="Calibri"/>
                          <a:cs typeface="Calibri"/>
                        </a:rPr>
                        <a:t>2024-Q1</a:t>
                      </a:r>
                    </a:p>
                  </a:txBody>
                  <a:tcPr marL="54864" marR="54864" marT="22860" marB="22860" anchor="ctr">
                    <a:solidFill>
                      <a:srgbClr val="EEF2FF"/>
                    </a:solidFill>
                  </a:tcPr>
                </a:tc>
                <a:tc>
                  <a:txBody>
                    <a:bodyPr wrap="square"/>
                    <a:lstStyle/>
                    <a:p>
                      <a:pPr algn="ctr"/>
                      <a:r>
                        <a:rPr sz="1150" b="0">
                          <a:solidFill>
                            <a:srgbClr val="2C2C2C"/>
                          </a:solidFill>
                          <a:latin typeface="Calibri"/>
                          <a:ea typeface="Calibri"/>
                          <a:cs typeface="Calibri"/>
                        </a:rPr>
                        <a:t>1</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80.8</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0.526</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0.499</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0.574</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0.478</a:t>
                      </a:r>
                    </a:p>
                  </a:txBody>
                  <a:tcPr marL="54864" marR="54864" marT="22860" marB="22860" anchor="ctr">
                    <a:solidFill>
                      <a:srgbClr val="EEF2FF"/>
                    </a:solidFill>
                  </a:tcPr>
                </a:tc>
              </a:tr>
              <a:tr h="338328">
                <a:tc>
                  <a:txBody>
                    <a:bodyPr wrap="square"/>
                    <a:lstStyle/>
                    <a:p>
                      <a:pPr algn="l"/>
                      <a:r>
                        <a:rPr sz="1150" b="0">
                          <a:solidFill>
                            <a:srgbClr val="2C2C2C"/>
                          </a:solidFill>
                          <a:latin typeface="Calibri"/>
                          <a:ea typeface="Calibri"/>
                          <a:cs typeface="Calibri"/>
                        </a:rPr>
                        <a:t>2024-Q2</a:t>
                      </a:r>
                    </a:p>
                  </a:txBody>
                  <a:tcPr marL="54864" marR="54864" marT="22860" marB="22860" anchor="ctr">
                    <a:solidFill>
                      <a:srgbClr val="FFFFFF"/>
                    </a:solidFill>
                  </a:tcPr>
                </a:tc>
                <a:tc>
                  <a:txBody>
                    <a:bodyPr wrap="square"/>
                    <a:lstStyle/>
                    <a:p>
                      <a:pPr algn="ctr"/>
                      <a:r>
                        <a:rPr sz="1150" b="1">
                          <a:solidFill>
                            <a:srgbClr val="2C2C2C"/>
                          </a:solidFill>
                          <a:latin typeface="Calibri"/>
                          <a:ea typeface="Calibri"/>
                          <a:cs typeface="Calibri"/>
                        </a:rPr>
                        <a:t>12</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75.0</a:t>
                      </a:r>
                    </a:p>
                  </a:txBody>
                  <a:tcPr marL="54864" marR="54864" marT="22860" marB="22860" anchor="ctr">
                    <a:solidFill>
                      <a:srgbClr val="FFFFFF"/>
                    </a:solidFill>
                  </a:tcPr>
                </a:tc>
                <a:tc>
                  <a:txBody>
                    <a:bodyPr wrap="square"/>
                    <a:lstStyle/>
                    <a:p>
                      <a:pPr algn="r"/>
                      <a:r>
                        <a:rPr sz="1150" b="1">
                          <a:solidFill>
                            <a:srgbClr val="B91C1C"/>
                          </a:solidFill>
                          <a:latin typeface="Calibri"/>
                          <a:ea typeface="Calibri"/>
                          <a:cs typeface="Calibri"/>
                        </a:rPr>
                        <a:t>1.352</a:t>
                      </a:r>
                    </a:p>
                  </a:txBody>
                  <a:tcPr marL="54864" marR="54864" marT="22860" marB="22860" anchor="ctr">
                    <a:solidFill>
                      <a:srgbClr val="FFFFFF"/>
                    </a:solidFill>
                  </a:tcPr>
                </a:tc>
                <a:tc>
                  <a:txBody>
                    <a:bodyPr wrap="square"/>
                    <a:lstStyle/>
                    <a:p>
                      <a:pPr algn="r"/>
                      <a:r>
                        <a:rPr sz="1150" b="1">
                          <a:solidFill>
                            <a:srgbClr val="B91C1C"/>
                          </a:solidFill>
                          <a:latin typeface="Calibri"/>
                          <a:ea typeface="Calibri"/>
                          <a:cs typeface="Calibri"/>
                        </a:rPr>
                        <a:t>1.087</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0.579</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0.544</a:t>
                      </a:r>
                    </a:p>
                  </a:txBody>
                  <a:tcPr marL="54864" marR="54864" marT="22860" marB="22860" anchor="ctr">
                    <a:solidFill>
                      <a:srgbClr val="FFFFFF"/>
                    </a:solidFill>
                  </a:tcPr>
                </a:tc>
              </a:tr>
              <a:tr h="338328">
                <a:tc>
                  <a:txBody>
                    <a:bodyPr wrap="square"/>
                    <a:lstStyle/>
                    <a:p>
                      <a:pPr algn="l"/>
                      <a:r>
                        <a:rPr sz="1150" b="0">
                          <a:solidFill>
                            <a:srgbClr val="2C2C2C"/>
                          </a:solidFill>
                          <a:latin typeface="Calibri"/>
                          <a:ea typeface="Calibri"/>
                          <a:cs typeface="Calibri"/>
                        </a:rPr>
                        <a:t>2024-Q3</a:t>
                      </a:r>
                    </a:p>
                  </a:txBody>
                  <a:tcPr marL="54864" marR="54864" marT="22860" marB="22860" anchor="ctr">
                    <a:solidFill>
                      <a:srgbClr val="EEF2FF"/>
                    </a:solidFill>
                  </a:tcPr>
                </a:tc>
                <a:tc>
                  <a:txBody>
                    <a:bodyPr wrap="square"/>
                    <a:lstStyle/>
                    <a:p>
                      <a:pPr algn="ctr"/>
                      <a:r>
                        <a:rPr sz="1150" b="0">
                          <a:solidFill>
                            <a:srgbClr val="2C2C2C"/>
                          </a:solidFill>
                          <a:latin typeface="Calibri"/>
                          <a:ea typeface="Calibri"/>
                          <a:cs typeface="Calibri"/>
                        </a:rPr>
                        <a:t>2</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72.7</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0.557</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0.544</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0.412</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0.448</a:t>
                      </a:r>
                    </a:p>
                  </a:txBody>
                  <a:tcPr marL="54864" marR="54864" marT="22860" marB="22860" anchor="ctr">
                    <a:solidFill>
                      <a:srgbClr val="EEF2FF"/>
                    </a:solidFill>
                  </a:tcPr>
                </a:tc>
              </a:tr>
              <a:tr h="338328">
                <a:tc>
                  <a:txBody>
                    <a:bodyPr wrap="square"/>
                    <a:lstStyle/>
                    <a:p>
                      <a:pPr algn="l"/>
                      <a:r>
                        <a:rPr sz="1150" b="0">
                          <a:solidFill>
                            <a:srgbClr val="2C2C2C"/>
                          </a:solidFill>
                          <a:latin typeface="Calibri"/>
                          <a:ea typeface="Calibri"/>
                          <a:cs typeface="Calibri"/>
                        </a:rPr>
                        <a:t>2024-Q4</a:t>
                      </a:r>
                    </a:p>
                  </a:txBody>
                  <a:tcPr marL="54864" marR="54864" marT="22860" marB="22860" anchor="ctr">
                    <a:solidFill>
                      <a:srgbClr val="FFFFFF"/>
                    </a:solidFill>
                  </a:tcPr>
                </a:tc>
                <a:tc>
                  <a:txBody>
                    <a:bodyPr wrap="square"/>
                    <a:lstStyle/>
                    <a:p>
                      <a:pPr algn="ctr"/>
                      <a:r>
                        <a:rPr sz="1150" b="0">
                          <a:solidFill>
                            <a:srgbClr val="2C2C2C"/>
                          </a:solidFill>
                          <a:latin typeface="Calibri"/>
                          <a:ea typeface="Calibri"/>
                          <a:cs typeface="Calibri"/>
                        </a:rPr>
                        <a:t>2</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78.2</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0.715</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0.656</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0.451</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0.468</a:t>
                      </a:r>
                    </a:p>
                  </a:txBody>
                  <a:tcPr marL="54864" marR="54864" marT="22860" marB="22860" anchor="ctr">
                    <a:solidFill>
                      <a:srgbClr val="FFFFFF"/>
                    </a:solidFill>
                  </a:tcPr>
                </a:tc>
              </a:tr>
            </a:tbl>
          </a:graphicData>
        </a:graphic>
      </p:graphicFrame>
      <p:sp>
        <p:nvSpPr>
          <p:cNvPr id="5" name="Caption"/>
          <p:cNvSpPr txBox="1"/>
          <p:nvPr/>
        </p:nvSpPr>
        <p:spPr>
          <a:xfrm>
            <a:off x="457200" y="4206240"/>
            <a:ext cx="5486400" cy="365760"/>
          </a:xfrm>
          <a:prstGeom prst="rect">
            <a:avLst/>
          </a:prstGeom>
          <a:noFill/>
        </p:spPr>
        <p:txBody>
          <a:bodyPr wrap="square" lIns="0" rIns="0" tIns="0" bIns="0" anchor="t">
            <a:spAutoFit/>
          </a:bodyPr>
          <a:lstStyle/>
          <a:p>
            <a:pPr algn="l"/>
            <a:r>
              <a:rPr sz="1000" b="0">
                <a:solidFill>
                  <a:srgbClr val="64748B"/>
                </a:solidFill>
                <a:latin typeface="Calibri"/>
                <a:ea typeface="Calibri"/>
                <a:cs typeface="Calibri"/>
              </a:rPr>
              <a:t>Table 2 (paper): MASE per quarter; SHLW = same hour last week, Med3 = median of 3 weeks; red = worse than persistence.</a:t>
            </a:r>
          </a:p>
        </p:txBody>
      </p:sp>
      <p:sp>
        <p:nvSpPr>
          <p:cNvPr id="6" name="Rectangle 5"/>
          <p:cNvSpPr/>
          <p:nvPr/>
        </p:nvSpPr>
        <p:spPr>
          <a:xfrm>
            <a:off x="6126480" y="1097280"/>
            <a:ext cx="2560320" cy="1783080"/>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217920" y="1152144"/>
            <a:ext cx="2377439" cy="1673352"/>
          </a:xfrm>
          <a:prstGeom prst="rect">
            <a:avLst/>
          </a:prstGeom>
          <a:noFill/>
        </p:spPr>
        <p:txBody>
          <a:bodyPr wrap="square" lIns="36576" rIns="36576" tIns="36576" bIns="36576" anchor="t">
            <a:spAutoFit/>
          </a:bodyPr>
          <a:lstStyle/>
          <a:p>
            <a:pPr algn="l">
              <a:spcAft>
                <a:spcPts val="200"/>
              </a:spcAft>
            </a:pPr>
            <a:r>
              <a:rPr sz="1250" b="1">
                <a:solidFill>
                  <a:srgbClr val="B91C1C"/>
                </a:solidFill>
                <a:latin typeface="Calibri"/>
                <a:ea typeface="Calibri"/>
                <a:cs typeface="Calibri"/>
              </a:rPr>
              <a:t>Copying last week fails</a:t>
            </a:r>
          </a:p>
          <a:p>
            <a:pPr algn="l">
              <a:spcAft>
                <a:spcPts val="200"/>
              </a:spcAft>
            </a:pPr>
            <a:r>
              <a:rPr sz="1150" b="0">
                <a:solidFill>
                  <a:srgbClr val="2C2C2C"/>
                </a:solidFill>
                <a:latin typeface="Calibri"/>
                <a:ea typeface="Calibri"/>
                <a:cs typeface="Calibri"/>
              </a:rPr>
              <a:t>SHLW is worse than persistence in exactly the 3 quarters with the most week-after days (6, 7, 12 vs 1–2).</a:t>
            </a:r>
          </a:p>
        </p:txBody>
      </p:sp>
      <p:sp>
        <p:nvSpPr>
          <p:cNvPr id="8" name="Rectangle 7"/>
          <p:cNvSpPr/>
          <p:nvPr/>
        </p:nvSpPr>
        <p:spPr>
          <a:xfrm>
            <a:off x="6126480" y="3017520"/>
            <a:ext cx="2560320" cy="1783080"/>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217920" y="3072384"/>
            <a:ext cx="2377439" cy="1673352"/>
          </a:xfrm>
          <a:prstGeom prst="rect">
            <a:avLst/>
          </a:prstGeom>
          <a:noFill/>
        </p:spPr>
        <p:txBody>
          <a:bodyPr wrap="square" lIns="36576" rIns="36576" tIns="36576" bIns="36576" anchor="t">
            <a:spAutoFit/>
          </a:bodyPr>
          <a:lstStyle/>
          <a:p>
            <a:pPr algn="l">
              <a:spcAft>
                <a:spcPts val="200"/>
              </a:spcAft>
            </a:pPr>
            <a:r>
              <a:rPr sz="1250" b="1">
                <a:solidFill>
                  <a:srgbClr val="0D9488"/>
                </a:solidFill>
                <a:latin typeface="Calibri"/>
                <a:ea typeface="Calibri"/>
                <a:cs typeface="Calibri"/>
              </a:rPr>
              <a:t>Models keep improving</a:t>
            </a:r>
          </a:p>
          <a:p>
            <a:pPr algn="l">
              <a:spcAft>
                <a:spcPts val="200"/>
              </a:spcAft>
            </a:pPr>
            <a:r>
              <a:rPr sz="1150" b="0">
                <a:solidFill>
                  <a:srgbClr val="2C2C2C"/>
                </a:solidFill>
                <a:latin typeface="Calibri"/>
                <a:ea typeface="Calibri"/>
                <a:cs typeface="Calibri"/>
              </a:rPr>
              <a:t>Persistence MAE grows from 58.1–62.8 (2023) to 72.7–80.8 (2024), yet LightGBM MASE falls to 0.412–0.579.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d"/>
          <p:cNvSpPr txBox="1"/>
          <p:nvPr/>
        </p:nvSpPr>
        <p:spPr>
          <a:xfrm>
            <a:off x="457200" y="182880"/>
            <a:ext cx="8229600" cy="777240"/>
          </a:xfrm>
          <a:prstGeom prst="rect">
            <a:avLst/>
          </a:prstGeom>
          <a:noFill/>
        </p:spPr>
        <p:txBody>
          <a:bodyPr wrap="square" lIns="0" rIns="0" tIns="0" bIns="0" anchor="ctr">
            <a:spAutoFit/>
          </a:bodyPr>
          <a:lstStyle/>
          <a:p>
            <a:pPr algn="l"/>
            <a:r>
              <a:rPr sz="2800" b="1">
                <a:solidFill>
                  <a:srgbClr val="1F3864"/>
                </a:solidFill>
                <a:latin typeface="Calibri"/>
                <a:ea typeface="Calibri"/>
                <a:cs typeface="Calibri"/>
              </a:rPr>
              <a:t>RQ3 — One repair step does most of the work</a:t>
            </a:r>
          </a:p>
        </p:txBody>
      </p:sp>
      <p:cxnSp>
        <p:nvCxnSpPr>
          <p:cNvPr id="3" name="Div"/>
          <p:cNvCxnSpPr/>
          <p:nvPr/>
        </p:nvCxnSpPr>
        <p:spPr>
          <a:xfrm>
            <a:off x="457200" y="960120"/>
            <a:ext cx="8229600" cy="0"/>
          </a:xfrm>
          <a:prstGeom prst="line">
            <a:avLst/>
          </a:prstGeom>
          <a:ln w="19050">
            <a:solidFill>
              <a:srgbClr val="4472C4"/>
            </a:solidFill>
          </a:ln>
        </p:spPr>
        <p:style>
          <a:lnRef idx="2">
            <a:schemeClr val="accent1"/>
          </a:lnRef>
          <a:fillRef idx="0">
            <a:schemeClr val="accent1"/>
          </a:fillRef>
          <a:effectRef idx="1">
            <a:schemeClr val="accent1"/>
          </a:effectRef>
          <a:fontRef idx="minor">
            <a:schemeClr val="tx1"/>
          </a:fontRef>
        </p:style>
      </p:cxnSp>
      <p:graphicFrame>
        <p:nvGraphicFramePr>
          <p:cNvPr id="4" name="Table 3"/>
          <p:cNvGraphicFramePr>
            <a:graphicFrameLocks noGrp="1"/>
          </p:cNvGraphicFramePr>
          <p:nvPr/>
        </p:nvGraphicFramePr>
        <p:xfrm>
          <a:off x="457200" y="1097280"/>
          <a:ext cx="5486398" cy="2560320"/>
        </p:xfrm>
        <a:graphic>
          <a:graphicData uri="http://schemas.openxmlformats.org/drawingml/2006/table">
            <a:tbl>
              <a:tblPr firstRow="0" bandRow="0">
                <a:tableStyleId>{5C22544A-7EE6-4342-B048-85BDC9FD1C3A}</a:tableStyleId>
              </a:tblPr>
              <a:tblGrid>
                <a:gridCol w="1875692"/>
                <a:gridCol w="609600"/>
                <a:gridCol w="562707"/>
                <a:gridCol w="609600"/>
                <a:gridCol w="562707"/>
                <a:gridCol w="609600"/>
                <a:gridCol w="656492"/>
              </a:tblGrid>
              <a:tr h="365760">
                <a:tc>
                  <a:txBody>
                    <a:bodyPr wrap="square"/>
                    <a:lstStyle/>
                    <a:p>
                      <a:pPr algn="ctr"/>
                      <a:r>
                        <a:rPr sz="1150" b="1">
                          <a:solidFill>
                            <a:srgbClr val="FFFFFF"/>
                          </a:solidFill>
                          <a:latin typeface="Calibri"/>
                          <a:ea typeface="Calibri"/>
                          <a:cs typeface="Calibri"/>
                        </a:rPr>
                        <a:t>Step</a:t>
                      </a:r>
                    </a:p>
                  </a:txBody>
                  <a:tcPr marL="54864" marR="54864" marT="22860" marB="22860" anchor="ctr">
                    <a:solidFill>
                      <a:srgbClr val="1F3864"/>
                    </a:solidFill>
                  </a:tcPr>
                </a:tc>
                <a:tc>
                  <a:txBody>
                    <a:bodyPr wrap="square"/>
                    <a:lstStyle/>
                    <a:p>
                      <a:pPr algn="ctr"/>
                      <a:r>
                        <a:rPr sz="1150" b="1">
                          <a:solidFill>
                            <a:srgbClr val="FFFFFF"/>
                          </a:solidFill>
                          <a:latin typeface="Calibri"/>
                          <a:ea typeface="Calibri"/>
                          <a:cs typeface="Calibri"/>
                        </a:rPr>
                        <a:t>Ridge</a:t>
                      </a:r>
                    </a:p>
                  </a:txBody>
                  <a:tcPr marL="54864" marR="54864" marT="22860" marB="22860" anchor="ctr">
                    <a:solidFill>
                      <a:srgbClr val="1F3864"/>
                    </a:solidFill>
                  </a:tcPr>
                </a:tc>
                <a:tc>
                  <a:txBody>
                    <a:bodyPr wrap="square"/>
                    <a:lstStyle/>
                    <a:p>
                      <a:pPr algn="ctr"/>
                      <a:r>
                        <a:rPr sz="1150" b="1">
                          <a:solidFill>
                            <a:srgbClr val="FFFFFF"/>
                          </a:solidFill>
                          <a:latin typeface="Calibri"/>
                          <a:ea typeface="Calibri"/>
                          <a:cs typeface="Calibri"/>
                        </a:rPr>
                        <a:t>ET</a:t>
                      </a:r>
                    </a:p>
                  </a:txBody>
                  <a:tcPr marL="54864" marR="54864" marT="22860" marB="22860" anchor="ctr">
                    <a:solidFill>
                      <a:srgbClr val="1F3864"/>
                    </a:solidFill>
                  </a:tcPr>
                </a:tc>
                <a:tc>
                  <a:txBody>
                    <a:bodyPr wrap="square"/>
                    <a:lstStyle/>
                    <a:p>
                      <a:pPr algn="ctr"/>
                      <a:r>
                        <a:rPr sz="1150" b="1">
                          <a:solidFill>
                            <a:srgbClr val="FFFFFF"/>
                          </a:solidFill>
                          <a:latin typeface="Calibri"/>
                          <a:ea typeface="Calibri"/>
                          <a:cs typeface="Calibri"/>
                        </a:rPr>
                        <a:t>LGBM</a:t>
                      </a:r>
                    </a:p>
                  </a:txBody>
                  <a:tcPr marL="54864" marR="54864" marT="22860" marB="22860" anchor="ctr">
                    <a:solidFill>
                      <a:srgbClr val="1F3864"/>
                    </a:solidFill>
                  </a:tcPr>
                </a:tc>
                <a:tc>
                  <a:txBody>
                    <a:bodyPr wrap="square"/>
                    <a:lstStyle/>
                    <a:p>
                      <a:pPr algn="ctr"/>
                      <a:r>
                        <a:rPr sz="1150" b="1">
                          <a:solidFill>
                            <a:srgbClr val="FFFFFF"/>
                          </a:solidFill>
                          <a:latin typeface="Calibri"/>
                          <a:ea typeface="Calibri"/>
                          <a:cs typeface="Calibri"/>
                        </a:rPr>
                        <a:t>MLP</a:t>
                      </a:r>
                    </a:p>
                  </a:txBody>
                  <a:tcPr marL="54864" marR="54864" marT="22860" marB="22860" anchor="ctr">
                    <a:solidFill>
                      <a:srgbClr val="1F3864"/>
                    </a:solidFill>
                  </a:tcPr>
                </a:tc>
                <a:tc>
                  <a:txBody>
                    <a:bodyPr wrap="square"/>
                    <a:lstStyle/>
                    <a:p>
                      <a:pPr algn="ctr"/>
                      <a:r>
                        <a:rPr sz="1150" b="1">
                          <a:solidFill>
                            <a:srgbClr val="FFFFFF"/>
                          </a:solidFill>
                          <a:latin typeface="Calibri"/>
                          <a:ea typeface="Calibri"/>
                          <a:cs typeface="Calibri"/>
                        </a:rPr>
                        <a:t>Mean</a:t>
                      </a:r>
                    </a:p>
                  </a:txBody>
                  <a:tcPr marL="54864" marR="54864" marT="22860" marB="22860" anchor="ctr">
                    <a:solidFill>
                      <a:srgbClr val="1F3864"/>
                    </a:solidFill>
                  </a:tcPr>
                </a:tc>
                <a:tc>
                  <a:txBody>
                    <a:bodyPr wrap="square"/>
                    <a:lstStyle/>
                    <a:p>
                      <a:pPr algn="ctr"/>
                      <a:r>
                        <a:rPr sz="1150" b="1">
                          <a:solidFill>
                            <a:srgbClr val="FFFFFF"/>
                          </a:solidFill>
                          <a:latin typeface="Calibri"/>
                          <a:ea typeface="Calibri"/>
                          <a:cs typeface="Calibri"/>
                        </a:rPr>
                        <a:t>Δ</a:t>
                      </a:r>
                    </a:p>
                  </a:txBody>
                  <a:tcPr marL="54864" marR="54864" marT="22860" marB="22860" anchor="ctr">
                    <a:solidFill>
                      <a:srgbClr val="1F3864"/>
                    </a:solidFill>
                  </a:tcPr>
                </a:tc>
              </a:tr>
              <a:tr h="365760">
                <a:tc>
                  <a:txBody>
                    <a:bodyPr wrap="square"/>
                    <a:lstStyle/>
                    <a:p>
                      <a:pPr algn="l"/>
                      <a:r>
                        <a:rPr sz="1150" b="0">
                          <a:solidFill>
                            <a:srgbClr val="2C2C2C"/>
                          </a:solidFill>
                          <a:latin typeface="Calibri"/>
                          <a:ea typeface="Calibri"/>
                          <a:cs typeface="Calibri"/>
                        </a:rPr>
                        <a:t>R0 raw records</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59.4</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42.5</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40.8</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41.7</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46.1</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a:t>
                      </a:r>
                    </a:p>
                  </a:txBody>
                  <a:tcPr marL="54864" marR="54864" marT="22860" marB="22860" anchor="ctr">
                    <a:solidFill>
                      <a:srgbClr val="EEF2FF"/>
                    </a:solidFill>
                  </a:tcPr>
                </a:tc>
              </a:tr>
              <a:tr h="365760">
                <a:tc>
                  <a:txBody>
                    <a:bodyPr wrap="square"/>
                    <a:lstStyle/>
                    <a:p>
                      <a:pPr algn="l"/>
                      <a:r>
                        <a:rPr sz="1150" b="0">
                          <a:solidFill>
                            <a:srgbClr val="2C2C2C"/>
                          </a:solidFill>
                          <a:latin typeface="Calibri"/>
                          <a:ea typeface="Calibri"/>
                          <a:cs typeface="Calibri"/>
                        </a:rPr>
                        <a:t>R1 one row per hour</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59.4</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42.5</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40.8</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41.7</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46.1</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0.00</a:t>
                      </a:r>
                    </a:p>
                  </a:txBody>
                  <a:tcPr marL="54864" marR="54864" marT="22860" marB="22860" anchor="ctr">
                    <a:solidFill>
                      <a:srgbClr val="FFFFFF"/>
                    </a:solidFill>
                  </a:tcPr>
                </a:tc>
              </a:tr>
              <a:tr h="365760">
                <a:tc>
                  <a:txBody>
                    <a:bodyPr wrap="square"/>
                    <a:lstStyle/>
                    <a:p>
                      <a:pPr algn="l"/>
                      <a:r>
                        <a:rPr sz="1150" b="1">
                          <a:solidFill>
                            <a:srgbClr val="2C2C2C"/>
                          </a:solidFill>
                          <a:latin typeface="Calibri"/>
                          <a:ea typeface="Calibri"/>
                          <a:cs typeface="Calibri"/>
                        </a:rPr>
                        <a:t>R2 hourly grid</a:t>
                      </a:r>
                    </a:p>
                  </a:txBody>
                  <a:tcPr marL="54864" marR="54864" marT="22860" marB="22860" anchor="ctr">
                    <a:solidFill>
                      <a:srgbClr val="EEF2FF"/>
                    </a:solidFill>
                  </a:tcPr>
                </a:tc>
                <a:tc>
                  <a:txBody>
                    <a:bodyPr wrap="square"/>
                    <a:lstStyle/>
                    <a:p>
                      <a:pPr algn="r"/>
                      <a:r>
                        <a:rPr sz="1150" b="1">
                          <a:solidFill>
                            <a:srgbClr val="2C2C2C"/>
                          </a:solidFill>
                          <a:latin typeface="Calibri"/>
                          <a:ea typeface="Calibri"/>
                          <a:cs typeface="Calibri"/>
                        </a:rPr>
                        <a:t>50.7</a:t>
                      </a:r>
                    </a:p>
                  </a:txBody>
                  <a:tcPr marL="54864" marR="54864" marT="22860" marB="22860" anchor="ctr">
                    <a:solidFill>
                      <a:srgbClr val="EEF2FF"/>
                    </a:solidFill>
                  </a:tcPr>
                </a:tc>
                <a:tc>
                  <a:txBody>
                    <a:bodyPr wrap="square"/>
                    <a:lstStyle/>
                    <a:p>
                      <a:pPr algn="r"/>
                      <a:r>
                        <a:rPr sz="1150" b="1">
                          <a:solidFill>
                            <a:srgbClr val="2C2C2C"/>
                          </a:solidFill>
                          <a:latin typeface="Calibri"/>
                          <a:ea typeface="Calibri"/>
                          <a:cs typeface="Calibri"/>
                        </a:rPr>
                        <a:t>39.9</a:t>
                      </a:r>
                    </a:p>
                  </a:txBody>
                  <a:tcPr marL="54864" marR="54864" marT="22860" marB="22860" anchor="ctr">
                    <a:solidFill>
                      <a:srgbClr val="EEF2FF"/>
                    </a:solidFill>
                  </a:tcPr>
                </a:tc>
                <a:tc>
                  <a:txBody>
                    <a:bodyPr wrap="square"/>
                    <a:lstStyle/>
                    <a:p>
                      <a:pPr algn="r"/>
                      <a:r>
                        <a:rPr sz="1150" b="1">
                          <a:solidFill>
                            <a:srgbClr val="2C2C2C"/>
                          </a:solidFill>
                          <a:latin typeface="Calibri"/>
                          <a:ea typeface="Calibri"/>
                          <a:cs typeface="Calibri"/>
                        </a:rPr>
                        <a:t>38.1</a:t>
                      </a:r>
                    </a:p>
                  </a:txBody>
                  <a:tcPr marL="54864" marR="54864" marT="22860" marB="22860" anchor="ctr">
                    <a:solidFill>
                      <a:srgbClr val="EEF2FF"/>
                    </a:solidFill>
                  </a:tcPr>
                </a:tc>
                <a:tc>
                  <a:txBody>
                    <a:bodyPr wrap="square"/>
                    <a:lstStyle/>
                    <a:p>
                      <a:pPr algn="r"/>
                      <a:r>
                        <a:rPr sz="1150" b="1">
                          <a:solidFill>
                            <a:srgbClr val="2C2C2C"/>
                          </a:solidFill>
                          <a:latin typeface="Calibri"/>
                          <a:ea typeface="Calibri"/>
                          <a:cs typeface="Calibri"/>
                        </a:rPr>
                        <a:t>38.9</a:t>
                      </a:r>
                    </a:p>
                  </a:txBody>
                  <a:tcPr marL="54864" marR="54864" marT="22860" marB="22860" anchor="ctr">
                    <a:solidFill>
                      <a:srgbClr val="EEF2FF"/>
                    </a:solidFill>
                  </a:tcPr>
                </a:tc>
                <a:tc>
                  <a:txBody>
                    <a:bodyPr wrap="square"/>
                    <a:lstStyle/>
                    <a:p>
                      <a:pPr algn="r"/>
                      <a:r>
                        <a:rPr sz="1150" b="1">
                          <a:solidFill>
                            <a:srgbClr val="2C2C2C"/>
                          </a:solidFill>
                          <a:latin typeface="Calibri"/>
                          <a:ea typeface="Calibri"/>
                          <a:cs typeface="Calibri"/>
                        </a:rPr>
                        <a:t>41.9</a:t>
                      </a:r>
                    </a:p>
                  </a:txBody>
                  <a:tcPr marL="54864" marR="54864" marT="22860" marB="22860" anchor="ctr">
                    <a:solidFill>
                      <a:srgbClr val="EEF2FF"/>
                    </a:solidFill>
                  </a:tcPr>
                </a:tc>
                <a:tc>
                  <a:txBody>
                    <a:bodyPr wrap="square"/>
                    <a:lstStyle/>
                    <a:p>
                      <a:pPr algn="r"/>
                      <a:r>
                        <a:rPr sz="1150" b="1">
                          <a:solidFill>
                            <a:srgbClr val="2C2C2C"/>
                          </a:solidFill>
                          <a:latin typeface="Calibri"/>
                          <a:ea typeface="Calibri"/>
                          <a:cs typeface="Calibri"/>
                        </a:rPr>
                        <a:t>−4.22</a:t>
                      </a:r>
                    </a:p>
                  </a:txBody>
                  <a:tcPr marL="54864" marR="54864" marT="22860" marB="22860" anchor="ctr">
                    <a:solidFill>
                      <a:srgbClr val="EEF2FF"/>
                    </a:solidFill>
                  </a:tcPr>
                </a:tc>
              </a:tr>
              <a:tr h="365760">
                <a:tc>
                  <a:txBody>
                    <a:bodyPr wrap="square"/>
                    <a:lstStyle/>
                    <a:p>
                      <a:pPr algn="l"/>
                      <a:r>
                        <a:rPr sz="1150" b="0">
                          <a:solidFill>
                            <a:srgbClr val="2C2C2C"/>
                          </a:solidFill>
                          <a:latin typeface="Calibri"/>
                          <a:ea typeface="Calibri"/>
                          <a:cs typeface="Calibri"/>
                        </a:rPr>
                        <a:t>R3 drop outages</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50.8</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39.6</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38.1</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38.4</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41.7</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−0.16</a:t>
                      </a:r>
                    </a:p>
                  </a:txBody>
                  <a:tcPr marL="54864" marR="54864" marT="22860" marB="22860" anchor="ctr">
                    <a:solidFill>
                      <a:srgbClr val="FFFFFF"/>
                    </a:solidFill>
                  </a:tcPr>
                </a:tc>
              </a:tr>
              <a:tr h="365760">
                <a:tc>
                  <a:txBody>
                    <a:bodyPr wrap="square"/>
                    <a:lstStyle/>
                    <a:p>
                      <a:pPr algn="l"/>
                      <a:r>
                        <a:rPr sz="1150" b="0">
                          <a:solidFill>
                            <a:srgbClr val="2C2C2C"/>
                          </a:solidFill>
                          <a:latin typeface="Calibri"/>
                          <a:ea typeface="Calibri"/>
                          <a:cs typeface="Calibri"/>
                        </a:rPr>
                        <a:t>R4 calendar</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50.2</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39.3</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37.5</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37.8</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41.2</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−0.54</a:t>
                      </a:r>
                    </a:p>
                  </a:txBody>
                  <a:tcPr marL="54864" marR="54864" marT="22860" marB="22860" anchor="ctr">
                    <a:solidFill>
                      <a:srgbClr val="EEF2FF"/>
                    </a:solidFill>
                  </a:tcPr>
                </a:tc>
              </a:tr>
              <a:tr h="365760">
                <a:tc>
                  <a:txBody>
                    <a:bodyPr wrap="square"/>
                    <a:lstStyle/>
                    <a:p>
                      <a:pPr algn="l"/>
                      <a:r>
                        <a:rPr sz="1150" b="0">
                          <a:solidFill>
                            <a:srgbClr val="2C2C2C"/>
                          </a:solidFill>
                          <a:latin typeface="Calibri"/>
                          <a:ea typeface="Calibri"/>
                          <a:cs typeface="Calibri"/>
                        </a:rPr>
                        <a:t>R5 holiday-aware lag</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48.8</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38.7</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37.1</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38.7</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40.8</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−0.38</a:t>
                      </a:r>
                    </a:p>
                  </a:txBody>
                  <a:tcPr marL="54864" marR="54864" marT="22860" marB="22860" anchor="ctr">
                    <a:solidFill>
                      <a:srgbClr val="FFFFFF"/>
                    </a:solidFill>
                  </a:tcPr>
                </a:tc>
              </a:tr>
            </a:tbl>
          </a:graphicData>
        </a:graphic>
      </p:graphicFrame>
      <p:sp>
        <p:nvSpPr>
          <p:cNvPr id="5" name="Caption"/>
          <p:cNvSpPr txBox="1"/>
          <p:nvPr/>
        </p:nvSpPr>
        <p:spPr>
          <a:xfrm>
            <a:off x="457200" y="3712463"/>
            <a:ext cx="5486400" cy="274320"/>
          </a:xfrm>
          <a:prstGeom prst="rect">
            <a:avLst/>
          </a:prstGeom>
          <a:noFill/>
        </p:spPr>
        <p:txBody>
          <a:bodyPr wrap="square" lIns="0" rIns="0" tIns="0" bIns="0" anchor="t">
            <a:spAutoFit/>
          </a:bodyPr>
          <a:lstStyle/>
          <a:p>
            <a:pPr algn="l"/>
            <a:r>
              <a:rPr sz="1000" b="0">
                <a:solidFill>
                  <a:srgbClr val="64748B"/>
                </a:solidFill>
                <a:latin typeface="Calibri"/>
                <a:ea typeface="Calibri"/>
                <a:cs typeface="Calibri"/>
              </a:rPr>
              <a:t>Table 3 (paper): MAE on the same test rows as steps are added one at a time; Δ = change of the four-model mean.</a:t>
            </a:r>
          </a:p>
        </p:txBody>
      </p:sp>
      <p:sp>
        <p:nvSpPr>
          <p:cNvPr id="6" name="TextBox 5"/>
          <p:cNvSpPr txBox="1"/>
          <p:nvPr/>
        </p:nvSpPr>
        <p:spPr>
          <a:xfrm>
            <a:off x="6126480" y="1097280"/>
            <a:ext cx="2560320" cy="228600"/>
          </a:xfrm>
          <a:prstGeom prst="rect">
            <a:avLst/>
          </a:prstGeom>
          <a:noFill/>
        </p:spPr>
        <p:txBody>
          <a:bodyPr wrap="square" lIns="0" rIns="0" tIns="0" bIns="0" anchor="t">
            <a:spAutoFit/>
          </a:bodyPr>
          <a:lstStyle/>
          <a:p>
            <a:pPr algn="l"/>
            <a:r>
              <a:rPr sz="1200" b="1">
                <a:solidFill>
                  <a:srgbClr val="1F3864"/>
                </a:solidFill>
                <a:latin typeface="Calibri"/>
                <a:ea typeface="Calibri"/>
                <a:cs typeface="Calibri"/>
              </a:rPr>
              <a:t>Lags taken by row order</a:t>
            </a:r>
          </a:p>
        </p:txBody>
      </p:sp>
      <p:graphicFrame>
        <p:nvGraphicFramePr>
          <p:cNvPr id="7" name="Table 6"/>
          <p:cNvGraphicFramePr>
            <a:graphicFrameLocks noGrp="1"/>
          </p:cNvGraphicFramePr>
          <p:nvPr/>
        </p:nvGraphicFramePr>
        <p:xfrm>
          <a:off x="6126480" y="1371600"/>
          <a:ext cx="2560320" cy="1316736"/>
        </p:xfrm>
        <a:graphic>
          <a:graphicData uri="http://schemas.openxmlformats.org/drawingml/2006/table">
            <a:tbl>
              <a:tblPr firstRow="0" bandRow="0">
                <a:tableStyleId>{5C22544A-7EE6-4342-B048-85BDC9FD1C3A}</a:tableStyleId>
              </a:tblPr>
              <a:tblGrid>
                <a:gridCol w="1554480"/>
                <a:gridCol w="1005840"/>
              </a:tblGrid>
              <a:tr h="329184">
                <a:tc>
                  <a:txBody>
                    <a:bodyPr wrap="square"/>
                    <a:lstStyle/>
                    <a:p>
                      <a:pPr algn="ctr"/>
                      <a:r>
                        <a:rPr sz="1150" b="1">
                          <a:solidFill>
                            <a:srgbClr val="FFFFFF"/>
                          </a:solidFill>
                          <a:latin typeface="Calibri"/>
                          <a:ea typeface="Calibri"/>
                          <a:cs typeface="Calibri"/>
                        </a:rPr>
                        <a:t>Lag</a:t>
                      </a:r>
                    </a:p>
                  </a:txBody>
                  <a:tcPr marL="54864" marR="54864" marT="22860" marB="22860" anchor="ctr">
                    <a:solidFill>
                      <a:srgbClr val="1F3864"/>
                    </a:solidFill>
                  </a:tcPr>
                </a:tc>
                <a:tc>
                  <a:txBody>
                    <a:bodyPr wrap="square"/>
                    <a:lstStyle/>
                    <a:p>
                      <a:pPr algn="ctr"/>
                      <a:r>
                        <a:rPr sz="1150" b="1">
                          <a:solidFill>
                            <a:srgbClr val="FFFFFF"/>
                          </a:solidFill>
                          <a:latin typeface="Calibri"/>
                          <a:ea typeface="Calibri"/>
                          <a:cs typeface="Calibri"/>
                        </a:rPr>
                        <a:t>Wrong time</a:t>
                      </a:r>
                    </a:p>
                  </a:txBody>
                  <a:tcPr marL="54864" marR="54864" marT="22860" marB="22860" anchor="ctr">
                    <a:solidFill>
                      <a:srgbClr val="1F3864"/>
                    </a:solidFill>
                  </a:tcPr>
                </a:tc>
              </a:tr>
              <a:tr h="329184">
                <a:tc>
                  <a:txBody>
                    <a:bodyPr wrap="square"/>
                    <a:lstStyle/>
                    <a:p>
                      <a:pPr algn="l"/>
                      <a:r>
                        <a:rPr sz="1150" b="0">
                          <a:solidFill>
                            <a:srgbClr val="2C2C2C"/>
                          </a:solidFill>
                          <a:latin typeface="Calibri"/>
                          <a:ea typeface="Calibri"/>
                          <a:cs typeface="Calibri"/>
                        </a:rPr>
                        <a:t>previous hour</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0.52%</a:t>
                      </a:r>
                    </a:p>
                  </a:txBody>
                  <a:tcPr marL="54864" marR="54864" marT="22860" marB="22860" anchor="ctr">
                    <a:solidFill>
                      <a:srgbClr val="EEF2FF"/>
                    </a:solidFill>
                  </a:tcPr>
                </a:tc>
              </a:tr>
              <a:tr h="329184">
                <a:tc>
                  <a:txBody>
                    <a:bodyPr wrap="square"/>
                    <a:lstStyle/>
                    <a:p>
                      <a:pPr algn="l"/>
                      <a:r>
                        <a:rPr sz="1150" b="0">
                          <a:solidFill>
                            <a:srgbClr val="2C2C2C"/>
                          </a:solidFill>
                          <a:latin typeface="Calibri"/>
                          <a:ea typeface="Calibri"/>
                          <a:cs typeface="Calibri"/>
                        </a:rPr>
                        <a:t>one week earlier</a:t>
                      </a:r>
                    </a:p>
                  </a:txBody>
                  <a:tcPr marL="54864" marR="54864" marT="22860" marB="22860" anchor="ctr">
                    <a:solidFill>
                      <a:srgbClr val="FFFFFF"/>
                    </a:solidFill>
                  </a:tcPr>
                </a:tc>
                <a:tc>
                  <a:txBody>
                    <a:bodyPr wrap="square"/>
                    <a:lstStyle/>
                    <a:p>
                      <a:pPr algn="r"/>
                      <a:r>
                        <a:rPr sz="1150" b="1">
                          <a:solidFill>
                            <a:srgbClr val="2C2C2C"/>
                          </a:solidFill>
                          <a:latin typeface="Calibri"/>
                          <a:ea typeface="Calibri"/>
                          <a:cs typeface="Calibri"/>
                        </a:rPr>
                        <a:t>45.7%</a:t>
                      </a:r>
                    </a:p>
                  </a:txBody>
                  <a:tcPr marL="54864" marR="54864" marT="22860" marB="22860" anchor="ctr">
                    <a:solidFill>
                      <a:srgbClr val="FFFFFF"/>
                    </a:solidFill>
                  </a:tcPr>
                </a:tc>
              </a:tr>
              <a:tr h="329184">
                <a:tc>
                  <a:txBody>
                    <a:bodyPr wrap="square"/>
                    <a:lstStyle/>
                    <a:p>
                      <a:pPr algn="l"/>
                      <a:r>
                        <a:rPr sz="1150" b="0">
                          <a:solidFill>
                            <a:srgbClr val="2C2C2C"/>
                          </a:solidFill>
                          <a:latin typeface="Calibri"/>
                          <a:ea typeface="Calibri"/>
                          <a:cs typeface="Calibri"/>
                        </a:rPr>
                        <a:t>after R2</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0%</a:t>
                      </a:r>
                    </a:p>
                  </a:txBody>
                  <a:tcPr marL="54864" marR="54864" marT="22860" marB="22860" anchor="ctr">
                    <a:solidFill>
                      <a:srgbClr val="EEF2FF"/>
                    </a:solidFill>
                  </a:tcPr>
                </a:tc>
              </a:tr>
            </a:tbl>
          </a:graphicData>
        </a:graphic>
      </p:graphicFrame>
      <p:sp>
        <p:nvSpPr>
          <p:cNvPr id="8" name="Insight"/>
          <p:cNvSpPr txBox="1"/>
          <p:nvPr/>
        </p:nvSpPr>
        <p:spPr>
          <a:xfrm>
            <a:off x="457200" y="4023360"/>
            <a:ext cx="8229600" cy="868680"/>
          </a:xfrm>
          <a:prstGeom prst="rect">
            <a:avLst/>
          </a:prstGeom>
          <a:solidFill>
            <a:srgbClr val="EEF2FF"/>
          </a:solidFill>
        </p:spPr>
        <p:txBody>
          <a:bodyPr wrap="square" lIns="73152" rIns="73152" tIns="73152" bIns="73152" anchor="ctr">
            <a:spAutoFit/>
          </a:bodyPr>
          <a:lstStyle/>
          <a:p>
            <a:pPr algn="l"/>
            <a:r>
              <a:rPr sz="1200" b="1">
                <a:solidFill>
                  <a:srgbClr val="1F3864"/>
                </a:solidFill>
                <a:latin typeface="Calibri"/>
                <a:ea typeface="Calibri"/>
                <a:cs typeface="Calibri"/>
              </a:rPr>
              <a:t>Insight: </a:t>
            </a:r>
            <a:r>
              <a:rPr sz="1200" b="0">
                <a:solidFill>
                  <a:srgbClr val="2C2C2C"/>
                </a:solidFill>
                <a:latin typeface="Calibri"/>
                <a:ea typeface="Calibri"/>
                <a:cs typeface="Calibri"/>
              </a:rPr>
              <a:t>all steps lower the mean MAE from 46.1 to 40.8 (−11.5%), and 4.22 of these 5.3 vehicles come from R2, the complete hourly grid. Later steps are smaller than the quarter SD; the MLP even gets worse at R5. (RQ3)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d"/>
          <p:cNvSpPr txBox="1"/>
          <p:nvPr/>
        </p:nvSpPr>
        <p:spPr>
          <a:xfrm>
            <a:off x="457200" y="182880"/>
            <a:ext cx="8229600" cy="777240"/>
          </a:xfrm>
          <a:prstGeom prst="rect">
            <a:avLst/>
          </a:prstGeom>
          <a:noFill/>
        </p:spPr>
        <p:txBody>
          <a:bodyPr wrap="square" lIns="0" rIns="0" tIns="0" bIns="0" anchor="ctr">
            <a:spAutoFit/>
          </a:bodyPr>
          <a:lstStyle/>
          <a:p>
            <a:pPr algn="l"/>
            <a:r>
              <a:rPr sz="2800" b="1">
                <a:solidFill>
                  <a:srgbClr val="1F3864"/>
                </a:solidFill>
                <a:latin typeface="Calibri"/>
                <a:ea typeface="Calibri"/>
                <a:cs typeface="Calibri"/>
              </a:rPr>
              <a:t>RQ3 — The error peaks seven days after a holiday</a:t>
            </a:r>
          </a:p>
        </p:txBody>
      </p:sp>
      <p:cxnSp>
        <p:nvCxnSpPr>
          <p:cNvPr id="3" name="Div"/>
          <p:cNvCxnSpPr/>
          <p:nvPr/>
        </p:nvCxnSpPr>
        <p:spPr>
          <a:xfrm>
            <a:off x="457200" y="960120"/>
            <a:ext cx="8229600" cy="0"/>
          </a:xfrm>
          <a:prstGeom prst="line">
            <a:avLst/>
          </a:prstGeom>
          <a:ln w="19050">
            <a:solidFill>
              <a:srgbClr val="4472C4"/>
            </a:solidFill>
          </a:ln>
        </p:spPr>
        <p:style>
          <a:lnRef idx="2">
            <a:schemeClr val="accent1"/>
          </a:lnRef>
          <a:fillRef idx="0">
            <a:schemeClr val="accent1"/>
          </a:fillRef>
          <a:effectRef idx="1">
            <a:schemeClr val="accent1"/>
          </a:effectRef>
          <a:fontRef idx="minor">
            <a:schemeClr val="tx1"/>
          </a:fontRef>
        </p:style>
      </p:cxnSp>
      <p:pic>
        <p:nvPicPr>
          <p:cNvPr id="4" name="Picture 3" descr="fig_rq3_event_study.png"/>
          <p:cNvPicPr>
            <a:picLocks noChangeAspect="1"/>
          </p:cNvPicPr>
          <p:nvPr/>
        </p:nvPicPr>
        <p:blipFill>
          <a:blip r:embed="rId2"/>
          <a:stretch>
            <a:fillRect/>
          </a:stretch>
        </p:blipFill>
        <p:spPr>
          <a:xfrm>
            <a:off x="457200" y="1106424"/>
            <a:ext cx="3931920" cy="2359152"/>
          </a:xfrm>
          <a:prstGeom prst="rect">
            <a:avLst/>
          </a:prstGeom>
          <a:ln w="6350">
            <a:solidFill>
              <a:srgbClr val="D9D9D9"/>
            </a:solidFill>
          </a:ln>
        </p:spPr>
      </p:pic>
      <p:sp>
        <p:nvSpPr>
          <p:cNvPr id="5" name="TextBox 4"/>
          <p:cNvSpPr txBox="1"/>
          <p:nvPr/>
        </p:nvSpPr>
        <p:spPr>
          <a:xfrm>
            <a:off x="457200" y="3520440"/>
            <a:ext cx="3931920" cy="365760"/>
          </a:xfrm>
          <a:prstGeom prst="rect">
            <a:avLst/>
          </a:prstGeom>
          <a:noFill/>
        </p:spPr>
        <p:txBody>
          <a:bodyPr wrap="square" lIns="0" rIns="0" tIns="0" bIns="0" anchor="t">
            <a:spAutoFit/>
          </a:bodyPr>
          <a:lstStyle/>
          <a:p>
            <a:pPr algn="l"/>
            <a:r>
              <a:rPr sz="1000" b="0">
                <a:solidFill>
                  <a:srgbClr val="64748B"/>
                </a:solidFill>
                <a:latin typeface="Calibri"/>
                <a:ea typeface="Calibri"/>
                <a:cs typeface="Calibri"/>
              </a:rPr>
              <a:t>MAE minus L0 by days from the first holiday day, 16 holiday periods (line chart)</a:t>
            </a:r>
          </a:p>
        </p:txBody>
      </p:sp>
      <p:graphicFrame>
        <p:nvGraphicFramePr>
          <p:cNvPr id="6" name="Table 5"/>
          <p:cNvGraphicFramePr>
            <a:graphicFrameLocks noGrp="1"/>
          </p:cNvGraphicFramePr>
          <p:nvPr/>
        </p:nvGraphicFramePr>
        <p:xfrm>
          <a:off x="4572000" y="1097280"/>
          <a:ext cx="4114798" cy="2084832"/>
        </p:xfrm>
        <a:graphic>
          <a:graphicData uri="http://schemas.openxmlformats.org/drawingml/2006/table">
            <a:tbl>
              <a:tblPr firstRow="0" bandRow="0">
                <a:tableStyleId>{5C22544A-7EE6-4342-B048-85BDC9FD1C3A}</a:tableStyleId>
              </a:tblPr>
              <a:tblGrid>
                <a:gridCol w="1311309"/>
                <a:gridCol w="560698"/>
                <a:gridCol w="524523"/>
                <a:gridCol w="560698"/>
                <a:gridCol w="560698"/>
                <a:gridCol w="596872"/>
              </a:tblGrid>
              <a:tr h="347472">
                <a:tc>
                  <a:txBody>
                    <a:bodyPr wrap="square"/>
                    <a:lstStyle/>
                    <a:p>
                      <a:pPr algn="ctr"/>
                      <a:r>
                        <a:rPr sz="1050" b="1">
                          <a:solidFill>
                            <a:srgbClr val="FFFFFF"/>
                          </a:solidFill>
                          <a:latin typeface="Calibri"/>
                          <a:ea typeface="Calibri"/>
                          <a:cs typeface="Calibri"/>
                        </a:rPr>
                        <a:t>Variant</a:t>
                      </a:r>
                    </a:p>
                  </a:txBody>
                  <a:tcPr marL="54864" marR="54864" marT="22860" marB="22860" anchor="ctr">
                    <a:solidFill>
                      <a:srgbClr val="1F3864"/>
                    </a:solidFill>
                  </a:tcPr>
                </a:tc>
                <a:tc>
                  <a:txBody>
                    <a:bodyPr wrap="square"/>
                    <a:lstStyle/>
                    <a:p>
                      <a:pPr algn="ctr"/>
                      <a:r>
                        <a:rPr sz="1050" b="1">
                          <a:solidFill>
                            <a:srgbClr val="FFFFFF"/>
                          </a:solidFill>
                          <a:latin typeface="Calibri"/>
                          <a:ea typeface="Calibri"/>
                          <a:cs typeface="Calibri"/>
                        </a:rPr>
                        <a:t>−7..−1</a:t>
                      </a:r>
                    </a:p>
                  </a:txBody>
                  <a:tcPr marL="54864" marR="54864" marT="22860" marB="22860" anchor="ctr">
                    <a:solidFill>
                      <a:srgbClr val="1F3864"/>
                    </a:solidFill>
                  </a:tcPr>
                </a:tc>
                <a:tc>
                  <a:txBody>
                    <a:bodyPr wrap="square"/>
                    <a:lstStyle/>
                    <a:p>
                      <a:pPr algn="ctr"/>
                      <a:r>
                        <a:rPr sz="1050" b="1">
                          <a:solidFill>
                            <a:srgbClr val="FFFFFF"/>
                          </a:solidFill>
                          <a:latin typeface="Calibri"/>
                          <a:ea typeface="Calibri"/>
                          <a:cs typeface="Calibri"/>
                        </a:rPr>
                        <a:t>Day 0</a:t>
                      </a:r>
                    </a:p>
                  </a:txBody>
                  <a:tcPr marL="54864" marR="54864" marT="22860" marB="22860" anchor="ctr">
                    <a:solidFill>
                      <a:srgbClr val="1F3864"/>
                    </a:solidFill>
                  </a:tcPr>
                </a:tc>
                <a:tc>
                  <a:txBody>
                    <a:bodyPr wrap="square"/>
                    <a:lstStyle/>
                    <a:p>
                      <a:pPr algn="ctr"/>
                      <a:r>
                        <a:rPr sz="1050" b="1">
                          <a:solidFill>
                            <a:srgbClr val="FFFFFF"/>
                          </a:solidFill>
                          <a:latin typeface="Calibri"/>
                          <a:ea typeface="Calibri"/>
                          <a:cs typeface="Calibri"/>
                        </a:rPr>
                        <a:t>+1..+6</a:t>
                      </a:r>
                    </a:p>
                  </a:txBody>
                  <a:tcPr marL="54864" marR="54864" marT="22860" marB="22860" anchor="ctr">
                    <a:solidFill>
                      <a:srgbClr val="1F3864"/>
                    </a:solidFill>
                  </a:tcPr>
                </a:tc>
                <a:tc>
                  <a:txBody>
                    <a:bodyPr wrap="square"/>
                    <a:lstStyle/>
                    <a:p>
                      <a:pPr algn="ctr"/>
                      <a:r>
                        <a:rPr sz="1050" b="1">
                          <a:solidFill>
                            <a:srgbClr val="FFFFFF"/>
                          </a:solidFill>
                          <a:latin typeface="Calibri"/>
                          <a:ea typeface="Calibri"/>
                          <a:cs typeface="Calibri"/>
                        </a:rPr>
                        <a:t>Day +7</a:t>
                      </a:r>
                    </a:p>
                  </a:txBody>
                  <a:tcPr marL="54864" marR="54864" marT="22860" marB="22860" anchor="ctr">
                    <a:solidFill>
                      <a:srgbClr val="1F3864"/>
                    </a:solidFill>
                  </a:tcPr>
                </a:tc>
                <a:tc>
                  <a:txBody>
                    <a:bodyPr wrap="square"/>
                    <a:lstStyle/>
                    <a:p>
                      <a:pPr algn="ctr"/>
                      <a:r>
                        <a:rPr sz="1050" b="1">
                          <a:solidFill>
                            <a:srgbClr val="FFFFFF"/>
                          </a:solidFill>
                          <a:latin typeface="Calibri"/>
                          <a:ea typeface="Calibri"/>
                          <a:cs typeface="Calibri"/>
                        </a:rPr>
                        <a:t>+8..+14</a:t>
                      </a:r>
                    </a:p>
                  </a:txBody>
                  <a:tcPr marL="54864" marR="54864" marT="22860" marB="22860" anchor="ctr">
                    <a:solidFill>
                      <a:srgbClr val="1F3864"/>
                    </a:solidFill>
                  </a:tcPr>
                </a:tc>
              </a:tr>
              <a:tr h="347472">
                <a:tc>
                  <a:txBody>
                    <a:bodyPr wrap="square"/>
                    <a:lstStyle/>
                    <a:p>
                      <a:pPr algn="l"/>
                      <a:r>
                        <a:rPr sz="1100" b="0">
                          <a:solidFill>
                            <a:srgbClr val="2C2C2C"/>
                          </a:solidFill>
                          <a:latin typeface="Calibri"/>
                          <a:ea typeface="Calibri"/>
                          <a:cs typeface="Calibri"/>
                        </a:rPr>
                        <a:t>L0 plain lag</a:t>
                      </a:r>
                    </a:p>
                  </a:txBody>
                  <a:tcPr marL="54864" marR="54864" marT="22860" marB="22860" anchor="ctr">
                    <a:solidFill>
                      <a:srgbClr val="EEF2FF"/>
                    </a:solidFill>
                  </a:tcPr>
                </a:tc>
                <a:tc>
                  <a:txBody>
                    <a:bodyPr wrap="square"/>
                    <a:lstStyle/>
                    <a:p>
                      <a:pPr algn="r"/>
                      <a:r>
                        <a:rPr sz="1100" b="0">
                          <a:solidFill>
                            <a:srgbClr val="2C2C2C"/>
                          </a:solidFill>
                          <a:latin typeface="Calibri"/>
                          <a:ea typeface="Calibri"/>
                          <a:cs typeface="Calibri"/>
                        </a:rPr>
                        <a:t>47.7</a:t>
                      </a:r>
                    </a:p>
                  </a:txBody>
                  <a:tcPr marL="54864" marR="54864" marT="22860" marB="22860" anchor="ctr">
                    <a:solidFill>
                      <a:srgbClr val="EEF2FF"/>
                    </a:solidFill>
                  </a:tcPr>
                </a:tc>
                <a:tc>
                  <a:txBody>
                    <a:bodyPr wrap="square"/>
                    <a:lstStyle/>
                    <a:p>
                      <a:pPr algn="r"/>
                      <a:r>
                        <a:rPr sz="1100" b="0">
                          <a:solidFill>
                            <a:srgbClr val="2C2C2C"/>
                          </a:solidFill>
                          <a:latin typeface="Calibri"/>
                          <a:ea typeface="Calibri"/>
                          <a:cs typeface="Calibri"/>
                        </a:rPr>
                        <a:t>38.5</a:t>
                      </a:r>
                    </a:p>
                  </a:txBody>
                  <a:tcPr marL="54864" marR="54864" marT="22860" marB="22860" anchor="ctr">
                    <a:solidFill>
                      <a:srgbClr val="EEF2FF"/>
                    </a:solidFill>
                  </a:tcPr>
                </a:tc>
                <a:tc>
                  <a:txBody>
                    <a:bodyPr wrap="square"/>
                    <a:lstStyle/>
                    <a:p>
                      <a:pPr algn="r"/>
                      <a:r>
                        <a:rPr sz="1100" b="0">
                          <a:solidFill>
                            <a:srgbClr val="2C2C2C"/>
                          </a:solidFill>
                          <a:latin typeface="Calibri"/>
                          <a:ea typeface="Calibri"/>
                          <a:cs typeface="Calibri"/>
                        </a:rPr>
                        <a:t>42.2</a:t>
                      </a:r>
                    </a:p>
                  </a:txBody>
                  <a:tcPr marL="54864" marR="54864" marT="22860" marB="22860" anchor="ctr">
                    <a:solidFill>
                      <a:srgbClr val="EEF2FF"/>
                    </a:solidFill>
                  </a:tcPr>
                </a:tc>
                <a:tc>
                  <a:txBody>
                    <a:bodyPr wrap="square"/>
                    <a:lstStyle/>
                    <a:p>
                      <a:pPr algn="r"/>
                      <a:r>
                        <a:rPr sz="1100" b="1">
                          <a:solidFill>
                            <a:srgbClr val="B91C1C"/>
                          </a:solidFill>
                          <a:latin typeface="Calibri"/>
                          <a:ea typeface="Calibri"/>
                          <a:cs typeface="Calibri"/>
                        </a:rPr>
                        <a:t>66.8</a:t>
                      </a:r>
                    </a:p>
                  </a:txBody>
                  <a:tcPr marL="54864" marR="54864" marT="22860" marB="22860" anchor="ctr">
                    <a:solidFill>
                      <a:srgbClr val="EEF2FF"/>
                    </a:solidFill>
                  </a:tcPr>
                </a:tc>
                <a:tc>
                  <a:txBody>
                    <a:bodyPr wrap="square"/>
                    <a:lstStyle/>
                    <a:p>
                      <a:pPr algn="r"/>
                      <a:r>
                        <a:rPr sz="1100" b="0">
                          <a:solidFill>
                            <a:srgbClr val="2C2C2C"/>
                          </a:solidFill>
                          <a:latin typeface="Calibri"/>
                          <a:ea typeface="Calibri"/>
                          <a:cs typeface="Calibri"/>
                        </a:rPr>
                        <a:t>47.1</a:t>
                      </a:r>
                    </a:p>
                  </a:txBody>
                  <a:tcPr marL="54864" marR="54864" marT="22860" marB="22860" anchor="ctr">
                    <a:solidFill>
                      <a:srgbClr val="EEF2FF"/>
                    </a:solidFill>
                  </a:tcPr>
                </a:tc>
              </a:tr>
              <a:tr h="347472">
                <a:tc>
                  <a:txBody>
                    <a:bodyPr wrap="square"/>
                    <a:lstStyle/>
                    <a:p>
                      <a:pPr algn="l"/>
                      <a:r>
                        <a:rPr sz="1100" b="0">
                          <a:solidFill>
                            <a:srgbClr val="2C2C2C"/>
                          </a:solidFill>
                          <a:latin typeface="Calibri"/>
                          <a:ea typeface="Calibri"/>
                          <a:cs typeface="Calibri"/>
                        </a:rPr>
                        <a:t>L1 no weekly lag</a:t>
                      </a:r>
                    </a:p>
                  </a:txBody>
                  <a:tcPr marL="54864" marR="54864" marT="22860" marB="22860" anchor="ctr">
                    <a:solidFill>
                      <a:srgbClr val="FFFFFF"/>
                    </a:solidFill>
                  </a:tcPr>
                </a:tc>
                <a:tc>
                  <a:txBody>
                    <a:bodyPr wrap="square"/>
                    <a:lstStyle/>
                    <a:p>
                      <a:pPr algn="r"/>
                      <a:r>
                        <a:rPr sz="1100" b="0">
                          <a:solidFill>
                            <a:srgbClr val="2C2C2C"/>
                          </a:solidFill>
                          <a:latin typeface="Calibri"/>
                          <a:ea typeface="Calibri"/>
                          <a:cs typeface="Calibri"/>
                        </a:rPr>
                        <a:t>50.3</a:t>
                      </a:r>
                    </a:p>
                  </a:txBody>
                  <a:tcPr marL="54864" marR="54864" marT="22860" marB="22860" anchor="ctr">
                    <a:solidFill>
                      <a:srgbClr val="FFFFFF"/>
                    </a:solidFill>
                  </a:tcPr>
                </a:tc>
                <a:tc>
                  <a:txBody>
                    <a:bodyPr wrap="square"/>
                    <a:lstStyle/>
                    <a:p>
                      <a:pPr algn="r"/>
                      <a:r>
                        <a:rPr sz="1100" b="0">
                          <a:solidFill>
                            <a:srgbClr val="2C2C2C"/>
                          </a:solidFill>
                          <a:latin typeface="Calibri"/>
                          <a:ea typeface="Calibri"/>
                          <a:cs typeface="Calibri"/>
                        </a:rPr>
                        <a:t>46.1</a:t>
                      </a:r>
                    </a:p>
                  </a:txBody>
                  <a:tcPr marL="54864" marR="54864" marT="22860" marB="22860" anchor="ctr">
                    <a:solidFill>
                      <a:srgbClr val="FFFFFF"/>
                    </a:solidFill>
                  </a:tcPr>
                </a:tc>
                <a:tc>
                  <a:txBody>
                    <a:bodyPr wrap="square"/>
                    <a:lstStyle/>
                    <a:p>
                      <a:pPr algn="r"/>
                      <a:r>
                        <a:rPr sz="1100" b="0">
                          <a:solidFill>
                            <a:srgbClr val="2C2C2C"/>
                          </a:solidFill>
                          <a:latin typeface="Calibri"/>
                          <a:ea typeface="Calibri"/>
                          <a:cs typeface="Calibri"/>
                        </a:rPr>
                        <a:t>44.0</a:t>
                      </a:r>
                    </a:p>
                  </a:txBody>
                  <a:tcPr marL="54864" marR="54864" marT="22860" marB="22860" anchor="ctr">
                    <a:solidFill>
                      <a:srgbClr val="FFFFFF"/>
                    </a:solidFill>
                  </a:tcPr>
                </a:tc>
                <a:tc>
                  <a:txBody>
                    <a:bodyPr wrap="square"/>
                    <a:lstStyle/>
                    <a:p>
                      <a:pPr algn="r"/>
                      <a:r>
                        <a:rPr sz="1100" b="0">
                          <a:solidFill>
                            <a:srgbClr val="2C2C2C"/>
                          </a:solidFill>
                          <a:latin typeface="Calibri"/>
                          <a:ea typeface="Calibri"/>
                          <a:cs typeface="Calibri"/>
                        </a:rPr>
                        <a:t>67.3</a:t>
                      </a:r>
                    </a:p>
                  </a:txBody>
                  <a:tcPr marL="54864" marR="54864" marT="22860" marB="22860" anchor="ctr">
                    <a:solidFill>
                      <a:srgbClr val="FFFFFF"/>
                    </a:solidFill>
                  </a:tcPr>
                </a:tc>
                <a:tc>
                  <a:txBody>
                    <a:bodyPr wrap="square"/>
                    <a:lstStyle/>
                    <a:p>
                      <a:pPr algn="r"/>
                      <a:r>
                        <a:rPr sz="1100" b="0">
                          <a:solidFill>
                            <a:srgbClr val="2C2C2C"/>
                          </a:solidFill>
                          <a:latin typeface="Calibri"/>
                          <a:ea typeface="Calibri"/>
                          <a:cs typeface="Calibri"/>
                        </a:rPr>
                        <a:t>47.6</a:t>
                      </a:r>
                    </a:p>
                  </a:txBody>
                  <a:tcPr marL="54864" marR="54864" marT="22860" marB="22860" anchor="ctr">
                    <a:solidFill>
                      <a:srgbClr val="FFFFFF"/>
                    </a:solidFill>
                  </a:tcPr>
                </a:tc>
              </a:tr>
              <a:tr h="347472">
                <a:tc>
                  <a:txBody>
                    <a:bodyPr wrap="square"/>
                    <a:lstStyle/>
                    <a:p>
                      <a:pPr algn="l"/>
                      <a:r>
                        <a:rPr sz="1100" b="0">
                          <a:solidFill>
                            <a:srgbClr val="2C2C2C"/>
                          </a:solidFill>
                          <a:latin typeface="Calibri"/>
                          <a:ea typeface="Calibri"/>
                          <a:cs typeface="Calibri"/>
                        </a:rPr>
                        <a:t>L2 ordinary week</a:t>
                      </a:r>
                    </a:p>
                  </a:txBody>
                  <a:tcPr marL="54864" marR="54864" marT="22860" marB="22860" anchor="ctr">
                    <a:solidFill>
                      <a:srgbClr val="EEF2FF"/>
                    </a:solidFill>
                  </a:tcPr>
                </a:tc>
                <a:tc>
                  <a:txBody>
                    <a:bodyPr wrap="square"/>
                    <a:lstStyle/>
                    <a:p>
                      <a:pPr algn="r"/>
                      <a:r>
                        <a:rPr sz="1100" b="0">
                          <a:solidFill>
                            <a:srgbClr val="2C2C2C"/>
                          </a:solidFill>
                          <a:latin typeface="Calibri"/>
                          <a:ea typeface="Calibri"/>
                          <a:cs typeface="Calibri"/>
                        </a:rPr>
                        <a:t>46.0</a:t>
                      </a:r>
                    </a:p>
                  </a:txBody>
                  <a:tcPr marL="54864" marR="54864" marT="22860" marB="22860" anchor="ctr">
                    <a:solidFill>
                      <a:srgbClr val="EEF2FF"/>
                    </a:solidFill>
                  </a:tcPr>
                </a:tc>
                <a:tc>
                  <a:txBody>
                    <a:bodyPr wrap="square"/>
                    <a:lstStyle/>
                    <a:p>
                      <a:pPr algn="r"/>
                      <a:r>
                        <a:rPr sz="1100" b="0">
                          <a:solidFill>
                            <a:srgbClr val="2C2C2C"/>
                          </a:solidFill>
                          <a:latin typeface="Calibri"/>
                          <a:ea typeface="Calibri"/>
                          <a:cs typeface="Calibri"/>
                        </a:rPr>
                        <a:t>39.3</a:t>
                      </a:r>
                    </a:p>
                  </a:txBody>
                  <a:tcPr marL="54864" marR="54864" marT="22860" marB="22860" anchor="ctr">
                    <a:solidFill>
                      <a:srgbClr val="EEF2FF"/>
                    </a:solidFill>
                  </a:tcPr>
                </a:tc>
                <a:tc>
                  <a:txBody>
                    <a:bodyPr wrap="square"/>
                    <a:lstStyle/>
                    <a:p>
                      <a:pPr algn="r"/>
                      <a:r>
                        <a:rPr sz="1100" b="0">
                          <a:solidFill>
                            <a:srgbClr val="2C2C2C"/>
                          </a:solidFill>
                          <a:latin typeface="Calibri"/>
                          <a:ea typeface="Calibri"/>
                          <a:cs typeface="Calibri"/>
                        </a:rPr>
                        <a:t>43.2</a:t>
                      </a:r>
                    </a:p>
                  </a:txBody>
                  <a:tcPr marL="54864" marR="54864" marT="22860" marB="22860" anchor="ctr">
                    <a:solidFill>
                      <a:srgbClr val="EEF2FF"/>
                    </a:solidFill>
                  </a:tcPr>
                </a:tc>
                <a:tc>
                  <a:txBody>
                    <a:bodyPr wrap="square"/>
                    <a:lstStyle/>
                    <a:p>
                      <a:pPr algn="r"/>
                      <a:r>
                        <a:rPr sz="1100" b="1">
                          <a:solidFill>
                            <a:srgbClr val="2C2C2C"/>
                          </a:solidFill>
                          <a:latin typeface="Calibri"/>
                          <a:ea typeface="Calibri"/>
                          <a:cs typeface="Calibri"/>
                        </a:rPr>
                        <a:t>58.5</a:t>
                      </a:r>
                    </a:p>
                  </a:txBody>
                  <a:tcPr marL="54864" marR="54864" marT="22860" marB="22860" anchor="ctr">
                    <a:solidFill>
                      <a:srgbClr val="EEF2FF"/>
                    </a:solidFill>
                  </a:tcPr>
                </a:tc>
                <a:tc>
                  <a:txBody>
                    <a:bodyPr wrap="square"/>
                    <a:lstStyle/>
                    <a:p>
                      <a:pPr algn="r"/>
                      <a:r>
                        <a:rPr sz="1100" b="0">
                          <a:solidFill>
                            <a:srgbClr val="2C2C2C"/>
                          </a:solidFill>
                          <a:latin typeface="Calibri"/>
                          <a:ea typeface="Calibri"/>
                          <a:cs typeface="Calibri"/>
                        </a:rPr>
                        <a:t>45.7</a:t>
                      </a:r>
                    </a:p>
                  </a:txBody>
                  <a:tcPr marL="54864" marR="54864" marT="22860" marB="22860" anchor="ctr">
                    <a:solidFill>
                      <a:srgbClr val="EEF2FF"/>
                    </a:solidFill>
                  </a:tcPr>
                </a:tc>
              </a:tr>
              <a:tr h="347472">
                <a:tc>
                  <a:txBody>
                    <a:bodyPr wrap="square"/>
                    <a:lstStyle/>
                    <a:p>
                      <a:pPr algn="l"/>
                      <a:r>
                        <a:rPr sz="1100" b="0">
                          <a:solidFill>
                            <a:srgbClr val="2C2C2C"/>
                          </a:solidFill>
                          <a:latin typeface="Calibri"/>
                          <a:ea typeface="Calibri"/>
                          <a:cs typeface="Calibri"/>
                        </a:rPr>
                        <a:t>L3 median of 3</a:t>
                      </a:r>
                    </a:p>
                  </a:txBody>
                  <a:tcPr marL="54864" marR="54864" marT="22860" marB="22860" anchor="ctr">
                    <a:solidFill>
                      <a:srgbClr val="FFFFFF"/>
                    </a:solidFill>
                  </a:tcPr>
                </a:tc>
                <a:tc>
                  <a:txBody>
                    <a:bodyPr wrap="square"/>
                    <a:lstStyle/>
                    <a:p>
                      <a:pPr algn="r"/>
                      <a:r>
                        <a:rPr sz="1100" b="0">
                          <a:solidFill>
                            <a:srgbClr val="2C2C2C"/>
                          </a:solidFill>
                          <a:latin typeface="Calibri"/>
                          <a:ea typeface="Calibri"/>
                          <a:cs typeface="Calibri"/>
                        </a:rPr>
                        <a:t>44.6</a:t>
                      </a:r>
                    </a:p>
                  </a:txBody>
                  <a:tcPr marL="54864" marR="54864" marT="22860" marB="22860" anchor="ctr">
                    <a:solidFill>
                      <a:srgbClr val="FFFFFF"/>
                    </a:solidFill>
                  </a:tcPr>
                </a:tc>
                <a:tc>
                  <a:txBody>
                    <a:bodyPr wrap="square"/>
                    <a:lstStyle/>
                    <a:p>
                      <a:pPr algn="r"/>
                      <a:r>
                        <a:rPr sz="1100" b="0">
                          <a:solidFill>
                            <a:srgbClr val="2C2C2C"/>
                          </a:solidFill>
                          <a:latin typeface="Calibri"/>
                          <a:ea typeface="Calibri"/>
                          <a:cs typeface="Calibri"/>
                        </a:rPr>
                        <a:t>40.9</a:t>
                      </a:r>
                    </a:p>
                  </a:txBody>
                  <a:tcPr marL="54864" marR="54864" marT="22860" marB="22860" anchor="ctr">
                    <a:solidFill>
                      <a:srgbClr val="FFFFFF"/>
                    </a:solidFill>
                  </a:tcPr>
                </a:tc>
                <a:tc>
                  <a:txBody>
                    <a:bodyPr wrap="square"/>
                    <a:lstStyle/>
                    <a:p>
                      <a:pPr algn="r"/>
                      <a:r>
                        <a:rPr sz="1100" b="0">
                          <a:solidFill>
                            <a:srgbClr val="2C2C2C"/>
                          </a:solidFill>
                          <a:latin typeface="Calibri"/>
                          <a:ea typeface="Calibri"/>
                          <a:cs typeface="Calibri"/>
                        </a:rPr>
                        <a:t>39.9</a:t>
                      </a:r>
                    </a:p>
                  </a:txBody>
                  <a:tcPr marL="54864" marR="54864" marT="22860" marB="22860" anchor="ctr">
                    <a:solidFill>
                      <a:srgbClr val="FFFFFF"/>
                    </a:solidFill>
                  </a:tcPr>
                </a:tc>
                <a:tc>
                  <a:txBody>
                    <a:bodyPr wrap="square"/>
                    <a:lstStyle/>
                    <a:p>
                      <a:pPr algn="r"/>
                      <a:r>
                        <a:rPr sz="1100" b="1">
                          <a:solidFill>
                            <a:srgbClr val="2C2C2C"/>
                          </a:solidFill>
                          <a:latin typeface="Calibri"/>
                          <a:ea typeface="Calibri"/>
                          <a:cs typeface="Calibri"/>
                        </a:rPr>
                        <a:t>58.3</a:t>
                      </a:r>
                    </a:p>
                  </a:txBody>
                  <a:tcPr marL="54864" marR="54864" marT="22860" marB="22860" anchor="ctr">
                    <a:solidFill>
                      <a:srgbClr val="FFFFFF"/>
                    </a:solidFill>
                  </a:tcPr>
                </a:tc>
                <a:tc>
                  <a:txBody>
                    <a:bodyPr wrap="square"/>
                    <a:lstStyle/>
                    <a:p>
                      <a:pPr algn="r"/>
                      <a:r>
                        <a:rPr sz="1100" b="0">
                          <a:solidFill>
                            <a:srgbClr val="2C2C2C"/>
                          </a:solidFill>
                          <a:latin typeface="Calibri"/>
                          <a:ea typeface="Calibri"/>
                          <a:cs typeface="Calibri"/>
                        </a:rPr>
                        <a:t>42.6</a:t>
                      </a:r>
                    </a:p>
                  </a:txBody>
                  <a:tcPr marL="54864" marR="54864" marT="22860" marB="22860" anchor="ctr">
                    <a:solidFill>
                      <a:srgbClr val="FFFFFF"/>
                    </a:solidFill>
                  </a:tcPr>
                </a:tc>
              </a:tr>
              <a:tr h="347472">
                <a:tc>
                  <a:txBody>
                    <a:bodyPr wrap="square"/>
                    <a:lstStyle/>
                    <a:p>
                      <a:pPr algn="l"/>
                      <a:r>
                        <a:rPr sz="1100" b="0">
                          <a:solidFill>
                            <a:srgbClr val="2C2C2C"/>
                          </a:solidFill>
                          <a:latin typeface="Calibri"/>
                          <a:ea typeface="Calibri"/>
                          <a:cs typeface="Calibri"/>
                        </a:rPr>
                        <a:t>L4 L0 + flags</a:t>
                      </a:r>
                    </a:p>
                  </a:txBody>
                  <a:tcPr marL="54864" marR="54864" marT="22860" marB="22860" anchor="ctr">
                    <a:solidFill>
                      <a:srgbClr val="EEF2FF"/>
                    </a:solidFill>
                  </a:tcPr>
                </a:tc>
                <a:tc>
                  <a:txBody>
                    <a:bodyPr wrap="square"/>
                    <a:lstStyle/>
                    <a:p>
                      <a:pPr algn="r"/>
                      <a:r>
                        <a:rPr sz="1100" b="0">
                          <a:solidFill>
                            <a:srgbClr val="2C2C2C"/>
                          </a:solidFill>
                          <a:latin typeface="Calibri"/>
                          <a:ea typeface="Calibri"/>
                          <a:cs typeface="Calibri"/>
                        </a:rPr>
                        <a:t>49.1</a:t>
                      </a:r>
                    </a:p>
                  </a:txBody>
                  <a:tcPr marL="54864" marR="54864" marT="22860" marB="22860" anchor="ctr">
                    <a:solidFill>
                      <a:srgbClr val="EEF2FF"/>
                    </a:solidFill>
                  </a:tcPr>
                </a:tc>
                <a:tc>
                  <a:txBody>
                    <a:bodyPr wrap="square"/>
                    <a:lstStyle/>
                    <a:p>
                      <a:pPr algn="r"/>
                      <a:r>
                        <a:rPr sz="1100" b="0">
                          <a:solidFill>
                            <a:srgbClr val="2C2C2C"/>
                          </a:solidFill>
                          <a:latin typeface="Calibri"/>
                          <a:ea typeface="Calibri"/>
                          <a:cs typeface="Calibri"/>
                        </a:rPr>
                        <a:t>39.2</a:t>
                      </a:r>
                    </a:p>
                  </a:txBody>
                  <a:tcPr marL="54864" marR="54864" marT="22860" marB="22860" anchor="ctr">
                    <a:solidFill>
                      <a:srgbClr val="EEF2FF"/>
                    </a:solidFill>
                  </a:tcPr>
                </a:tc>
                <a:tc>
                  <a:txBody>
                    <a:bodyPr wrap="square"/>
                    <a:lstStyle/>
                    <a:p>
                      <a:pPr algn="r"/>
                      <a:r>
                        <a:rPr sz="1100" b="0">
                          <a:solidFill>
                            <a:srgbClr val="2C2C2C"/>
                          </a:solidFill>
                          <a:latin typeface="Calibri"/>
                          <a:ea typeface="Calibri"/>
                          <a:cs typeface="Calibri"/>
                        </a:rPr>
                        <a:t>43.7</a:t>
                      </a:r>
                    </a:p>
                  </a:txBody>
                  <a:tcPr marL="54864" marR="54864" marT="22860" marB="22860" anchor="ctr">
                    <a:solidFill>
                      <a:srgbClr val="EEF2FF"/>
                    </a:solidFill>
                  </a:tcPr>
                </a:tc>
                <a:tc>
                  <a:txBody>
                    <a:bodyPr wrap="square"/>
                    <a:lstStyle/>
                    <a:p>
                      <a:pPr algn="r"/>
                      <a:r>
                        <a:rPr sz="1100" b="0">
                          <a:solidFill>
                            <a:srgbClr val="2C2C2C"/>
                          </a:solidFill>
                          <a:latin typeface="Calibri"/>
                          <a:ea typeface="Calibri"/>
                          <a:cs typeface="Calibri"/>
                        </a:rPr>
                        <a:t>70.3</a:t>
                      </a:r>
                    </a:p>
                  </a:txBody>
                  <a:tcPr marL="54864" marR="54864" marT="22860" marB="22860" anchor="ctr">
                    <a:solidFill>
                      <a:srgbClr val="EEF2FF"/>
                    </a:solidFill>
                  </a:tcPr>
                </a:tc>
                <a:tc>
                  <a:txBody>
                    <a:bodyPr wrap="square"/>
                    <a:lstStyle/>
                    <a:p>
                      <a:pPr algn="r"/>
                      <a:r>
                        <a:rPr sz="1100" b="0">
                          <a:solidFill>
                            <a:srgbClr val="2C2C2C"/>
                          </a:solidFill>
                          <a:latin typeface="Calibri"/>
                          <a:ea typeface="Calibri"/>
                          <a:cs typeface="Calibri"/>
                        </a:rPr>
                        <a:t>48.4</a:t>
                      </a:r>
                    </a:p>
                  </a:txBody>
                  <a:tcPr marL="54864" marR="54864" marT="22860" marB="22860" anchor="ctr">
                    <a:solidFill>
                      <a:srgbClr val="EEF2FF"/>
                    </a:solidFill>
                  </a:tcPr>
                </a:tc>
              </a:tr>
            </a:tbl>
          </a:graphicData>
        </a:graphic>
      </p:graphicFrame>
      <p:sp>
        <p:nvSpPr>
          <p:cNvPr id="7" name="TextBox 6"/>
          <p:cNvSpPr txBox="1"/>
          <p:nvPr/>
        </p:nvSpPr>
        <p:spPr>
          <a:xfrm>
            <a:off x="4572000" y="3246120"/>
            <a:ext cx="4114800" cy="365760"/>
          </a:xfrm>
          <a:prstGeom prst="rect">
            <a:avLst/>
          </a:prstGeom>
          <a:noFill/>
        </p:spPr>
        <p:txBody>
          <a:bodyPr wrap="square" lIns="0" rIns="0" tIns="0" bIns="0" anchor="t">
            <a:spAutoFit/>
          </a:bodyPr>
          <a:lstStyle/>
          <a:p>
            <a:pPr algn="l"/>
            <a:r>
              <a:rPr sz="1000" b="0">
                <a:solidFill>
                  <a:srgbClr val="64748B"/>
                </a:solidFill>
                <a:latin typeface="Calibri"/>
                <a:ea typeface="Calibri"/>
                <a:cs typeface="Calibri"/>
              </a:rPr>
              <a:t>Table 4 (paper): MAE, mean of 4 models, by days from the first holiday day</a:t>
            </a:r>
          </a:p>
        </p:txBody>
      </p:sp>
      <p:sp>
        <p:nvSpPr>
          <p:cNvPr id="8" name="Insight"/>
          <p:cNvSpPr txBox="1"/>
          <p:nvPr/>
        </p:nvSpPr>
        <p:spPr>
          <a:xfrm>
            <a:off x="457200" y="3977639"/>
            <a:ext cx="8229600" cy="914400"/>
          </a:xfrm>
          <a:prstGeom prst="rect">
            <a:avLst/>
          </a:prstGeom>
          <a:solidFill>
            <a:srgbClr val="EEF2FF"/>
          </a:solidFill>
        </p:spPr>
        <p:txBody>
          <a:bodyPr wrap="square" lIns="73152" rIns="73152" tIns="73152" bIns="73152" anchor="ctr">
            <a:spAutoFit/>
          </a:bodyPr>
          <a:lstStyle/>
          <a:p>
            <a:pPr algn="l"/>
            <a:r>
              <a:rPr sz="1200" b="1">
                <a:solidFill>
                  <a:srgbClr val="1F3864"/>
                </a:solidFill>
                <a:latin typeface="Calibri"/>
                <a:ea typeface="Calibri"/>
                <a:cs typeface="Calibri"/>
              </a:rPr>
              <a:t>Insight: </a:t>
            </a:r>
            <a:r>
              <a:rPr sz="1200" b="0">
                <a:solidFill>
                  <a:srgbClr val="2C2C2C"/>
                </a:solidFill>
                <a:latin typeface="Calibri"/>
                <a:ea typeface="Calibri"/>
                <a:cs typeface="Calibri"/>
              </a:rPr>
              <a:t>with the plain lag (L0) the error jumps from 38.5 on the holiday to 66.8 on day +7, when the lag looks back at the holiday. L2 and L3 cut day +7 by 8.3 and 8.5 vehicles; adding holiday flags (L4) makes it worse. (RQ3)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d"/>
          <p:cNvSpPr txBox="1"/>
          <p:nvPr/>
        </p:nvSpPr>
        <p:spPr>
          <a:xfrm>
            <a:off x="457200" y="182880"/>
            <a:ext cx="8229600" cy="777240"/>
          </a:xfrm>
          <a:prstGeom prst="rect">
            <a:avLst/>
          </a:prstGeom>
          <a:noFill/>
        </p:spPr>
        <p:txBody>
          <a:bodyPr wrap="square" lIns="0" rIns="0" tIns="0" bIns="0" anchor="ctr">
            <a:spAutoFit/>
          </a:bodyPr>
          <a:lstStyle/>
          <a:p>
            <a:pPr algn="l"/>
            <a:r>
              <a:rPr sz="2800" b="1">
                <a:solidFill>
                  <a:srgbClr val="1F3864"/>
                </a:solidFill>
                <a:latin typeface="Calibri"/>
                <a:ea typeface="Calibri"/>
                <a:cs typeface="Calibri"/>
              </a:rPr>
              <a:t>RQ3 — A better weekly lag removes most of the echo</a:t>
            </a:r>
          </a:p>
        </p:txBody>
      </p:sp>
      <p:cxnSp>
        <p:nvCxnSpPr>
          <p:cNvPr id="3" name="Div"/>
          <p:cNvCxnSpPr/>
          <p:nvPr/>
        </p:nvCxnSpPr>
        <p:spPr>
          <a:xfrm>
            <a:off x="457200" y="960120"/>
            <a:ext cx="8229600" cy="0"/>
          </a:xfrm>
          <a:prstGeom prst="line">
            <a:avLst/>
          </a:prstGeom>
          <a:ln w="19050">
            <a:solidFill>
              <a:srgbClr val="4472C4"/>
            </a:solidFill>
          </a:ln>
        </p:spPr>
        <p:style>
          <a:lnRef idx="2">
            <a:schemeClr val="accent1"/>
          </a:lnRef>
          <a:fillRef idx="0">
            <a:schemeClr val="accent1"/>
          </a:fillRef>
          <a:effectRef idx="1">
            <a:schemeClr val="accent1"/>
          </a:effectRef>
          <a:fontRef idx="minor">
            <a:schemeClr val="tx1"/>
          </a:fontRef>
        </p:style>
      </p:cxnSp>
      <p:graphicFrame>
        <p:nvGraphicFramePr>
          <p:cNvPr id="4" name="Table 3"/>
          <p:cNvGraphicFramePr>
            <a:graphicFrameLocks noGrp="1"/>
          </p:cNvGraphicFramePr>
          <p:nvPr/>
        </p:nvGraphicFramePr>
        <p:xfrm>
          <a:off x="457200" y="1097280"/>
          <a:ext cx="5120640" cy="2304288"/>
        </p:xfrm>
        <a:graphic>
          <a:graphicData uri="http://schemas.openxmlformats.org/drawingml/2006/table">
            <a:tbl>
              <a:tblPr firstRow="0" bandRow="0">
                <a:tableStyleId>{5C22544A-7EE6-4342-B048-85BDC9FD1C3A}</a:tableStyleId>
              </a:tblPr>
              <a:tblGrid>
                <a:gridCol w="1737360"/>
                <a:gridCol w="822960"/>
                <a:gridCol w="822960"/>
                <a:gridCol w="822960"/>
                <a:gridCol w="914400"/>
              </a:tblGrid>
              <a:tr h="384048">
                <a:tc>
                  <a:txBody>
                    <a:bodyPr wrap="square"/>
                    <a:lstStyle/>
                    <a:p>
                      <a:pPr algn="ctr"/>
                      <a:r>
                        <a:rPr sz="1200" b="1">
                          <a:solidFill>
                            <a:srgbClr val="FFFFFF"/>
                          </a:solidFill>
                          <a:latin typeface="Calibri"/>
                          <a:ea typeface="Calibri"/>
                          <a:cs typeface="Calibri"/>
                        </a:rPr>
                        <a:t>Variant</a:t>
                      </a:r>
                    </a:p>
                  </a:txBody>
                  <a:tcPr marL="54864" marR="54864" marT="22860" marB="22860" anchor="ctr">
                    <a:solidFill>
                      <a:srgbClr val="1F3864"/>
                    </a:solidFill>
                  </a:tcPr>
                </a:tc>
                <a:tc>
                  <a:txBody>
                    <a:bodyPr wrap="square"/>
                    <a:lstStyle/>
                    <a:p>
                      <a:pPr algn="ctr"/>
                      <a:r>
                        <a:rPr sz="1200" b="1">
                          <a:solidFill>
                            <a:srgbClr val="FFFFFF"/>
                          </a:solidFill>
                          <a:latin typeface="Calibri"/>
                          <a:ea typeface="Calibri"/>
                          <a:cs typeface="Calibri"/>
                        </a:rPr>
                        <a:t>Ordinary</a:t>
                      </a:r>
                    </a:p>
                  </a:txBody>
                  <a:tcPr marL="54864" marR="54864" marT="22860" marB="22860" anchor="ctr">
                    <a:solidFill>
                      <a:srgbClr val="1F3864"/>
                    </a:solidFill>
                  </a:tcPr>
                </a:tc>
                <a:tc>
                  <a:txBody>
                    <a:bodyPr wrap="square"/>
                    <a:lstStyle/>
                    <a:p>
                      <a:pPr algn="ctr"/>
                      <a:r>
                        <a:rPr sz="1200" b="1">
                          <a:solidFill>
                            <a:srgbClr val="FFFFFF"/>
                          </a:solidFill>
                          <a:latin typeface="Calibri"/>
                          <a:ea typeface="Calibri"/>
                          <a:cs typeface="Calibri"/>
                        </a:rPr>
                        <a:t>Holiday</a:t>
                      </a:r>
                    </a:p>
                  </a:txBody>
                  <a:tcPr marL="54864" marR="54864" marT="22860" marB="22860" anchor="ctr">
                    <a:solidFill>
                      <a:srgbClr val="1F3864"/>
                    </a:solidFill>
                  </a:tcPr>
                </a:tc>
                <a:tc>
                  <a:txBody>
                    <a:bodyPr wrap="square"/>
                    <a:lstStyle/>
                    <a:p>
                      <a:pPr algn="ctr"/>
                      <a:r>
                        <a:rPr sz="1200" b="1">
                          <a:solidFill>
                            <a:srgbClr val="FFFFFF"/>
                          </a:solidFill>
                          <a:latin typeface="Calibri"/>
                          <a:ea typeface="Calibri"/>
                          <a:cs typeface="Calibri"/>
                        </a:rPr>
                        <a:t>Arife</a:t>
                      </a:r>
                    </a:p>
                  </a:txBody>
                  <a:tcPr marL="54864" marR="54864" marT="22860" marB="22860" anchor="ctr">
                    <a:solidFill>
                      <a:srgbClr val="1F3864"/>
                    </a:solidFill>
                  </a:tcPr>
                </a:tc>
                <a:tc>
                  <a:txBody>
                    <a:bodyPr wrap="square"/>
                    <a:lstStyle/>
                    <a:p>
                      <a:pPr algn="ctr"/>
                      <a:r>
                        <a:rPr sz="1200" b="1">
                          <a:solidFill>
                            <a:srgbClr val="FFFFFF"/>
                          </a:solidFill>
                          <a:latin typeface="Calibri"/>
                          <a:ea typeface="Calibri"/>
                          <a:cs typeface="Calibri"/>
                        </a:rPr>
                        <a:t>Week after</a:t>
                      </a:r>
                    </a:p>
                  </a:txBody>
                  <a:tcPr marL="54864" marR="54864" marT="22860" marB="22860" anchor="ctr">
                    <a:solidFill>
                      <a:srgbClr val="1F3864"/>
                    </a:solidFill>
                  </a:tcPr>
                </a:tc>
              </a:tr>
              <a:tr h="384048">
                <a:tc>
                  <a:txBody>
                    <a:bodyPr wrap="square"/>
                    <a:lstStyle/>
                    <a:p>
                      <a:pPr algn="l"/>
                      <a:r>
                        <a:rPr sz="1200" b="0">
                          <a:solidFill>
                            <a:srgbClr val="2C2C2C"/>
                          </a:solidFill>
                          <a:latin typeface="Calibri"/>
                          <a:ea typeface="Calibri"/>
                          <a:cs typeface="Calibri"/>
                        </a:rPr>
                        <a:t>L0 plain lag</a:t>
                      </a:r>
                    </a:p>
                  </a:txBody>
                  <a:tcPr marL="54864" marR="54864" marT="22860" marB="22860" anchor="ctr">
                    <a:solidFill>
                      <a:srgbClr val="EEF2FF"/>
                    </a:solidFill>
                  </a:tcPr>
                </a:tc>
                <a:tc>
                  <a:txBody>
                    <a:bodyPr wrap="square"/>
                    <a:lstStyle/>
                    <a:p>
                      <a:pPr algn="r"/>
                      <a:r>
                        <a:rPr sz="1200" b="0">
                          <a:solidFill>
                            <a:srgbClr val="2C2C2C"/>
                          </a:solidFill>
                          <a:latin typeface="Calibri"/>
                          <a:ea typeface="Calibri"/>
                          <a:cs typeface="Calibri"/>
                        </a:rPr>
                        <a:t>40.8</a:t>
                      </a:r>
                    </a:p>
                  </a:txBody>
                  <a:tcPr marL="54864" marR="54864" marT="22860" marB="22860" anchor="ctr">
                    <a:solidFill>
                      <a:srgbClr val="EEF2FF"/>
                    </a:solidFill>
                  </a:tcPr>
                </a:tc>
                <a:tc>
                  <a:txBody>
                    <a:bodyPr wrap="square"/>
                    <a:lstStyle/>
                    <a:p>
                      <a:pPr algn="r"/>
                      <a:r>
                        <a:rPr sz="1200" b="0">
                          <a:solidFill>
                            <a:srgbClr val="2C2C2C"/>
                          </a:solidFill>
                          <a:latin typeface="Calibri"/>
                          <a:ea typeface="Calibri"/>
                          <a:cs typeface="Calibri"/>
                        </a:rPr>
                        <a:t>31.5</a:t>
                      </a:r>
                    </a:p>
                  </a:txBody>
                  <a:tcPr marL="54864" marR="54864" marT="22860" marB="22860" anchor="ctr">
                    <a:solidFill>
                      <a:srgbClr val="EEF2FF"/>
                    </a:solidFill>
                  </a:tcPr>
                </a:tc>
                <a:tc>
                  <a:txBody>
                    <a:bodyPr wrap="square"/>
                    <a:lstStyle/>
                    <a:p>
                      <a:pPr algn="r"/>
                      <a:r>
                        <a:rPr sz="1200" b="1">
                          <a:solidFill>
                            <a:srgbClr val="2C2C2C"/>
                          </a:solidFill>
                          <a:latin typeface="Calibri"/>
                          <a:ea typeface="Calibri"/>
                          <a:cs typeface="Calibri"/>
                        </a:rPr>
                        <a:t>50.7</a:t>
                      </a:r>
                    </a:p>
                  </a:txBody>
                  <a:tcPr marL="54864" marR="54864" marT="22860" marB="22860" anchor="ctr">
                    <a:solidFill>
                      <a:srgbClr val="EEF2FF"/>
                    </a:solidFill>
                  </a:tcPr>
                </a:tc>
                <a:tc>
                  <a:txBody>
                    <a:bodyPr wrap="square"/>
                    <a:lstStyle/>
                    <a:p>
                      <a:pPr algn="r"/>
                      <a:r>
                        <a:rPr sz="1200" b="0">
                          <a:solidFill>
                            <a:srgbClr val="2C2C2C"/>
                          </a:solidFill>
                          <a:latin typeface="Calibri"/>
                          <a:ea typeface="Calibri"/>
                          <a:cs typeface="Calibri"/>
                        </a:rPr>
                        <a:t>54.2</a:t>
                      </a:r>
                    </a:p>
                  </a:txBody>
                  <a:tcPr marL="54864" marR="54864" marT="22860" marB="22860" anchor="ctr">
                    <a:solidFill>
                      <a:srgbClr val="EEF2FF"/>
                    </a:solidFill>
                  </a:tcPr>
                </a:tc>
              </a:tr>
              <a:tr h="384048">
                <a:tc>
                  <a:txBody>
                    <a:bodyPr wrap="square"/>
                    <a:lstStyle/>
                    <a:p>
                      <a:pPr algn="l"/>
                      <a:r>
                        <a:rPr sz="1200" b="0">
                          <a:solidFill>
                            <a:srgbClr val="2C2C2C"/>
                          </a:solidFill>
                          <a:latin typeface="Calibri"/>
                          <a:ea typeface="Calibri"/>
                          <a:cs typeface="Calibri"/>
                        </a:rPr>
                        <a:t>L1 no weekly lag</a:t>
                      </a:r>
                    </a:p>
                  </a:txBody>
                  <a:tcPr marL="54864" marR="54864" marT="22860" marB="22860" anchor="ctr">
                    <a:solidFill>
                      <a:srgbClr val="FFFFFF"/>
                    </a:solidFill>
                  </a:tcPr>
                </a:tc>
                <a:tc>
                  <a:txBody>
                    <a:bodyPr wrap="square"/>
                    <a:lstStyle/>
                    <a:p>
                      <a:pPr algn="r"/>
                      <a:r>
                        <a:rPr sz="1200" b="0">
                          <a:solidFill>
                            <a:srgbClr val="2C2C2C"/>
                          </a:solidFill>
                          <a:latin typeface="Calibri"/>
                          <a:ea typeface="Calibri"/>
                          <a:cs typeface="Calibri"/>
                        </a:rPr>
                        <a:t>45.5</a:t>
                      </a:r>
                    </a:p>
                  </a:txBody>
                  <a:tcPr marL="54864" marR="54864" marT="22860" marB="22860" anchor="ctr">
                    <a:solidFill>
                      <a:srgbClr val="FFFFFF"/>
                    </a:solidFill>
                  </a:tcPr>
                </a:tc>
                <a:tc>
                  <a:txBody>
                    <a:bodyPr wrap="square"/>
                    <a:lstStyle/>
                    <a:p>
                      <a:pPr algn="r"/>
                      <a:r>
                        <a:rPr sz="1200" b="1">
                          <a:solidFill>
                            <a:srgbClr val="2C2C2C"/>
                          </a:solidFill>
                          <a:latin typeface="Calibri"/>
                          <a:ea typeface="Calibri"/>
                          <a:cs typeface="Calibri"/>
                        </a:rPr>
                        <a:t>30.4</a:t>
                      </a:r>
                    </a:p>
                  </a:txBody>
                  <a:tcPr marL="54864" marR="54864" marT="22860" marB="22860" anchor="ctr">
                    <a:solidFill>
                      <a:srgbClr val="FFFFFF"/>
                    </a:solidFill>
                  </a:tcPr>
                </a:tc>
                <a:tc>
                  <a:txBody>
                    <a:bodyPr wrap="square"/>
                    <a:lstStyle/>
                    <a:p>
                      <a:pPr algn="r"/>
                      <a:r>
                        <a:rPr sz="1200" b="0">
                          <a:solidFill>
                            <a:srgbClr val="2C2C2C"/>
                          </a:solidFill>
                          <a:latin typeface="Calibri"/>
                          <a:ea typeface="Calibri"/>
                          <a:cs typeface="Calibri"/>
                        </a:rPr>
                        <a:t>64.8</a:t>
                      </a:r>
                    </a:p>
                  </a:txBody>
                  <a:tcPr marL="54864" marR="54864" marT="22860" marB="22860" anchor="ctr">
                    <a:solidFill>
                      <a:srgbClr val="FFFFFF"/>
                    </a:solidFill>
                  </a:tcPr>
                </a:tc>
                <a:tc>
                  <a:txBody>
                    <a:bodyPr wrap="square"/>
                    <a:lstStyle/>
                    <a:p>
                      <a:pPr algn="r"/>
                      <a:r>
                        <a:rPr sz="1200" b="0">
                          <a:solidFill>
                            <a:srgbClr val="2C2C2C"/>
                          </a:solidFill>
                          <a:latin typeface="Calibri"/>
                          <a:ea typeface="Calibri"/>
                          <a:cs typeface="Calibri"/>
                        </a:rPr>
                        <a:t>46.9</a:t>
                      </a:r>
                    </a:p>
                  </a:txBody>
                  <a:tcPr marL="54864" marR="54864" marT="22860" marB="22860" anchor="ctr">
                    <a:solidFill>
                      <a:srgbClr val="FFFFFF"/>
                    </a:solidFill>
                  </a:tcPr>
                </a:tc>
              </a:tr>
              <a:tr h="384048">
                <a:tc>
                  <a:txBody>
                    <a:bodyPr wrap="square"/>
                    <a:lstStyle/>
                    <a:p>
                      <a:pPr algn="l"/>
                      <a:r>
                        <a:rPr sz="1200" b="0">
                          <a:solidFill>
                            <a:srgbClr val="2C2C2C"/>
                          </a:solidFill>
                          <a:latin typeface="Calibri"/>
                          <a:ea typeface="Calibri"/>
                          <a:cs typeface="Calibri"/>
                        </a:rPr>
                        <a:t>L2 ordinary week</a:t>
                      </a:r>
                    </a:p>
                  </a:txBody>
                  <a:tcPr marL="54864" marR="54864" marT="22860" marB="22860" anchor="ctr">
                    <a:solidFill>
                      <a:srgbClr val="EEF2FF"/>
                    </a:solidFill>
                  </a:tcPr>
                </a:tc>
                <a:tc>
                  <a:txBody>
                    <a:bodyPr wrap="square"/>
                    <a:lstStyle/>
                    <a:p>
                      <a:pPr algn="r"/>
                      <a:r>
                        <a:rPr sz="1200" b="0">
                          <a:solidFill>
                            <a:srgbClr val="2C2C2C"/>
                          </a:solidFill>
                          <a:latin typeface="Calibri"/>
                          <a:ea typeface="Calibri"/>
                          <a:cs typeface="Calibri"/>
                        </a:rPr>
                        <a:t>41.1</a:t>
                      </a:r>
                    </a:p>
                  </a:txBody>
                  <a:tcPr marL="54864" marR="54864" marT="22860" marB="22860" anchor="ctr">
                    <a:solidFill>
                      <a:srgbClr val="EEF2FF"/>
                    </a:solidFill>
                  </a:tcPr>
                </a:tc>
                <a:tc>
                  <a:txBody>
                    <a:bodyPr wrap="square"/>
                    <a:lstStyle/>
                    <a:p>
                      <a:pPr algn="r"/>
                      <a:r>
                        <a:rPr sz="1200" b="0">
                          <a:solidFill>
                            <a:srgbClr val="2C2C2C"/>
                          </a:solidFill>
                          <a:latin typeface="Calibri"/>
                          <a:ea typeface="Calibri"/>
                          <a:cs typeface="Calibri"/>
                        </a:rPr>
                        <a:t>32.3</a:t>
                      </a:r>
                    </a:p>
                  </a:txBody>
                  <a:tcPr marL="54864" marR="54864" marT="22860" marB="22860" anchor="ctr">
                    <a:solidFill>
                      <a:srgbClr val="EEF2FF"/>
                    </a:solidFill>
                  </a:tcPr>
                </a:tc>
                <a:tc>
                  <a:txBody>
                    <a:bodyPr wrap="square"/>
                    <a:lstStyle/>
                    <a:p>
                      <a:pPr algn="r"/>
                      <a:r>
                        <a:rPr sz="1200" b="0">
                          <a:solidFill>
                            <a:srgbClr val="2C2C2C"/>
                          </a:solidFill>
                          <a:latin typeface="Calibri"/>
                          <a:ea typeface="Calibri"/>
                          <a:cs typeface="Calibri"/>
                        </a:rPr>
                        <a:t>52.5</a:t>
                      </a:r>
                    </a:p>
                  </a:txBody>
                  <a:tcPr marL="54864" marR="54864" marT="22860" marB="22860" anchor="ctr">
                    <a:solidFill>
                      <a:srgbClr val="EEF2FF"/>
                    </a:solidFill>
                  </a:tcPr>
                </a:tc>
                <a:tc>
                  <a:txBody>
                    <a:bodyPr wrap="square"/>
                    <a:lstStyle/>
                    <a:p>
                      <a:pPr algn="r"/>
                      <a:r>
                        <a:rPr sz="1200" b="1">
                          <a:solidFill>
                            <a:srgbClr val="2C2C2C"/>
                          </a:solidFill>
                          <a:latin typeface="Calibri"/>
                          <a:ea typeface="Calibri"/>
                          <a:cs typeface="Calibri"/>
                        </a:rPr>
                        <a:t>41.8</a:t>
                      </a:r>
                    </a:p>
                  </a:txBody>
                  <a:tcPr marL="54864" marR="54864" marT="22860" marB="22860" anchor="ctr">
                    <a:solidFill>
                      <a:srgbClr val="EEF2FF"/>
                    </a:solidFill>
                  </a:tcPr>
                </a:tc>
              </a:tr>
              <a:tr h="384048">
                <a:tc>
                  <a:txBody>
                    <a:bodyPr wrap="square"/>
                    <a:lstStyle/>
                    <a:p>
                      <a:pPr algn="l"/>
                      <a:r>
                        <a:rPr sz="1200" b="0">
                          <a:solidFill>
                            <a:srgbClr val="2C2C2C"/>
                          </a:solidFill>
                          <a:latin typeface="Calibri"/>
                          <a:ea typeface="Calibri"/>
                          <a:cs typeface="Calibri"/>
                        </a:rPr>
                        <a:t>L3 median of 3</a:t>
                      </a:r>
                    </a:p>
                  </a:txBody>
                  <a:tcPr marL="54864" marR="54864" marT="22860" marB="22860" anchor="ctr">
                    <a:solidFill>
                      <a:srgbClr val="FFFFFF"/>
                    </a:solidFill>
                  </a:tcPr>
                </a:tc>
                <a:tc>
                  <a:txBody>
                    <a:bodyPr wrap="square"/>
                    <a:lstStyle/>
                    <a:p>
                      <a:pPr algn="r"/>
                      <a:r>
                        <a:rPr sz="1200" b="1">
                          <a:solidFill>
                            <a:srgbClr val="2C2C2C"/>
                          </a:solidFill>
                          <a:latin typeface="Calibri"/>
                          <a:ea typeface="Calibri"/>
                          <a:cs typeface="Calibri"/>
                        </a:rPr>
                        <a:t>39.5</a:t>
                      </a:r>
                    </a:p>
                  </a:txBody>
                  <a:tcPr marL="54864" marR="54864" marT="22860" marB="22860" anchor="ctr">
                    <a:solidFill>
                      <a:srgbClr val="FFFFFF"/>
                    </a:solidFill>
                  </a:tcPr>
                </a:tc>
                <a:tc>
                  <a:txBody>
                    <a:bodyPr wrap="square"/>
                    <a:lstStyle/>
                    <a:p>
                      <a:pPr algn="r"/>
                      <a:r>
                        <a:rPr sz="1200" b="0">
                          <a:solidFill>
                            <a:srgbClr val="2C2C2C"/>
                          </a:solidFill>
                          <a:latin typeface="Calibri"/>
                          <a:ea typeface="Calibri"/>
                          <a:cs typeface="Calibri"/>
                        </a:rPr>
                        <a:t>35.8</a:t>
                      </a:r>
                    </a:p>
                  </a:txBody>
                  <a:tcPr marL="54864" marR="54864" marT="22860" marB="22860" anchor="ctr">
                    <a:solidFill>
                      <a:srgbClr val="FFFFFF"/>
                    </a:solidFill>
                  </a:tcPr>
                </a:tc>
                <a:tc>
                  <a:txBody>
                    <a:bodyPr wrap="square"/>
                    <a:lstStyle/>
                    <a:p>
                      <a:pPr algn="r"/>
                      <a:r>
                        <a:rPr sz="1200" b="0">
                          <a:solidFill>
                            <a:srgbClr val="2C2C2C"/>
                          </a:solidFill>
                          <a:latin typeface="Calibri"/>
                          <a:ea typeface="Calibri"/>
                          <a:cs typeface="Calibri"/>
                        </a:rPr>
                        <a:t>54.9</a:t>
                      </a:r>
                    </a:p>
                  </a:txBody>
                  <a:tcPr marL="54864" marR="54864" marT="22860" marB="22860" anchor="ctr">
                    <a:solidFill>
                      <a:srgbClr val="FFFFFF"/>
                    </a:solidFill>
                  </a:tcPr>
                </a:tc>
                <a:tc>
                  <a:txBody>
                    <a:bodyPr wrap="square"/>
                    <a:lstStyle/>
                    <a:p>
                      <a:pPr algn="r"/>
                      <a:r>
                        <a:rPr sz="1200" b="1">
                          <a:solidFill>
                            <a:srgbClr val="2C2C2C"/>
                          </a:solidFill>
                          <a:latin typeface="Calibri"/>
                          <a:ea typeface="Calibri"/>
                          <a:cs typeface="Calibri"/>
                        </a:rPr>
                        <a:t>41.1</a:t>
                      </a:r>
                    </a:p>
                  </a:txBody>
                  <a:tcPr marL="54864" marR="54864" marT="22860" marB="22860" anchor="ctr">
                    <a:solidFill>
                      <a:srgbClr val="FFFFFF"/>
                    </a:solidFill>
                  </a:tcPr>
                </a:tc>
              </a:tr>
              <a:tr h="384048">
                <a:tc>
                  <a:txBody>
                    <a:bodyPr wrap="square"/>
                    <a:lstStyle/>
                    <a:p>
                      <a:pPr algn="l"/>
                      <a:r>
                        <a:rPr sz="1200" b="0">
                          <a:solidFill>
                            <a:srgbClr val="2C2C2C"/>
                          </a:solidFill>
                          <a:latin typeface="Calibri"/>
                          <a:ea typeface="Calibri"/>
                          <a:cs typeface="Calibri"/>
                        </a:rPr>
                        <a:t>L4 L0 + flags</a:t>
                      </a:r>
                    </a:p>
                  </a:txBody>
                  <a:tcPr marL="54864" marR="54864" marT="22860" marB="22860" anchor="ctr">
                    <a:solidFill>
                      <a:srgbClr val="EEF2FF"/>
                    </a:solidFill>
                  </a:tcPr>
                </a:tc>
                <a:tc>
                  <a:txBody>
                    <a:bodyPr wrap="square"/>
                    <a:lstStyle/>
                    <a:p>
                      <a:pPr algn="r"/>
                      <a:r>
                        <a:rPr sz="1200" b="0">
                          <a:solidFill>
                            <a:srgbClr val="2C2C2C"/>
                          </a:solidFill>
                          <a:latin typeface="Calibri"/>
                          <a:ea typeface="Calibri"/>
                          <a:cs typeface="Calibri"/>
                        </a:rPr>
                        <a:t>41.6</a:t>
                      </a:r>
                    </a:p>
                  </a:txBody>
                  <a:tcPr marL="54864" marR="54864" marT="22860" marB="22860" anchor="ctr">
                    <a:solidFill>
                      <a:srgbClr val="EEF2FF"/>
                    </a:solidFill>
                  </a:tcPr>
                </a:tc>
                <a:tc>
                  <a:txBody>
                    <a:bodyPr wrap="square"/>
                    <a:lstStyle/>
                    <a:p>
                      <a:pPr algn="r"/>
                      <a:r>
                        <a:rPr sz="1200" b="0">
                          <a:solidFill>
                            <a:srgbClr val="2C2C2C"/>
                          </a:solidFill>
                          <a:latin typeface="Calibri"/>
                          <a:ea typeface="Calibri"/>
                          <a:cs typeface="Calibri"/>
                        </a:rPr>
                        <a:t>31.8</a:t>
                      </a:r>
                    </a:p>
                  </a:txBody>
                  <a:tcPr marL="54864" marR="54864" marT="22860" marB="22860" anchor="ctr">
                    <a:solidFill>
                      <a:srgbClr val="EEF2FF"/>
                    </a:solidFill>
                  </a:tcPr>
                </a:tc>
                <a:tc>
                  <a:txBody>
                    <a:bodyPr wrap="square"/>
                    <a:lstStyle/>
                    <a:p>
                      <a:pPr algn="r"/>
                      <a:r>
                        <a:rPr sz="1200" b="0">
                          <a:solidFill>
                            <a:srgbClr val="2C2C2C"/>
                          </a:solidFill>
                          <a:latin typeface="Calibri"/>
                          <a:ea typeface="Calibri"/>
                          <a:cs typeface="Calibri"/>
                        </a:rPr>
                        <a:t>51.0</a:t>
                      </a:r>
                    </a:p>
                  </a:txBody>
                  <a:tcPr marL="54864" marR="54864" marT="22860" marB="22860" anchor="ctr">
                    <a:solidFill>
                      <a:srgbClr val="EEF2FF"/>
                    </a:solidFill>
                  </a:tcPr>
                </a:tc>
                <a:tc>
                  <a:txBody>
                    <a:bodyPr wrap="square"/>
                    <a:lstStyle/>
                    <a:p>
                      <a:pPr algn="r"/>
                      <a:r>
                        <a:rPr sz="1200" b="0">
                          <a:solidFill>
                            <a:srgbClr val="2C2C2C"/>
                          </a:solidFill>
                          <a:latin typeface="Calibri"/>
                          <a:ea typeface="Calibri"/>
                          <a:cs typeface="Calibri"/>
                        </a:rPr>
                        <a:t>54.6</a:t>
                      </a:r>
                    </a:p>
                  </a:txBody>
                  <a:tcPr marL="54864" marR="54864" marT="22860" marB="22860" anchor="ctr">
                    <a:solidFill>
                      <a:srgbClr val="EEF2FF"/>
                    </a:solidFill>
                  </a:tcPr>
                </a:tc>
              </a:tr>
            </a:tbl>
          </a:graphicData>
        </a:graphic>
      </p:graphicFrame>
      <p:sp>
        <p:nvSpPr>
          <p:cNvPr id="5" name="Caption"/>
          <p:cNvSpPr txBox="1"/>
          <p:nvPr/>
        </p:nvSpPr>
        <p:spPr>
          <a:xfrm>
            <a:off x="457200" y="3474720"/>
            <a:ext cx="5120640" cy="201168"/>
          </a:xfrm>
          <a:prstGeom prst="rect">
            <a:avLst/>
          </a:prstGeom>
          <a:noFill/>
        </p:spPr>
        <p:txBody>
          <a:bodyPr wrap="square" lIns="0" rIns="0" tIns="0" bIns="0" anchor="t">
            <a:spAutoFit/>
          </a:bodyPr>
          <a:lstStyle/>
          <a:p>
            <a:pPr algn="l"/>
            <a:r>
              <a:rPr sz="1000" b="0">
                <a:solidFill>
                  <a:srgbClr val="64748B"/>
                </a:solidFill>
                <a:latin typeface="Calibri"/>
                <a:ea typeface="Calibri"/>
                <a:cs typeface="Calibri"/>
              </a:rPr>
              <a:t>Table 5 (paper): MAE, mean of 4 models, by target-day group; best per column in bold.</a:t>
            </a:r>
          </a:p>
        </p:txBody>
      </p:sp>
      <p:sp>
        <p:nvSpPr>
          <p:cNvPr id="6" name="Rectangle 5"/>
          <p:cNvSpPr/>
          <p:nvPr/>
        </p:nvSpPr>
        <p:spPr>
          <a:xfrm>
            <a:off x="5760720" y="1097280"/>
            <a:ext cx="2926080" cy="1143000"/>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870448" y="1170432"/>
            <a:ext cx="2706624" cy="502920"/>
          </a:xfrm>
          <a:prstGeom prst="rect">
            <a:avLst/>
          </a:prstGeom>
          <a:noFill/>
        </p:spPr>
        <p:txBody>
          <a:bodyPr wrap="square" lIns="0" rIns="0" tIns="0" bIns="0" anchor="ctr">
            <a:spAutoFit/>
          </a:bodyPr>
          <a:lstStyle/>
          <a:p>
            <a:pPr algn="l"/>
            <a:r>
              <a:rPr sz="2600" b="1">
                <a:solidFill>
                  <a:srgbClr val="7C3AED"/>
                </a:solidFill>
                <a:latin typeface="Calibri"/>
                <a:ea typeface="Calibri"/>
                <a:cs typeface="Calibri"/>
              </a:rPr>
              <a:t>54.2 → 41.8</a:t>
            </a:r>
            <a:r>
              <a:rPr sz="1200" b="1">
                <a:solidFill>
                  <a:srgbClr val="7C3AED"/>
                </a:solidFill>
                <a:latin typeface="Calibri"/>
                <a:ea typeface="Calibri"/>
                <a:cs typeface="Calibri"/>
              </a:rPr>
              <a:t>  </a:t>
            </a:r>
          </a:p>
        </p:txBody>
      </p:sp>
      <p:sp>
        <p:nvSpPr>
          <p:cNvPr id="8" name="TextBox 7"/>
          <p:cNvSpPr txBox="1"/>
          <p:nvPr/>
        </p:nvSpPr>
        <p:spPr>
          <a:xfrm>
            <a:off x="5870448" y="1664207"/>
            <a:ext cx="2706624" cy="521207"/>
          </a:xfrm>
          <a:prstGeom prst="rect">
            <a:avLst/>
          </a:prstGeom>
          <a:noFill/>
        </p:spPr>
        <p:txBody>
          <a:bodyPr wrap="square" lIns="0" rIns="0" tIns="0" bIns="0" anchor="t">
            <a:spAutoFit/>
          </a:bodyPr>
          <a:lstStyle/>
          <a:p>
            <a:pPr algn="l"/>
            <a:r>
              <a:rPr sz="1100" b="0">
                <a:solidFill>
                  <a:srgbClr val="64748B"/>
                </a:solidFill>
                <a:latin typeface="Calibri"/>
                <a:ea typeface="Calibri"/>
                <a:cs typeface="Calibri"/>
              </a:rPr>
              <a:t>week-after-holiday MAE, L0 → L2 (ordinary days cost 0.2)</a:t>
            </a:r>
          </a:p>
        </p:txBody>
      </p:sp>
      <p:sp>
        <p:nvSpPr>
          <p:cNvPr id="9" name="Rectangle 8"/>
          <p:cNvSpPr/>
          <p:nvPr/>
        </p:nvSpPr>
        <p:spPr>
          <a:xfrm>
            <a:off x="5760720" y="2377440"/>
            <a:ext cx="2926080" cy="1325880"/>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852159" y="2432304"/>
            <a:ext cx="2743200" cy="1216152"/>
          </a:xfrm>
          <a:prstGeom prst="rect">
            <a:avLst/>
          </a:prstGeom>
          <a:noFill/>
        </p:spPr>
        <p:txBody>
          <a:bodyPr wrap="square" lIns="36576" rIns="36576" tIns="36576" bIns="36576" anchor="t">
            <a:spAutoFit/>
          </a:bodyPr>
          <a:lstStyle/>
          <a:p>
            <a:pPr algn="l">
              <a:spcAft>
                <a:spcPts val="200"/>
              </a:spcAft>
            </a:pPr>
            <a:r>
              <a:rPr sz="1200" b="1">
                <a:solidFill>
                  <a:srgbClr val="0D9488"/>
                </a:solidFill>
                <a:latin typeface="Calibri"/>
                <a:ea typeface="Calibri"/>
                <a:cs typeface="Calibri"/>
              </a:rPr>
              <a:t>Wilcoxon, 33 week-after days</a:t>
            </a:r>
          </a:p>
          <a:p>
            <a:pPr algn="l">
              <a:spcAft>
                <a:spcPts val="200"/>
              </a:spcAft>
            </a:pPr>
            <a:r>
              <a:rPr sz="1150" b="0">
                <a:solidFill>
                  <a:srgbClr val="2C2C2C"/>
                </a:solidFill>
                <a:latin typeface="Calibri"/>
                <a:ea typeface="Calibri"/>
                <a:cs typeface="Calibri"/>
              </a:rPr>
              <a:t>L2 and L3 beat L0 for all 4 models: median −1.9 to −9.8 vehicles per day, p &lt; 0.01</a:t>
            </a:r>
          </a:p>
        </p:txBody>
      </p:sp>
      <p:sp>
        <p:nvSpPr>
          <p:cNvPr id="11" name="Rectangle 10"/>
          <p:cNvSpPr/>
          <p:nvPr/>
        </p:nvSpPr>
        <p:spPr>
          <a:xfrm>
            <a:off x="457200" y="3840480"/>
            <a:ext cx="8229600" cy="1051560"/>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48640" y="3895344"/>
            <a:ext cx="8046720" cy="941831"/>
          </a:xfrm>
          <a:prstGeom prst="rect">
            <a:avLst/>
          </a:prstGeom>
          <a:noFill/>
        </p:spPr>
        <p:txBody>
          <a:bodyPr wrap="square" lIns="36576" rIns="36576" tIns="36576" bIns="36576" anchor="t">
            <a:spAutoFit/>
          </a:bodyPr>
          <a:lstStyle/>
          <a:p>
            <a:pPr algn="l">
              <a:spcAft>
                <a:spcPts val="200"/>
              </a:spcAft>
            </a:pPr>
            <a:r>
              <a:rPr sz="1200" b="1">
                <a:solidFill>
                  <a:srgbClr val="EA580C"/>
                </a:solidFill>
                <a:latin typeface="Calibri"/>
                <a:ea typeface="Calibri"/>
                <a:cs typeface="Calibri"/>
              </a:rPr>
              <a:t>Removing the lag is not a fix</a:t>
            </a:r>
          </a:p>
          <a:p>
            <a:pPr algn="l">
              <a:spcAft>
                <a:spcPts val="200"/>
              </a:spcAft>
            </a:pPr>
            <a:r>
              <a:rPr sz="1150" b="0">
                <a:solidFill>
                  <a:srgbClr val="2C2C2C"/>
                </a:solidFill>
                <a:latin typeface="Calibri"/>
                <a:ea typeface="Calibri"/>
                <a:cs typeface="Calibri"/>
              </a:rPr>
              <a:t>L1 helps the week after (46.9) but is worse on ordinary days (45.5) and on arife (64.8). Over all 630 days, L2 is slightly worse than L0 for LightGBM and MLP (median +0.14 and +1.02): a small price for the week-after gain.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d"/>
          <p:cNvSpPr txBox="1"/>
          <p:nvPr/>
        </p:nvSpPr>
        <p:spPr>
          <a:xfrm>
            <a:off x="457200" y="182880"/>
            <a:ext cx="8229600" cy="777240"/>
          </a:xfrm>
          <a:prstGeom prst="rect">
            <a:avLst/>
          </a:prstGeom>
          <a:noFill/>
        </p:spPr>
        <p:txBody>
          <a:bodyPr wrap="square" lIns="0" rIns="0" tIns="0" bIns="0" anchor="ctr">
            <a:spAutoFit/>
          </a:bodyPr>
          <a:lstStyle/>
          <a:p>
            <a:pPr algn="l"/>
            <a:r>
              <a:rPr sz="2800" b="1">
                <a:solidFill>
                  <a:srgbClr val="1F3864"/>
                </a:solidFill>
                <a:latin typeface="Calibri"/>
                <a:ea typeface="Calibri"/>
                <a:cs typeface="Calibri"/>
              </a:rPr>
              <a:t>RQ3 — Models lean on the weekly lag</a:t>
            </a:r>
          </a:p>
        </p:txBody>
      </p:sp>
      <p:cxnSp>
        <p:nvCxnSpPr>
          <p:cNvPr id="3" name="Div"/>
          <p:cNvCxnSpPr/>
          <p:nvPr/>
        </p:nvCxnSpPr>
        <p:spPr>
          <a:xfrm>
            <a:off x="457200" y="960120"/>
            <a:ext cx="8229600" cy="0"/>
          </a:xfrm>
          <a:prstGeom prst="line">
            <a:avLst/>
          </a:prstGeom>
          <a:ln w="19050">
            <a:solidFill>
              <a:srgbClr val="4472C4"/>
            </a:solidFill>
          </a:ln>
        </p:spPr>
        <p:style>
          <a:lnRef idx="2">
            <a:schemeClr val="accent1"/>
          </a:lnRef>
          <a:fillRef idx="0">
            <a:schemeClr val="accent1"/>
          </a:fillRef>
          <a:effectRef idx="1">
            <a:schemeClr val="accent1"/>
          </a:effectRef>
          <a:fontRef idx="minor">
            <a:schemeClr val="tx1"/>
          </a:fontRef>
        </p:style>
      </p:cxnSp>
      <p:graphicFrame>
        <p:nvGraphicFramePr>
          <p:cNvPr id="4" name="Table 3"/>
          <p:cNvGraphicFramePr>
            <a:graphicFrameLocks noGrp="1"/>
          </p:cNvGraphicFramePr>
          <p:nvPr/>
        </p:nvGraphicFramePr>
        <p:xfrm>
          <a:off x="457200" y="1097280"/>
          <a:ext cx="5394960" cy="2304288"/>
        </p:xfrm>
        <a:graphic>
          <a:graphicData uri="http://schemas.openxmlformats.org/drawingml/2006/table">
            <a:tbl>
              <a:tblPr firstRow="0" bandRow="0">
                <a:tableStyleId>{5C22544A-7EE6-4342-B048-85BDC9FD1C3A}</a:tableStyleId>
              </a:tblPr>
              <a:tblGrid>
                <a:gridCol w="1618488"/>
                <a:gridCol w="944118"/>
                <a:gridCol w="944118"/>
                <a:gridCol w="944118"/>
                <a:gridCol w="944118"/>
              </a:tblGrid>
              <a:tr h="384048">
                <a:tc>
                  <a:txBody>
                    <a:bodyPr wrap="square"/>
                    <a:lstStyle/>
                    <a:p>
                      <a:pPr algn="ctr"/>
                      <a:r>
                        <a:rPr sz="1150" b="1">
                          <a:solidFill>
                            <a:srgbClr val="FFFFFF"/>
                          </a:solidFill>
                          <a:latin typeface="Calibri"/>
                          <a:ea typeface="Calibri"/>
                          <a:cs typeface="Calibri"/>
                        </a:rPr>
                        <a:t>Feature group</a:t>
                      </a:r>
                    </a:p>
                  </a:txBody>
                  <a:tcPr marL="54864" marR="54864" marT="22860" marB="22860" anchor="ctr">
                    <a:solidFill>
                      <a:srgbClr val="1F3864"/>
                    </a:solidFill>
                  </a:tcPr>
                </a:tc>
                <a:tc>
                  <a:txBody>
                    <a:bodyPr wrap="square"/>
                    <a:lstStyle/>
                    <a:p>
                      <a:pPr algn="ctr"/>
                      <a:r>
                        <a:rPr sz="1150" b="1">
                          <a:solidFill>
                            <a:srgbClr val="FFFFFF"/>
                          </a:solidFill>
                          <a:latin typeface="Calibri"/>
                          <a:ea typeface="Calibri"/>
                          <a:cs typeface="Calibri"/>
                        </a:rPr>
                        <a:t>Ridge</a:t>
                      </a:r>
                    </a:p>
                  </a:txBody>
                  <a:tcPr marL="54864" marR="54864" marT="22860" marB="22860" anchor="ctr">
                    <a:solidFill>
                      <a:srgbClr val="1F3864"/>
                    </a:solidFill>
                  </a:tcPr>
                </a:tc>
                <a:tc>
                  <a:txBody>
                    <a:bodyPr wrap="square"/>
                    <a:lstStyle/>
                    <a:p>
                      <a:pPr algn="ctr"/>
                      <a:r>
                        <a:rPr sz="1150" b="1">
                          <a:solidFill>
                            <a:srgbClr val="FFFFFF"/>
                          </a:solidFill>
                          <a:latin typeface="Calibri"/>
                          <a:ea typeface="Calibri"/>
                          <a:cs typeface="Calibri"/>
                        </a:rPr>
                        <a:t>ET</a:t>
                      </a:r>
                    </a:p>
                  </a:txBody>
                  <a:tcPr marL="54864" marR="54864" marT="22860" marB="22860" anchor="ctr">
                    <a:solidFill>
                      <a:srgbClr val="1F3864"/>
                    </a:solidFill>
                  </a:tcPr>
                </a:tc>
                <a:tc>
                  <a:txBody>
                    <a:bodyPr wrap="square"/>
                    <a:lstStyle/>
                    <a:p>
                      <a:pPr algn="ctr"/>
                      <a:r>
                        <a:rPr sz="1150" b="1">
                          <a:solidFill>
                            <a:srgbClr val="FFFFFF"/>
                          </a:solidFill>
                          <a:latin typeface="Calibri"/>
                          <a:ea typeface="Calibri"/>
                          <a:cs typeface="Calibri"/>
                        </a:rPr>
                        <a:t>LGBM</a:t>
                      </a:r>
                    </a:p>
                  </a:txBody>
                  <a:tcPr marL="54864" marR="54864" marT="22860" marB="22860" anchor="ctr">
                    <a:solidFill>
                      <a:srgbClr val="1F3864"/>
                    </a:solidFill>
                  </a:tcPr>
                </a:tc>
                <a:tc>
                  <a:txBody>
                    <a:bodyPr wrap="square"/>
                    <a:lstStyle/>
                    <a:p>
                      <a:pPr algn="ctr"/>
                      <a:r>
                        <a:rPr sz="1150" b="1">
                          <a:solidFill>
                            <a:srgbClr val="FFFFFF"/>
                          </a:solidFill>
                          <a:latin typeface="Calibri"/>
                          <a:ea typeface="Calibri"/>
                          <a:cs typeface="Calibri"/>
                        </a:rPr>
                        <a:t>MLP</a:t>
                      </a:r>
                    </a:p>
                  </a:txBody>
                  <a:tcPr marL="54864" marR="54864" marT="22860" marB="22860" anchor="ctr">
                    <a:solidFill>
                      <a:srgbClr val="1F3864"/>
                    </a:solidFill>
                  </a:tcPr>
                </a:tc>
              </a:tr>
              <a:tr h="384048">
                <a:tc>
                  <a:txBody>
                    <a:bodyPr wrap="square"/>
                    <a:lstStyle/>
                    <a:p>
                      <a:pPr algn="l"/>
                      <a:r>
                        <a:rPr sz="1150" b="0">
                          <a:solidFill>
                            <a:srgbClr val="2C2C2C"/>
                          </a:solidFill>
                          <a:latin typeface="Calibri"/>
                          <a:ea typeface="Calibri"/>
                          <a:cs typeface="Calibri"/>
                        </a:rPr>
                        <a:t>Recent traffic</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42.8 (49.7)</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51.0 (69.1)</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57.8 (79.8)</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49.4 (73.5)</a:t>
                      </a:r>
                    </a:p>
                  </a:txBody>
                  <a:tcPr marL="54864" marR="54864" marT="22860" marB="22860" anchor="ctr">
                    <a:solidFill>
                      <a:srgbClr val="EEF2FF"/>
                    </a:solidFill>
                  </a:tcPr>
                </a:tc>
              </a:tr>
              <a:tr h="384048">
                <a:tc>
                  <a:txBody>
                    <a:bodyPr wrap="square"/>
                    <a:lstStyle/>
                    <a:p>
                      <a:pPr algn="l"/>
                      <a:r>
                        <a:rPr sz="1150" b="1">
                          <a:solidFill>
                            <a:srgbClr val="2C2C2C"/>
                          </a:solidFill>
                          <a:latin typeface="Calibri"/>
                          <a:ea typeface="Calibri"/>
                          <a:cs typeface="Calibri"/>
                        </a:rPr>
                        <a:t>Same hour last week</a:t>
                      </a:r>
                    </a:p>
                  </a:txBody>
                  <a:tcPr marL="54864" marR="54864" marT="22860" marB="22860" anchor="ctr">
                    <a:solidFill>
                      <a:srgbClr val="FFFFFF"/>
                    </a:solidFill>
                  </a:tcPr>
                </a:tc>
                <a:tc>
                  <a:txBody>
                    <a:bodyPr wrap="square"/>
                    <a:lstStyle/>
                    <a:p>
                      <a:pPr algn="r"/>
                      <a:r>
                        <a:rPr sz="1150" b="1">
                          <a:solidFill>
                            <a:srgbClr val="2C2C2C"/>
                          </a:solidFill>
                          <a:latin typeface="Calibri"/>
                          <a:ea typeface="Calibri"/>
                          <a:cs typeface="Calibri"/>
                        </a:rPr>
                        <a:t>33.1 (38.4)</a:t>
                      </a:r>
                    </a:p>
                  </a:txBody>
                  <a:tcPr marL="54864" marR="54864" marT="22860" marB="22860" anchor="ctr">
                    <a:solidFill>
                      <a:srgbClr val="FFFFFF"/>
                    </a:solidFill>
                  </a:tcPr>
                </a:tc>
                <a:tc>
                  <a:txBody>
                    <a:bodyPr wrap="square"/>
                    <a:lstStyle/>
                    <a:p>
                      <a:pPr algn="r"/>
                      <a:r>
                        <a:rPr sz="1150" b="1">
                          <a:solidFill>
                            <a:srgbClr val="2C2C2C"/>
                          </a:solidFill>
                          <a:latin typeface="Calibri"/>
                          <a:ea typeface="Calibri"/>
                          <a:cs typeface="Calibri"/>
                        </a:rPr>
                        <a:t>11.1 (15.0)</a:t>
                      </a:r>
                    </a:p>
                  </a:txBody>
                  <a:tcPr marL="54864" marR="54864" marT="22860" marB="22860" anchor="ctr">
                    <a:solidFill>
                      <a:srgbClr val="FFFFFF"/>
                    </a:solidFill>
                  </a:tcPr>
                </a:tc>
                <a:tc>
                  <a:txBody>
                    <a:bodyPr wrap="square"/>
                    <a:lstStyle/>
                    <a:p>
                      <a:pPr algn="r"/>
                      <a:r>
                        <a:rPr sz="1150" b="1">
                          <a:solidFill>
                            <a:srgbClr val="2C2C2C"/>
                          </a:solidFill>
                          <a:latin typeface="Calibri"/>
                          <a:ea typeface="Calibri"/>
                          <a:cs typeface="Calibri"/>
                        </a:rPr>
                        <a:t>13.1 (18.1)</a:t>
                      </a:r>
                    </a:p>
                  </a:txBody>
                  <a:tcPr marL="54864" marR="54864" marT="22860" marB="22860" anchor="ctr">
                    <a:solidFill>
                      <a:srgbClr val="FFFFFF"/>
                    </a:solidFill>
                  </a:tcPr>
                </a:tc>
                <a:tc>
                  <a:txBody>
                    <a:bodyPr wrap="square"/>
                    <a:lstStyle/>
                    <a:p>
                      <a:pPr algn="r"/>
                      <a:r>
                        <a:rPr sz="1150" b="1">
                          <a:solidFill>
                            <a:srgbClr val="2C2C2C"/>
                          </a:solidFill>
                          <a:latin typeface="Calibri"/>
                          <a:ea typeface="Calibri"/>
                          <a:cs typeface="Calibri"/>
                        </a:rPr>
                        <a:t>17.5 (26.1)</a:t>
                      </a:r>
                    </a:p>
                  </a:txBody>
                  <a:tcPr marL="54864" marR="54864" marT="22860" marB="22860" anchor="ctr">
                    <a:solidFill>
                      <a:srgbClr val="FFFFFF"/>
                    </a:solidFill>
                  </a:tcPr>
                </a:tc>
              </a:tr>
              <a:tr h="384048">
                <a:tc>
                  <a:txBody>
                    <a:bodyPr wrap="square"/>
                    <a:lstStyle/>
                    <a:p>
                      <a:pPr algn="l"/>
                      <a:r>
                        <a:rPr sz="1150" b="0">
                          <a:solidFill>
                            <a:srgbClr val="2C2C2C"/>
                          </a:solidFill>
                          <a:latin typeface="Calibri"/>
                          <a:ea typeface="Calibri"/>
                          <a:cs typeface="Calibri"/>
                        </a:rPr>
                        <a:t>Same hour yesterday</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20.2 (23.4)</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9.7 (13.1)</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11.1 (15.4)</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15.6 (23.2)</a:t>
                      </a:r>
                    </a:p>
                  </a:txBody>
                  <a:tcPr marL="54864" marR="54864" marT="22860" marB="22860" anchor="ctr">
                    <a:solidFill>
                      <a:srgbClr val="EEF2FF"/>
                    </a:solidFill>
                  </a:tcPr>
                </a:tc>
              </a:tr>
              <a:tr h="384048">
                <a:tc>
                  <a:txBody>
                    <a:bodyPr wrap="square"/>
                    <a:lstStyle/>
                    <a:p>
                      <a:pPr algn="l"/>
                      <a:r>
                        <a:rPr sz="1150" b="0">
                          <a:solidFill>
                            <a:srgbClr val="2C2C2C"/>
                          </a:solidFill>
                          <a:latin typeface="Calibri"/>
                          <a:ea typeface="Calibri"/>
                          <a:cs typeface="Calibri"/>
                        </a:rPr>
                        <a:t>Time of day/week</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3.3 (3.9)</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25.1 (34.0)</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15.3 (21.2)</a:t>
                      </a:r>
                    </a:p>
                  </a:txBody>
                  <a:tcPr marL="54864" marR="54864" marT="22860" marB="22860" anchor="ctr">
                    <a:solidFill>
                      <a:srgbClr val="FFFFFF"/>
                    </a:solidFill>
                  </a:tcPr>
                </a:tc>
                <a:tc>
                  <a:txBody>
                    <a:bodyPr wrap="square"/>
                    <a:lstStyle/>
                    <a:p>
                      <a:pPr algn="r"/>
                      <a:r>
                        <a:rPr sz="1150" b="0">
                          <a:solidFill>
                            <a:srgbClr val="2C2C2C"/>
                          </a:solidFill>
                          <a:latin typeface="Calibri"/>
                          <a:ea typeface="Calibri"/>
                          <a:cs typeface="Calibri"/>
                        </a:rPr>
                        <a:t>15.6 (23.2)</a:t>
                      </a:r>
                    </a:p>
                  </a:txBody>
                  <a:tcPr marL="54864" marR="54864" marT="22860" marB="22860" anchor="ctr">
                    <a:solidFill>
                      <a:srgbClr val="FFFFFF"/>
                    </a:solidFill>
                  </a:tcPr>
                </a:tc>
              </a:tr>
              <a:tr h="384048">
                <a:tc>
                  <a:txBody>
                    <a:bodyPr wrap="square"/>
                    <a:lstStyle/>
                    <a:p>
                      <a:pPr algn="l"/>
                      <a:r>
                        <a:rPr sz="1150" b="0">
                          <a:solidFill>
                            <a:srgbClr val="2C2C2C"/>
                          </a:solidFill>
                          <a:latin typeface="Calibri"/>
                          <a:ea typeface="Calibri"/>
                          <a:cs typeface="Calibri"/>
                        </a:rPr>
                        <a:t>All other</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0.6 (0.7)</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3.1 (4.3)</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2.7 (3.7)</a:t>
                      </a:r>
                    </a:p>
                  </a:txBody>
                  <a:tcPr marL="54864" marR="54864" marT="22860" marB="22860" anchor="ctr">
                    <a:solidFill>
                      <a:srgbClr val="EEF2FF"/>
                    </a:solidFill>
                  </a:tcPr>
                </a:tc>
                <a:tc>
                  <a:txBody>
                    <a:bodyPr wrap="square"/>
                    <a:lstStyle/>
                    <a:p>
                      <a:pPr algn="r"/>
                      <a:r>
                        <a:rPr sz="1150" b="0">
                          <a:solidFill>
                            <a:srgbClr val="2C2C2C"/>
                          </a:solidFill>
                          <a:latin typeface="Calibri"/>
                          <a:ea typeface="Calibri"/>
                          <a:cs typeface="Calibri"/>
                        </a:rPr>
                        <a:t>1.8 (2.7)</a:t>
                      </a:r>
                    </a:p>
                  </a:txBody>
                  <a:tcPr marL="54864" marR="54864" marT="22860" marB="22860" anchor="ctr">
                    <a:solidFill>
                      <a:srgbClr val="EEF2FF"/>
                    </a:solidFill>
                  </a:tcPr>
                </a:tc>
              </a:tr>
            </a:tbl>
          </a:graphicData>
        </a:graphic>
      </p:graphicFrame>
      <p:sp>
        <p:nvSpPr>
          <p:cNvPr id="5" name="Caption"/>
          <p:cNvSpPr txBox="1"/>
          <p:nvPr/>
        </p:nvSpPr>
        <p:spPr>
          <a:xfrm>
            <a:off x="457200" y="3474720"/>
            <a:ext cx="5394960" cy="320040"/>
          </a:xfrm>
          <a:prstGeom prst="rect">
            <a:avLst/>
          </a:prstGeom>
          <a:noFill/>
        </p:spPr>
        <p:txBody>
          <a:bodyPr wrap="square" lIns="0" rIns="0" tIns="0" bIns="0" anchor="t">
            <a:spAutoFit/>
          </a:bodyPr>
          <a:lstStyle/>
          <a:p>
            <a:pPr algn="l"/>
            <a:r>
              <a:rPr sz="1000" b="0">
                <a:solidFill>
                  <a:srgbClr val="64748B"/>
                </a:solidFill>
                <a:latin typeface="Calibri"/>
                <a:ea typeface="Calibri"/>
                <a:cs typeface="Calibri"/>
              </a:rPr>
              <a:t>Table 6 (paper): share (%) of the MAE rise when a group is shuffled, ordinary days; in brackets the rise in vehicles.</a:t>
            </a:r>
          </a:p>
        </p:txBody>
      </p:sp>
      <p:sp>
        <p:nvSpPr>
          <p:cNvPr id="6" name="Rectangle 5"/>
          <p:cNvSpPr/>
          <p:nvPr/>
        </p:nvSpPr>
        <p:spPr>
          <a:xfrm>
            <a:off x="6035040" y="1097280"/>
            <a:ext cx="2651760" cy="2240280"/>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126479" y="1152144"/>
            <a:ext cx="2468879" cy="2130552"/>
          </a:xfrm>
          <a:prstGeom prst="rect">
            <a:avLst/>
          </a:prstGeom>
          <a:noFill/>
        </p:spPr>
        <p:txBody>
          <a:bodyPr wrap="square" lIns="36576" rIns="36576" tIns="36576" bIns="36576" anchor="t">
            <a:spAutoFit/>
          </a:bodyPr>
          <a:lstStyle/>
          <a:p>
            <a:pPr algn="l">
              <a:spcAft>
                <a:spcPts val="200"/>
              </a:spcAft>
            </a:pPr>
            <a:r>
              <a:rPr sz="1200" b="1">
                <a:solidFill>
                  <a:srgbClr val="7C3AED"/>
                </a:solidFill>
                <a:latin typeface="Calibri"/>
                <a:ea typeface="Calibri"/>
                <a:cs typeface="Calibri"/>
              </a:rPr>
              <a:t>Week after a holiday</a:t>
            </a:r>
          </a:p>
          <a:p>
            <a:pPr algn="l">
              <a:spcAft>
                <a:spcPts val="200"/>
              </a:spcAft>
            </a:pPr>
            <a:r>
              <a:rPr sz="1150" b="0">
                <a:solidFill>
                  <a:srgbClr val="2C2C2C"/>
                </a:solidFill>
                <a:latin typeface="Calibri"/>
                <a:ea typeface="Calibri"/>
                <a:cs typeface="Calibri"/>
              </a:rPr>
              <a:t>The weekly-lag share drops to 26.3% (Ridge), 14.4% (MLP), 9.3% (LGBM), 6.8% (ET).</a:t>
            </a:r>
          </a:p>
          <a:p>
            <a:pPr algn="l">
              <a:spcAft>
                <a:spcPts val="200"/>
              </a:spcAft>
            </a:pPr>
            <a:r>
              <a:rPr sz="1150" b="0">
                <a:solidFill>
                  <a:srgbClr val="64748B"/>
                </a:solidFill>
                <a:latin typeface="Calibri"/>
                <a:ea typeface="Calibri"/>
                <a:cs typeface="Calibri"/>
              </a:rPr>
              <a:t>Models distrust the lag only partly, which fits the remaining echo.</a:t>
            </a:r>
          </a:p>
        </p:txBody>
      </p:sp>
      <p:sp>
        <p:nvSpPr>
          <p:cNvPr id="8" name="Rectangle 7"/>
          <p:cNvSpPr/>
          <p:nvPr/>
        </p:nvSpPr>
        <p:spPr>
          <a:xfrm>
            <a:off x="457200" y="3794760"/>
            <a:ext cx="8229600" cy="1097280"/>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3849624"/>
            <a:ext cx="8046720" cy="987552"/>
          </a:xfrm>
          <a:prstGeom prst="rect">
            <a:avLst/>
          </a:prstGeom>
          <a:noFill/>
        </p:spPr>
        <p:txBody>
          <a:bodyPr wrap="square" lIns="36576" rIns="36576" tIns="36576" bIns="36576" anchor="t">
            <a:spAutoFit/>
          </a:bodyPr>
          <a:lstStyle/>
          <a:p>
            <a:pPr algn="l">
              <a:spcAft>
                <a:spcPts val="200"/>
              </a:spcAft>
            </a:pPr>
            <a:r>
              <a:rPr sz="1200" b="1">
                <a:solidFill>
                  <a:srgbClr val="0D9488"/>
                </a:solidFill>
                <a:latin typeface="Calibri"/>
                <a:ea typeface="Calibri"/>
                <a:cs typeface="Calibri"/>
              </a:rPr>
              <a:t>Sensitivity: all training rows instead of 150,000 (2023-Q2, 2024-Q3)</a:t>
            </a:r>
          </a:p>
          <a:p>
            <a:pPr algn="l">
              <a:spcAft>
                <a:spcPts val="200"/>
              </a:spcAft>
            </a:pPr>
            <a:r>
              <a:rPr sz="1150" b="0">
                <a:solidFill>
                  <a:srgbClr val="2C2C2C"/>
                </a:solidFill>
                <a:latin typeface="Calibri"/>
                <a:ea typeface="Calibri"/>
                <a:cs typeface="Calibri"/>
              </a:rPr>
              <a:t>MAE changed by −0.07 to +0.32 (Ridge) and −0.64 to −1.60 (LightGBM), well below the quarter SD; L2 stayed below L0 in the week after a holiday in all 4 cases (by 2.1 to 29.5 vehicles).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d"/>
          <p:cNvSpPr txBox="1"/>
          <p:nvPr/>
        </p:nvSpPr>
        <p:spPr>
          <a:xfrm>
            <a:off x="457200" y="182880"/>
            <a:ext cx="8229600" cy="777240"/>
          </a:xfrm>
          <a:prstGeom prst="rect">
            <a:avLst/>
          </a:prstGeom>
          <a:noFill/>
        </p:spPr>
        <p:txBody>
          <a:bodyPr wrap="square" lIns="0" rIns="0" tIns="0" bIns="0" anchor="ctr">
            <a:spAutoFit/>
          </a:bodyPr>
          <a:lstStyle/>
          <a:p>
            <a:pPr algn="l"/>
            <a:r>
              <a:rPr sz="2800" b="1">
                <a:solidFill>
                  <a:srgbClr val="1F3864"/>
                </a:solidFill>
                <a:latin typeface="Calibri"/>
                <a:ea typeface="Calibri"/>
                <a:cs typeface="Calibri"/>
              </a:rPr>
              <a:t>#7 Analysis Tool — Dashboard</a:t>
            </a:r>
          </a:p>
        </p:txBody>
      </p:sp>
      <p:cxnSp>
        <p:nvCxnSpPr>
          <p:cNvPr id="3" name="Div"/>
          <p:cNvCxnSpPr/>
          <p:nvPr/>
        </p:nvCxnSpPr>
        <p:spPr>
          <a:xfrm>
            <a:off x="457200" y="960120"/>
            <a:ext cx="8229600" cy="0"/>
          </a:xfrm>
          <a:prstGeom prst="line">
            <a:avLst/>
          </a:prstGeom>
          <a:ln w="19050">
            <a:solidFill>
              <a:srgbClr val="4472C4"/>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457200" y="1097280"/>
            <a:ext cx="4937760" cy="3794760"/>
          </a:xfrm>
          <a:prstGeom prst="rect">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2468880"/>
            <a:ext cx="4572000" cy="914400"/>
          </a:xfrm>
          <a:prstGeom prst="rect">
            <a:avLst/>
          </a:prstGeom>
          <a:noFill/>
        </p:spPr>
        <p:txBody>
          <a:bodyPr wrap="square" lIns="45720" rIns="45720" anchor="t">
            <a:spAutoFit/>
          </a:bodyPr>
          <a:lstStyle/>
          <a:p>
            <a:pPr algn="ctr"/>
            <a:r>
              <a:rPr sz="1300" b="1">
                <a:solidFill>
                  <a:srgbClr val="EA580C"/>
                </a:solidFill>
                <a:latin typeface="Calibri"/>
                <a:ea typeface="Calibri"/>
                <a:cs typeface="Calibri"/>
              </a:rPr>
              <a:t>[Group fills in: dashboard screenshot]</a:t>
            </a:r>
          </a:p>
          <a:p>
            <a:pPr algn="ctr"/>
            <a:r>
              <a:rPr sz="1300" b="0">
                <a:solidFill>
                  <a:srgbClr val="64748B"/>
                </a:solidFill>
                <a:latin typeface="Calibri"/>
                <a:ea typeface="Calibri"/>
                <a:cs typeface="Calibri"/>
              </a:rPr>
              <a:t>Power BI preferred by the guide; Streamlit also accepted</a:t>
            </a:r>
          </a:p>
        </p:txBody>
      </p:sp>
      <p:sp>
        <p:nvSpPr>
          <p:cNvPr id="6" name="TextBox 5"/>
          <p:cNvSpPr txBox="1"/>
          <p:nvPr/>
        </p:nvSpPr>
        <p:spPr>
          <a:xfrm>
            <a:off x="5577840" y="1097280"/>
            <a:ext cx="3108960" cy="274320"/>
          </a:xfrm>
          <a:prstGeom prst="rect">
            <a:avLst/>
          </a:prstGeom>
          <a:noFill/>
        </p:spPr>
        <p:txBody>
          <a:bodyPr wrap="square" lIns="0" rIns="0" tIns="0" bIns="0" anchor="t">
            <a:spAutoFit/>
          </a:bodyPr>
          <a:lstStyle/>
          <a:p>
            <a:pPr algn="l"/>
            <a:r>
              <a:rPr sz="1300" b="1">
                <a:solidFill>
                  <a:srgbClr val="1F3864"/>
                </a:solidFill>
                <a:latin typeface="Calibri"/>
                <a:ea typeface="Calibri"/>
                <a:cs typeface="Calibri"/>
              </a:rPr>
              <a:t>Planned content</a:t>
            </a:r>
          </a:p>
        </p:txBody>
      </p:sp>
      <p:sp>
        <p:nvSpPr>
          <p:cNvPr id="7" name="TextBox 6"/>
          <p:cNvSpPr txBox="1"/>
          <p:nvPr/>
        </p:nvSpPr>
        <p:spPr>
          <a:xfrm>
            <a:off x="5577840" y="1417320"/>
            <a:ext cx="3108960" cy="3474720"/>
          </a:xfrm>
          <a:prstGeom prst="rect">
            <a:avLst/>
          </a:prstGeom>
          <a:noFill/>
        </p:spPr>
        <p:txBody>
          <a:bodyPr wrap="square" lIns="45720" rIns="45720" anchor="t">
            <a:spAutoFit/>
          </a:bodyPr>
          <a:lstStyle/>
          <a:p>
            <a:pPr algn="l" marL="164592" indent="-164592">
              <a:spcAft>
                <a:spcPts val="600"/>
              </a:spcAft>
              <a:buChar char="•"/>
            </a:pPr>
            <a:r>
              <a:rPr sz="1300" b="1">
                <a:solidFill>
                  <a:srgbClr val="2C2C2C"/>
                </a:solidFill>
                <a:latin typeface="Calibri"/>
                <a:ea typeface="Calibri"/>
                <a:cs typeface="Calibri"/>
              </a:rPr>
              <a:t>KPIs: </a:t>
            </a:r>
            <a:r>
              <a:rPr sz="1300" b="0">
                <a:solidFill>
                  <a:srgbClr val="2C2C2C"/>
                </a:solidFill>
                <a:latin typeface="Calibri"/>
                <a:ea typeface="Calibri"/>
                <a:cs typeface="Calibri"/>
              </a:rPr>
              <a:t>MAE 37.9 · MASE 0.563 · repair gain 5.3 · week-after 54.2 → 41.8</a:t>
            </a:r>
          </a:p>
          <a:p>
            <a:pPr algn="l" marL="164592" indent="-164592">
              <a:spcAft>
                <a:spcPts val="600"/>
              </a:spcAft>
              <a:buChar char="•"/>
            </a:pPr>
            <a:r>
              <a:rPr sz="1300" b="1">
                <a:solidFill>
                  <a:srgbClr val="2C2C2C"/>
                </a:solidFill>
                <a:latin typeface="Calibri"/>
                <a:ea typeface="Calibri"/>
                <a:cs typeface="Calibri"/>
              </a:rPr>
              <a:t>RQ1: </a:t>
            </a:r>
            <a:r>
              <a:rPr sz="1300" b="0">
                <a:solidFill>
                  <a:srgbClr val="2C2C2C"/>
                </a:solidFill>
                <a:latin typeface="Calibri"/>
                <a:ea typeface="Calibri"/>
                <a:cs typeface="Calibri"/>
              </a:rPr>
              <a:t>heatmap hour × weekday</a:t>
            </a:r>
          </a:p>
          <a:p>
            <a:pPr algn="l" marL="164592" indent="-164592">
              <a:spcAft>
                <a:spcPts val="600"/>
              </a:spcAft>
              <a:buChar char="•"/>
            </a:pPr>
            <a:r>
              <a:rPr sz="1300" b="1">
                <a:solidFill>
                  <a:srgbClr val="2C2C2C"/>
                </a:solidFill>
                <a:latin typeface="Calibri"/>
                <a:ea typeface="Calibri"/>
                <a:cs typeface="Calibri"/>
              </a:rPr>
              <a:t>RQ2: </a:t>
            </a:r>
            <a:r>
              <a:rPr sz="1300" b="0">
                <a:solidFill>
                  <a:srgbClr val="2C2C2C"/>
                </a:solidFill>
                <a:latin typeface="Calibri"/>
                <a:ea typeface="Calibri"/>
                <a:cs typeface="Calibri"/>
              </a:rPr>
              <a:t>MAE by quarter and model</a:t>
            </a:r>
          </a:p>
          <a:p>
            <a:pPr algn="l" marL="164592" indent="-164592">
              <a:spcAft>
                <a:spcPts val="600"/>
              </a:spcAft>
              <a:buChar char="•"/>
            </a:pPr>
            <a:r>
              <a:rPr sz="1300" b="1">
                <a:solidFill>
                  <a:srgbClr val="2C2C2C"/>
                </a:solidFill>
                <a:latin typeface="Calibri"/>
                <a:ea typeface="Calibri"/>
                <a:cs typeface="Calibri"/>
              </a:rPr>
              <a:t>RQ3: </a:t>
            </a:r>
            <a:r>
              <a:rPr sz="1300" b="0">
                <a:solidFill>
                  <a:srgbClr val="2C2C2C"/>
                </a:solidFill>
                <a:latin typeface="Calibri"/>
                <a:ea typeface="Calibri"/>
                <a:cs typeface="Calibri"/>
              </a:rPr>
              <a:t>MAE by days from a holiday, L0 vs L2</a:t>
            </a:r>
          </a:p>
          <a:p>
            <a:pPr algn="l" marL="164592" indent="-164592">
              <a:buChar char="•"/>
            </a:pPr>
            <a:r>
              <a:rPr sz="1300" b="1">
                <a:solidFill>
                  <a:srgbClr val="2C2C2C"/>
                </a:solidFill>
                <a:latin typeface="Calibri"/>
                <a:ea typeface="Calibri"/>
                <a:cs typeface="Calibri"/>
              </a:rPr>
              <a:t>Slicers: </a:t>
            </a:r>
            <a:r>
              <a:rPr sz="1300" b="0">
                <a:solidFill>
                  <a:srgbClr val="2C2C2C"/>
                </a:solidFill>
                <a:latin typeface="Calibri"/>
                <a:ea typeface="Calibri"/>
                <a:cs typeface="Calibri"/>
              </a:rPr>
              <a:t>quarter · model · day type · lag variant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d"/>
          <p:cNvSpPr txBox="1"/>
          <p:nvPr/>
        </p:nvSpPr>
        <p:spPr>
          <a:xfrm>
            <a:off x="457200" y="182880"/>
            <a:ext cx="8229600" cy="777240"/>
          </a:xfrm>
          <a:prstGeom prst="rect">
            <a:avLst/>
          </a:prstGeom>
          <a:noFill/>
        </p:spPr>
        <p:txBody>
          <a:bodyPr wrap="square" lIns="0" rIns="0" tIns="0" bIns="0" anchor="ctr">
            <a:spAutoFit/>
          </a:bodyPr>
          <a:lstStyle/>
          <a:p>
            <a:pPr algn="l"/>
            <a:r>
              <a:rPr sz="2800" b="1">
                <a:solidFill>
                  <a:srgbClr val="1F3864"/>
                </a:solidFill>
                <a:latin typeface="Calibri"/>
                <a:ea typeface="Calibri"/>
                <a:cs typeface="Calibri"/>
              </a:rPr>
              <a:t>Conclusion — Answers to the research questions</a:t>
            </a:r>
          </a:p>
        </p:txBody>
      </p:sp>
      <p:cxnSp>
        <p:nvCxnSpPr>
          <p:cNvPr id="3" name="Div"/>
          <p:cNvCxnSpPr/>
          <p:nvPr/>
        </p:nvCxnSpPr>
        <p:spPr>
          <a:xfrm>
            <a:off x="457200" y="960120"/>
            <a:ext cx="8229600" cy="0"/>
          </a:xfrm>
          <a:prstGeom prst="line">
            <a:avLst/>
          </a:prstGeom>
          <a:ln w="19050">
            <a:solidFill>
              <a:srgbClr val="4472C4"/>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457200" y="1097280"/>
            <a:ext cx="914400" cy="7498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latin typeface="Calibri"/>
                <a:ea typeface="Calibri"/>
                <a:cs typeface="Calibri"/>
              </a:rPr>
              <a:t>RQ1</a:t>
            </a:r>
          </a:p>
        </p:txBody>
      </p:sp>
      <p:sp>
        <p:nvSpPr>
          <p:cNvPr id="5" name="Rectangle 4"/>
          <p:cNvSpPr/>
          <p:nvPr/>
        </p:nvSpPr>
        <p:spPr>
          <a:xfrm>
            <a:off x="1371600" y="1097280"/>
            <a:ext cx="7315200" cy="749808"/>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508760" y="1097280"/>
            <a:ext cx="7086600" cy="749808"/>
          </a:xfrm>
          <a:prstGeom prst="rect">
            <a:avLst/>
          </a:prstGeom>
          <a:noFill/>
        </p:spPr>
        <p:txBody>
          <a:bodyPr wrap="square" lIns="0" rIns="0" tIns="0" bIns="0" anchor="ctr">
            <a:spAutoFit/>
          </a:bodyPr>
          <a:lstStyle/>
          <a:p>
            <a:pPr algn="l"/>
            <a:r>
              <a:rPr sz="1250" b="0">
                <a:solidFill>
                  <a:srgbClr val="2C2C2C"/>
                </a:solidFill>
                <a:latin typeface="Calibri"/>
                <a:ea typeface="Calibri"/>
                <a:cs typeface="Calibri"/>
              </a:rPr>
              <a:t>Strong weekly rhythm with a 06:00 weekday peak; holidays are 20–28% quieter, and last week is 1.43× today on holidays and 0.76× in the week after.</a:t>
            </a:r>
          </a:p>
        </p:txBody>
      </p:sp>
      <p:sp>
        <p:nvSpPr>
          <p:cNvPr id="7" name="Rectangle 6"/>
          <p:cNvSpPr/>
          <p:nvPr/>
        </p:nvSpPr>
        <p:spPr>
          <a:xfrm>
            <a:off x="457200" y="1965960"/>
            <a:ext cx="914400" cy="74980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latin typeface="Calibri"/>
                <a:ea typeface="Calibri"/>
                <a:cs typeface="Calibri"/>
              </a:rPr>
              <a:t>RQ2</a:t>
            </a:r>
          </a:p>
        </p:txBody>
      </p:sp>
      <p:sp>
        <p:nvSpPr>
          <p:cNvPr id="8" name="Rectangle 7"/>
          <p:cNvSpPr/>
          <p:nvPr/>
        </p:nvSpPr>
        <p:spPr>
          <a:xfrm>
            <a:off x="1371600" y="1965960"/>
            <a:ext cx="7315200" cy="749808"/>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508760" y="1965960"/>
            <a:ext cx="7086600" cy="749808"/>
          </a:xfrm>
          <a:prstGeom prst="rect">
            <a:avLst/>
          </a:prstGeom>
          <a:noFill/>
        </p:spPr>
        <p:txBody>
          <a:bodyPr wrap="square" lIns="0" rIns="0" tIns="0" bIns="0" anchor="ctr">
            <a:spAutoFit/>
          </a:bodyPr>
          <a:lstStyle/>
          <a:p>
            <a:pPr algn="l"/>
            <a:r>
              <a:rPr sz="1250" b="0">
                <a:solidFill>
                  <a:srgbClr val="2C2C2C"/>
                </a:solidFill>
                <a:latin typeface="Calibri"/>
                <a:ea typeface="Calibri"/>
                <a:cs typeface="Calibri"/>
              </a:rPr>
              <a:t>LightGBM (37.9) and MLP (38.0) are about 44% below persistence; the top three models cannot be separated, all beat Ridge and the baselines.</a:t>
            </a:r>
          </a:p>
        </p:txBody>
      </p:sp>
      <p:sp>
        <p:nvSpPr>
          <p:cNvPr id="10" name="Rectangle 9"/>
          <p:cNvSpPr/>
          <p:nvPr/>
        </p:nvSpPr>
        <p:spPr>
          <a:xfrm>
            <a:off x="457200" y="2834639"/>
            <a:ext cx="914400" cy="7498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latin typeface="Calibri"/>
                <a:ea typeface="Calibri"/>
                <a:cs typeface="Calibri"/>
              </a:rPr>
              <a:t>RQ3</a:t>
            </a:r>
          </a:p>
        </p:txBody>
      </p:sp>
      <p:sp>
        <p:nvSpPr>
          <p:cNvPr id="11" name="Rectangle 10"/>
          <p:cNvSpPr/>
          <p:nvPr/>
        </p:nvSpPr>
        <p:spPr>
          <a:xfrm>
            <a:off x="1371600" y="2834639"/>
            <a:ext cx="7315200" cy="749808"/>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508760" y="2834639"/>
            <a:ext cx="7086600" cy="749808"/>
          </a:xfrm>
          <a:prstGeom prst="rect">
            <a:avLst/>
          </a:prstGeom>
          <a:noFill/>
        </p:spPr>
        <p:txBody>
          <a:bodyPr wrap="square" lIns="0" rIns="0" tIns="0" bIns="0" anchor="ctr">
            <a:spAutoFit/>
          </a:bodyPr>
          <a:lstStyle/>
          <a:p>
            <a:pPr algn="l"/>
            <a:r>
              <a:rPr sz="1250" b="0">
                <a:solidFill>
                  <a:srgbClr val="2C2C2C"/>
                </a:solidFill>
                <a:latin typeface="Calibri"/>
                <a:ea typeface="Calibri"/>
                <a:cs typeface="Calibri"/>
              </a:rPr>
              <a:t>The complete hourly grid is worth 4.2 of the 5.3 vehicles gained; an ordinary-week lag cuts week-after-holiday MAE from 54.2 to 41.8.</a:t>
            </a:r>
          </a:p>
        </p:txBody>
      </p:sp>
      <p:sp>
        <p:nvSpPr>
          <p:cNvPr id="13" name="Rectangle 12"/>
          <p:cNvSpPr/>
          <p:nvPr/>
        </p:nvSpPr>
        <p:spPr>
          <a:xfrm>
            <a:off x="457200" y="3840480"/>
            <a:ext cx="2651760" cy="1051560"/>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48640" y="3895344"/>
            <a:ext cx="2468879" cy="941831"/>
          </a:xfrm>
          <a:prstGeom prst="rect">
            <a:avLst/>
          </a:prstGeom>
          <a:noFill/>
        </p:spPr>
        <p:txBody>
          <a:bodyPr wrap="square" lIns="36576" rIns="36576" tIns="36576" bIns="36576" anchor="t">
            <a:spAutoFit/>
          </a:bodyPr>
          <a:lstStyle/>
          <a:p>
            <a:pPr algn="l">
              <a:spcAft>
                <a:spcPts val="200"/>
              </a:spcAft>
            </a:pPr>
            <a:r>
              <a:rPr sz="1200" b="1">
                <a:solidFill>
                  <a:srgbClr val="1F3864"/>
                </a:solidFill>
                <a:latin typeface="Calibri"/>
                <a:ea typeface="Calibri"/>
                <a:cs typeface="Calibri"/>
              </a:rPr>
              <a:t>Without 2024-Q1</a:t>
            </a:r>
          </a:p>
          <a:p>
            <a:pPr algn="l">
              <a:spcAft>
                <a:spcPts val="200"/>
              </a:spcAft>
            </a:pPr>
            <a:r>
              <a:rPr sz="1100" b="0">
                <a:solidFill>
                  <a:srgbClr val="2C2C2C"/>
                </a:solidFill>
                <a:latin typeface="Calibri"/>
                <a:ea typeface="Calibri"/>
                <a:cs typeface="Calibri"/>
              </a:rPr>
              <a:t>Non-linear &gt; Ridge still holds; only the top-3 order changes</a:t>
            </a:r>
          </a:p>
        </p:txBody>
      </p:sp>
      <p:sp>
        <p:nvSpPr>
          <p:cNvPr id="15" name="Rectangle 14"/>
          <p:cNvSpPr/>
          <p:nvPr/>
        </p:nvSpPr>
        <p:spPr>
          <a:xfrm>
            <a:off x="3246120" y="3840480"/>
            <a:ext cx="2651760" cy="1051560"/>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337560" y="3895344"/>
            <a:ext cx="2468879" cy="941831"/>
          </a:xfrm>
          <a:prstGeom prst="rect">
            <a:avLst/>
          </a:prstGeom>
          <a:noFill/>
        </p:spPr>
        <p:txBody>
          <a:bodyPr wrap="square" lIns="36576" rIns="36576" tIns="36576" bIns="36576" anchor="t">
            <a:spAutoFit/>
          </a:bodyPr>
          <a:lstStyle/>
          <a:p>
            <a:pPr algn="l">
              <a:spcAft>
                <a:spcPts val="200"/>
              </a:spcAft>
            </a:pPr>
            <a:r>
              <a:rPr sz="1200" b="1">
                <a:solidFill>
                  <a:srgbClr val="1F3864"/>
                </a:solidFill>
                <a:latin typeface="Calibri"/>
                <a:ea typeface="Calibri"/>
                <a:cs typeface="Calibri"/>
              </a:rPr>
              <a:t>All training rows</a:t>
            </a:r>
          </a:p>
          <a:p>
            <a:pPr algn="l">
              <a:spcAft>
                <a:spcPts val="200"/>
              </a:spcAft>
            </a:pPr>
            <a:r>
              <a:rPr sz="1100" b="0">
                <a:solidFill>
                  <a:srgbClr val="2C2C2C"/>
                </a:solidFill>
                <a:latin typeface="Calibri"/>
                <a:ea typeface="Calibri"/>
                <a:cs typeface="Calibri"/>
              </a:rPr>
              <a:t>MAE change below the quarter SD; L2 &lt; L0 in 4 of 4 cases</a:t>
            </a:r>
          </a:p>
        </p:txBody>
      </p:sp>
      <p:sp>
        <p:nvSpPr>
          <p:cNvPr id="17" name="Rectangle 16"/>
          <p:cNvSpPr/>
          <p:nvPr/>
        </p:nvSpPr>
        <p:spPr>
          <a:xfrm>
            <a:off x="6035040" y="3840480"/>
            <a:ext cx="2651760" cy="1051560"/>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126479" y="3895344"/>
            <a:ext cx="2468879" cy="941831"/>
          </a:xfrm>
          <a:prstGeom prst="rect">
            <a:avLst/>
          </a:prstGeom>
          <a:noFill/>
        </p:spPr>
        <p:txBody>
          <a:bodyPr wrap="square" lIns="36576" rIns="36576" tIns="36576" bIns="36576" anchor="t">
            <a:spAutoFit/>
          </a:bodyPr>
          <a:lstStyle/>
          <a:p>
            <a:pPr algn="l">
              <a:spcAft>
                <a:spcPts val="200"/>
              </a:spcAft>
            </a:pPr>
            <a:r>
              <a:rPr sz="1200" b="1">
                <a:solidFill>
                  <a:srgbClr val="1F3864"/>
                </a:solidFill>
                <a:latin typeface="Calibri"/>
                <a:ea typeface="Calibri"/>
                <a:cs typeface="Calibri"/>
              </a:rPr>
              <a:t>Reproducible</a:t>
            </a:r>
          </a:p>
          <a:p>
            <a:pPr algn="l">
              <a:spcAft>
                <a:spcPts val="200"/>
              </a:spcAft>
            </a:pPr>
            <a:r>
              <a:rPr sz="1100" b="0">
                <a:solidFill>
                  <a:srgbClr val="2C2C2C"/>
                </a:solidFill>
                <a:latin typeface="Calibri"/>
                <a:ea typeface="Calibri"/>
                <a:cs typeface="Calibri"/>
              </a:rPr>
              <a:t>2 notebooks write every table and figure of the paper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d"/>
          <p:cNvSpPr txBox="1"/>
          <p:nvPr/>
        </p:nvSpPr>
        <p:spPr>
          <a:xfrm>
            <a:off x="457200" y="182880"/>
            <a:ext cx="8229600" cy="777240"/>
          </a:xfrm>
          <a:prstGeom prst="rect">
            <a:avLst/>
          </a:prstGeom>
          <a:noFill/>
        </p:spPr>
        <p:txBody>
          <a:bodyPr wrap="square" lIns="0" rIns="0" tIns="0" bIns="0" anchor="ctr">
            <a:spAutoFit/>
          </a:bodyPr>
          <a:lstStyle/>
          <a:p>
            <a:pPr algn="l"/>
            <a:r>
              <a:rPr sz="2800" b="1">
                <a:solidFill>
                  <a:srgbClr val="1F3864"/>
                </a:solidFill>
                <a:latin typeface="Calibri"/>
                <a:ea typeface="Calibri"/>
                <a:cs typeface="Calibri"/>
              </a:rPr>
              <a:t>Limitations and next steps</a:t>
            </a:r>
          </a:p>
        </p:txBody>
      </p:sp>
      <p:cxnSp>
        <p:nvCxnSpPr>
          <p:cNvPr id="3" name="Div"/>
          <p:cNvCxnSpPr/>
          <p:nvPr/>
        </p:nvCxnSpPr>
        <p:spPr>
          <a:xfrm>
            <a:off x="457200" y="960120"/>
            <a:ext cx="8229600" cy="0"/>
          </a:xfrm>
          <a:prstGeom prst="line">
            <a:avLst/>
          </a:prstGeom>
          <a:ln w="19050">
            <a:solidFill>
              <a:srgbClr val="4472C4"/>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457200" y="1097280"/>
            <a:ext cx="4023360" cy="4572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FFFFFF"/>
                </a:solidFill>
                <a:latin typeface="Calibri"/>
                <a:ea typeface="Calibri"/>
                <a:cs typeface="Calibri"/>
              </a:rPr>
              <a:t>Limitations</a:t>
            </a:r>
          </a:p>
        </p:txBody>
      </p:sp>
      <p:sp>
        <p:nvSpPr>
          <p:cNvPr id="5" name="Rectangle 4"/>
          <p:cNvSpPr/>
          <p:nvPr/>
        </p:nvSpPr>
        <p:spPr>
          <a:xfrm>
            <a:off x="4663440" y="1097280"/>
            <a:ext cx="4023360" cy="457200"/>
          </a:xfrm>
          <a:prstGeom prst="rect">
            <a:avLst/>
          </a:prstGeom>
          <a:solidFill>
            <a:srgbClr val="065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FFFFFF"/>
                </a:solidFill>
                <a:latin typeface="Calibri"/>
                <a:ea typeface="Calibri"/>
                <a:cs typeface="Calibri"/>
              </a:rPr>
              <a:t>Next steps</a:t>
            </a:r>
          </a:p>
        </p:txBody>
      </p:sp>
      <p:sp>
        <p:nvSpPr>
          <p:cNvPr id="6" name="Rectangle 5"/>
          <p:cNvSpPr/>
          <p:nvPr/>
        </p:nvSpPr>
        <p:spPr>
          <a:xfrm>
            <a:off x="457200" y="1554480"/>
            <a:ext cx="4023360" cy="3337560"/>
          </a:xfrm>
          <a:prstGeom prst="rect">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663440" y="1554480"/>
            <a:ext cx="4023360" cy="3337560"/>
          </a:xfrm>
          <a:prstGeom prst="rect">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94360" y="1691640"/>
            <a:ext cx="3749039" cy="3154680"/>
          </a:xfrm>
          <a:prstGeom prst="rect">
            <a:avLst/>
          </a:prstGeom>
          <a:noFill/>
        </p:spPr>
        <p:txBody>
          <a:bodyPr wrap="square" lIns="45720" rIns="45720" anchor="t">
            <a:spAutoFit/>
          </a:bodyPr>
          <a:lstStyle/>
          <a:p>
            <a:pPr algn="l" marL="164592" indent="-164592">
              <a:spcAft>
                <a:spcPts val="1000"/>
              </a:spcAft>
              <a:buChar char="•"/>
            </a:pPr>
            <a:r>
              <a:rPr sz="1350" b="0">
                <a:solidFill>
                  <a:srgbClr val="2C2C2C"/>
                </a:solidFill>
                <a:latin typeface="Calibri"/>
                <a:ea typeface="Calibri"/>
                <a:cs typeface="Calibri"/>
              </a:rPr>
              <a:t>Only the 150 busiest cells of 2022; quiet roads may behave differently</a:t>
            </a:r>
          </a:p>
          <a:p>
            <a:pPr algn="l" marL="164592" indent="-164592">
              <a:spcAft>
                <a:spcPts val="1000"/>
              </a:spcAft>
              <a:buChar char="•"/>
            </a:pPr>
            <a:r>
              <a:rPr sz="1350" b="0">
                <a:solidFill>
                  <a:srgbClr val="2C2C2C"/>
                </a:solidFill>
                <a:latin typeface="Calibri"/>
                <a:ea typeface="Calibri"/>
                <a:cs typeface="Calibri"/>
              </a:rPr>
              <a:t>The January 2024 level break is unexplained (hypothesis: data collection changed)</a:t>
            </a:r>
          </a:p>
          <a:p>
            <a:pPr algn="l" marL="164592" indent="-164592">
              <a:spcAft>
                <a:spcPts val="1000"/>
              </a:spcAft>
              <a:buChar char="•"/>
            </a:pPr>
            <a:r>
              <a:rPr sz="1350" b="0">
                <a:solidFill>
                  <a:srgbClr val="2C2C2C"/>
                </a:solidFill>
                <a:latin typeface="Calibri"/>
                <a:ea typeface="Calibri"/>
                <a:cs typeface="Calibri"/>
              </a:rPr>
              <a:t>Few holidays: 16 periods, 33 week-after test days</a:t>
            </a:r>
          </a:p>
          <a:p>
            <a:pPr algn="l" marL="164592" indent="-164592">
              <a:spcAft>
                <a:spcPts val="1000"/>
              </a:spcAft>
              <a:buChar char="•"/>
            </a:pPr>
            <a:r>
              <a:rPr sz="1350" b="0">
                <a:solidFill>
                  <a:srgbClr val="2C2C2C"/>
                </a:solidFill>
                <a:latin typeface="Calibri"/>
                <a:ea typeface="Calibri"/>
                <a:cs typeface="Calibri"/>
              </a:rPr>
              <a:t>Fixed settings, one city, one horizon (1 hour); hand-built calendar may miss closures</a:t>
            </a:r>
          </a:p>
        </p:txBody>
      </p:sp>
      <p:sp>
        <p:nvSpPr>
          <p:cNvPr id="9" name="TextBox 8"/>
          <p:cNvSpPr txBox="1"/>
          <p:nvPr/>
        </p:nvSpPr>
        <p:spPr>
          <a:xfrm>
            <a:off x="4800600" y="1691640"/>
            <a:ext cx="3749039" cy="3154680"/>
          </a:xfrm>
          <a:prstGeom prst="rect">
            <a:avLst/>
          </a:prstGeom>
          <a:noFill/>
        </p:spPr>
        <p:txBody>
          <a:bodyPr wrap="square" lIns="45720" rIns="45720" anchor="t">
            <a:spAutoFit/>
          </a:bodyPr>
          <a:lstStyle/>
          <a:p>
            <a:pPr algn="l" marL="164592" indent="-164592">
              <a:spcAft>
                <a:spcPts val="1000"/>
              </a:spcAft>
              <a:buChar char="•"/>
            </a:pPr>
            <a:r>
              <a:rPr sz="1350" b="0">
                <a:solidFill>
                  <a:srgbClr val="2C2C2C"/>
                </a:solidFill>
                <a:latin typeface="Calibri"/>
                <a:ea typeface="Calibri"/>
                <a:cs typeface="Calibri"/>
              </a:rPr>
              <a:t>Ask IBB about the 2024 break and re-check the 2024 results</a:t>
            </a:r>
          </a:p>
          <a:p>
            <a:pPr algn="l" marL="164592" indent="-164592">
              <a:spcAft>
                <a:spcPts val="1000"/>
              </a:spcAft>
              <a:buChar char="•"/>
            </a:pPr>
            <a:r>
              <a:rPr sz="1350" b="0">
                <a:solidFill>
                  <a:srgbClr val="2C2C2C"/>
                </a:solidFill>
                <a:latin typeface="Calibri"/>
                <a:ea typeface="Calibri"/>
                <a:cs typeface="Calibri"/>
              </a:rPr>
              <a:t>Test the thresholds (faulty-hour ratio, number of cells) and tune the top models</a:t>
            </a:r>
          </a:p>
          <a:p>
            <a:pPr algn="l" marL="164592" indent="-164592">
              <a:spcAft>
                <a:spcPts val="1000"/>
              </a:spcAft>
              <a:buChar char="•"/>
            </a:pPr>
            <a:r>
              <a:rPr sz="1350" b="0">
                <a:solidFill>
                  <a:srgbClr val="2C2C2C"/>
                </a:solidFill>
                <a:latin typeface="Calibri"/>
                <a:ea typeface="Calibri"/>
                <a:cs typeface="Calibri"/>
              </a:rPr>
              <a:t>Add longer horizons and quieter roads</a:t>
            </a:r>
          </a:p>
          <a:p>
            <a:pPr algn="l" marL="164592" indent="-164592">
              <a:spcAft>
                <a:spcPts val="1000"/>
              </a:spcAft>
              <a:buChar char="•"/>
            </a:pPr>
            <a:r>
              <a:rPr sz="1350" b="0">
                <a:solidFill>
                  <a:srgbClr val="2C2C2C"/>
                </a:solidFill>
                <a:latin typeface="Calibri"/>
                <a:ea typeface="Calibri"/>
                <a:cs typeface="Calibri"/>
              </a:rPr>
              <a:t>Re-use the repair ladder on Vietnamese open traffic data with the Vietnamese holiday calendar (Tết, 30/4, 2/9)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d"/>
          <p:cNvSpPr txBox="1"/>
          <p:nvPr/>
        </p:nvSpPr>
        <p:spPr>
          <a:xfrm>
            <a:off x="457200" y="182880"/>
            <a:ext cx="8229600" cy="777240"/>
          </a:xfrm>
          <a:prstGeom prst="rect">
            <a:avLst/>
          </a:prstGeom>
          <a:noFill/>
        </p:spPr>
        <p:txBody>
          <a:bodyPr wrap="square" lIns="0" rIns="0" tIns="0" bIns="0" anchor="ctr">
            <a:spAutoFit/>
          </a:bodyPr>
          <a:lstStyle/>
          <a:p>
            <a:pPr algn="l"/>
            <a:r>
              <a:rPr sz="2800" b="1">
                <a:solidFill>
                  <a:srgbClr val="1F3864"/>
                </a:solidFill>
                <a:latin typeface="Calibri"/>
                <a:ea typeface="Calibri"/>
                <a:cs typeface="Calibri"/>
              </a:rPr>
              <a:t>AI Reflection &amp; Human Delta</a:t>
            </a:r>
          </a:p>
        </p:txBody>
      </p:sp>
      <p:cxnSp>
        <p:nvCxnSpPr>
          <p:cNvPr id="3" name="Div"/>
          <p:cNvCxnSpPr/>
          <p:nvPr/>
        </p:nvCxnSpPr>
        <p:spPr>
          <a:xfrm>
            <a:off x="457200" y="960120"/>
            <a:ext cx="8229600" cy="0"/>
          </a:xfrm>
          <a:prstGeom prst="line">
            <a:avLst/>
          </a:prstGeom>
          <a:ln w="19050">
            <a:solidFill>
              <a:srgbClr val="4472C4"/>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457200" y="1051560"/>
            <a:ext cx="2002536" cy="749808"/>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1078992"/>
            <a:ext cx="1828800" cy="384048"/>
          </a:xfrm>
          <a:prstGeom prst="rect">
            <a:avLst/>
          </a:prstGeom>
          <a:noFill/>
        </p:spPr>
        <p:txBody>
          <a:bodyPr wrap="square" lIns="0" rIns="0" tIns="0" bIns="0" anchor="ctr">
            <a:spAutoFit/>
          </a:bodyPr>
          <a:lstStyle/>
          <a:p>
            <a:pPr algn="l"/>
            <a:r>
              <a:rPr sz="2000" b="1">
                <a:solidFill>
                  <a:srgbClr val="1F3864"/>
                </a:solidFill>
                <a:latin typeface="Calibri"/>
                <a:ea typeface="Calibri"/>
                <a:cs typeface="Calibri"/>
              </a:rPr>
              <a:t>21</a:t>
            </a:r>
            <a:r>
              <a:rPr sz="1100" b="1">
                <a:solidFill>
                  <a:srgbClr val="1F3864"/>
                </a:solidFill>
                <a:latin typeface="Calibri"/>
                <a:ea typeface="Calibri"/>
                <a:cs typeface="Calibri"/>
              </a:rPr>
              <a:t>  core prompts</a:t>
            </a:r>
          </a:p>
        </p:txBody>
      </p:sp>
      <p:sp>
        <p:nvSpPr>
          <p:cNvPr id="6" name="TextBox 5"/>
          <p:cNvSpPr txBox="1"/>
          <p:nvPr/>
        </p:nvSpPr>
        <p:spPr>
          <a:xfrm>
            <a:off x="548640" y="1463040"/>
            <a:ext cx="1828800" cy="292608"/>
          </a:xfrm>
          <a:prstGeom prst="rect">
            <a:avLst/>
          </a:prstGeom>
          <a:noFill/>
        </p:spPr>
        <p:txBody>
          <a:bodyPr wrap="square" lIns="0" rIns="0" tIns="0" bIns="0" anchor="t">
            <a:spAutoFit/>
          </a:bodyPr>
          <a:lstStyle/>
          <a:p>
            <a:pPr algn="l"/>
            <a:r>
              <a:rPr sz="1000" b="0">
                <a:solidFill>
                  <a:srgbClr val="64748B"/>
                </a:solidFill>
                <a:latin typeface="Calibri"/>
                <a:ea typeface="Calibri"/>
                <a:cs typeface="Calibri"/>
              </a:rPr>
              <a:t>of ~150 prompts (14%), 5 stages</a:t>
            </a:r>
          </a:p>
        </p:txBody>
      </p:sp>
      <p:sp>
        <p:nvSpPr>
          <p:cNvPr id="7" name="Rectangle 6"/>
          <p:cNvSpPr/>
          <p:nvPr/>
        </p:nvSpPr>
        <p:spPr>
          <a:xfrm>
            <a:off x="2551176" y="1051560"/>
            <a:ext cx="2002536" cy="749808"/>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642616" y="1078992"/>
            <a:ext cx="1828800" cy="384048"/>
          </a:xfrm>
          <a:prstGeom prst="rect">
            <a:avLst/>
          </a:prstGeom>
          <a:noFill/>
        </p:spPr>
        <p:txBody>
          <a:bodyPr wrap="square" lIns="0" rIns="0" tIns="0" bIns="0" anchor="ctr">
            <a:spAutoFit/>
          </a:bodyPr>
          <a:lstStyle/>
          <a:p>
            <a:pPr algn="l"/>
            <a:r>
              <a:rPr sz="2000" b="1">
                <a:solidFill>
                  <a:srgbClr val="1F3864"/>
                </a:solidFill>
                <a:latin typeface="Calibri"/>
                <a:ea typeface="Calibri"/>
                <a:cs typeface="Calibri"/>
              </a:rPr>
              <a:t>5</a:t>
            </a:r>
            <a:r>
              <a:rPr sz="1100" b="1">
                <a:solidFill>
                  <a:srgbClr val="1F3864"/>
                </a:solidFill>
                <a:latin typeface="Calibri"/>
                <a:ea typeface="Calibri"/>
                <a:cs typeface="Calibri"/>
              </a:rPr>
              <a:t>  hallucinations</a:t>
            </a:r>
          </a:p>
        </p:txBody>
      </p:sp>
      <p:sp>
        <p:nvSpPr>
          <p:cNvPr id="9" name="TextBox 8"/>
          <p:cNvSpPr txBox="1"/>
          <p:nvPr/>
        </p:nvSpPr>
        <p:spPr>
          <a:xfrm>
            <a:off x="2642616" y="1463040"/>
            <a:ext cx="1828800" cy="292608"/>
          </a:xfrm>
          <a:prstGeom prst="rect">
            <a:avLst/>
          </a:prstGeom>
          <a:noFill/>
        </p:spPr>
        <p:txBody>
          <a:bodyPr wrap="square" lIns="0" rIns="0" tIns="0" bIns="0" anchor="t">
            <a:spAutoFit/>
          </a:bodyPr>
          <a:lstStyle/>
          <a:p>
            <a:pPr algn="l"/>
            <a:r>
              <a:rPr sz="1000" b="0">
                <a:solidFill>
                  <a:srgbClr val="64748B"/>
                </a:solidFill>
                <a:latin typeface="Calibri"/>
                <a:ea typeface="Calibri"/>
                <a:cs typeface="Calibri"/>
              </a:rPr>
              <a:t>detected and fixed (Project ≥ 3)</a:t>
            </a:r>
          </a:p>
        </p:txBody>
      </p:sp>
      <p:sp>
        <p:nvSpPr>
          <p:cNvPr id="10" name="Rectangle 9"/>
          <p:cNvSpPr/>
          <p:nvPr/>
        </p:nvSpPr>
        <p:spPr>
          <a:xfrm>
            <a:off x="4645152" y="1051560"/>
            <a:ext cx="2002536" cy="749808"/>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736592" y="1078992"/>
            <a:ext cx="1828800" cy="384048"/>
          </a:xfrm>
          <a:prstGeom prst="rect">
            <a:avLst/>
          </a:prstGeom>
          <a:noFill/>
        </p:spPr>
        <p:txBody>
          <a:bodyPr wrap="square" lIns="0" rIns="0" tIns="0" bIns="0" anchor="ctr">
            <a:spAutoFit/>
          </a:bodyPr>
          <a:lstStyle/>
          <a:p>
            <a:pPr algn="l"/>
            <a:r>
              <a:rPr sz="2000" b="1">
                <a:solidFill>
                  <a:srgbClr val="1F3864"/>
                </a:solidFill>
                <a:latin typeface="Calibri"/>
                <a:ea typeface="Calibri"/>
                <a:cs typeface="Calibri"/>
              </a:rPr>
              <a:t>3</a:t>
            </a:r>
            <a:r>
              <a:rPr sz="1100" b="1">
                <a:solidFill>
                  <a:srgbClr val="1F3864"/>
                </a:solidFill>
                <a:latin typeface="Calibri"/>
                <a:ea typeface="Calibri"/>
                <a:cs typeface="Calibri"/>
              </a:rPr>
              <a:t>  AI tools</a:t>
            </a:r>
          </a:p>
        </p:txBody>
      </p:sp>
      <p:sp>
        <p:nvSpPr>
          <p:cNvPr id="12" name="TextBox 11"/>
          <p:cNvSpPr txBox="1"/>
          <p:nvPr/>
        </p:nvSpPr>
        <p:spPr>
          <a:xfrm>
            <a:off x="4736592" y="1463040"/>
            <a:ext cx="1828800" cy="292608"/>
          </a:xfrm>
          <a:prstGeom prst="rect">
            <a:avLst/>
          </a:prstGeom>
          <a:noFill/>
        </p:spPr>
        <p:txBody>
          <a:bodyPr wrap="square" lIns="0" rIns="0" tIns="0" bIns="0" anchor="t">
            <a:spAutoFit/>
          </a:bodyPr>
          <a:lstStyle/>
          <a:p>
            <a:pPr algn="l"/>
            <a:r>
              <a:rPr sz="1000" b="0">
                <a:solidFill>
                  <a:srgbClr val="64748B"/>
                </a:solidFill>
                <a:latin typeface="Calibri"/>
                <a:ea typeface="Calibri"/>
                <a:cs typeface="Calibri"/>
              </a:rPr>
              <a:t>Claude · ChatGPT · Gemini</a:t>
            </a:r>
          </a:p>
        </p:txBody>
      </p:sp>
      <p:sp>
        <p:nvSpPr>
          <p:cNvPr id="13" name="Rectangle 12"/>
          <p:cNvSpPr/>
          <p:nvPr/>
        </p:nvSpPr>
        <p:spPr>
          <a:xfrm>
            <a:off x="6739128" y="1051560"/>
            <a:ext cx="2002536" cy="749808"/>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830568" y="1078992"/>
            <a:ext cx="1828800" cy="384048"/>
          </a:xfrm>
          <a:prstGeom prst="rect">
            <a:avLst/>
          </a:prstGeom>
          <a:noFill/>
        </p:spPr>
        <p:txBody>
          <a:bodyPr wrap="square" lIns="0" rIns="0" tIns="0" bIns="0" anchor="ctr">
            <a:spAutoFit/>
          </a:bodyPr>
          <a:lstStyle/>
          <a:p>
            <a:pPr algn="l"/>
            <a:r>
              <a:rPr sz="2000" b="1">
                <a:solidFill>
                  <a:srgbClr val="1F3864"/>
                </a:solidFill>
                <a:latin typeface="Calibri"/>
                <a:ea typeface="Calibri"/>
                <a:cs typeface="Calibri"/>
              </a:rPr>
              <a:t>21/21</a:t>
            </a:r>
            <a:r>
              <a:rPr sz="1100" b="1">
                <a:solidFill>
                  <a:srgbClr val="1F3864"/>
                </a:solidFill>
                <a:latin typeface="Calibri"/>
                <a:ea typeface="Calibri"/>
                <a:cs typeface="Calibri"/>
              </a:rPr>
              <a:t>  entries</a:t>
            </a:r>
          </a:p>
        </p:txBody>
      </p:sp>
      <p:sp>
        <p:nvSpPr>
          <p:cNvPr id="15" name="TextBox 14"/>
          <p:cNvSpPr txBox="1"/>
          <p:nvPr/>
        </p:nvSpPr>
        <p:spPr>
          <a:xfrm>
            <a:off x="6830568" y="1463040"/>
            <a:ext cx="1828800" cy="292608"/>
          </a:xfrm>
          <a:prstGeom prst="rect">
            <a:avLst/>
          </a:prstGeom>
          <a:noFill/>
        </p:spPr>
        <p:txBody>
          <a:bodyPr wrap="square" lIns="0" rIns="0" tIns="0" bIns="0" anchor="t">
            <a:spAutoFit/>
          </a:bodyPr>
          <a:lstStyle/>
          <a:p>
            <a:pPr algn="l"/>
            <a:r>
              <a:rPr sz="1000" b="0">
                <a:solidFill>
                  <a:srgbClr val="64748B"/>
                </a:solidFill>
                <a:latin typeface="Calibri"/>
                <a:ea typeface="Calibri"/>
                <a:cs typeface="Calibri"/>
              </a:rPr>
              <a:t>with screenshot evidence</a:t>
            </a:r>
          </a:p>
        </p:txBody>
      </p:sp>
      <p:sp>
        <p:nvSpPr>
          <p:cNvPr id="16" name="Rectangle 15"/>
          <p:cNvSpPr/>
          <p:nvPr/>
        </p:nvSpPr>
        <p:spPr>
          <a:xfrm>
            <a:off x="457200" y="1938528"/>
            <a:ext cx="2697480" cy="38404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50" b="1">
                <a:solidFill>
                  <a:srgbClr val="FFFFFF"/>
                </a:solidFill>
                <a:latin typeface="Calibri"/>
                <a:ea typeface="Calibri"/>
                <a:cs typeface="Calibri"/>
              </a:rPr>
              <a:t>AI Audit Log</a:t>
            </a:r>
          </a:p>
        </p:txBody>
      </p:sp>
      <p:sp>
        <p:nvSpPr>
          <p:cNvPr id="17" name="Rectangle 16"/>
          <p:cNvSpPr/>
          <p:nvPr/>
        </p:nvSpPr>
        <p:spPr>
          <a:xfrm>
            <a:off x="457200" y="2322576"/>
            <a:ext cx="2697480" cy="2395728"/>
          </a:xfrm>
          <a:prstGeom prst="rect">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48640" y="2395728"/>
            <a:ext cx="2514600" cy="2286000"/>
          </a:xfrm>
          <a:prstGeom prst="rect">
            <a:avLst/>
          </a:prstGeom>
          <a:noFill/>
        </p:spPr>
        <p:txBody>
          <a:bodyPr wrap="square" lIns="45720" rIns="45720" anchor="t">
            <a:spAutoFit/>
          </a:bodyPr>
          <a:lstStyle/>
          <a:p>
            <a:pPr algn="l" marL="164592" indent="-164592">
              <a:spcAft>
                <a:spcPts val="500"/>
              </a:spcAft>
              <a:buChar char="•"/>
            </a:pPr>
            <a:r>
              <a:rPr sz="1200" b="1">
                <a:solidFill>
                  <a:srgbClr val="1E293B"/>
                </a:solidFill>
                <a:latin typeface="Calibri"/>
                <a:ea typeface="Calibri"/>
                <a:cs typeface="Calibri"/>
              </a:rPr>
              <a:t>Business &amp; problem: </a:t>
            </a:r>
            <a:r>
              <a:rPr sz="1200" b="0">
                <a:solidFill>
                  <a:srgbClr val="1E293B"/>
                </a:solidFill>
                <a:latin typeface="Calibri"/>
                <a:ea typeface="Calibri"/>
                <a:cs typeface="Calibri"/>
              </a:rPr>
              <a:t>3</a:t>
            </a:r>
          </a:p>
          <a:p>
            <a:pPr algn="l" marL="164592" indent="-164592">
              <a:spcAft>
                <a:spcPts val="500"/>
              </a:spcAft>
              <a:buChar char="•"/>
            </a:pPr>
            <a:r>
              <a:rPr sz="1200" b="1">
                <a:solidFill>
                  <a:srgbClr val="1E293B"/>
                </a:solidFill>
                <a:latin typeface="Calibri"/>
                <a:ea typeface="Calibri"/>
                <a:cs typeface="Calibri"/>
              </a:rPr>
              <a:t>Data preparation: </a:t>
            </a:r>
            <a:r>
              <a:rPr sz="1200" b="0">
                <a:solidFill>
                  <a:srgbClr val="1E293B"/>
                </a:solidFill>
                <a:latin typeface="Calibri"/>
                <a:ea typeface="Calibri"/>
                <a:cs typeface="Calibri"/>
              </a:rPr>
              <a:t>4</a:t>
            </a:r>
          </a:p>
          <a:p>
            <a:pPr algn="l" marL="164592" indent="-164592">
              <a:spcAft>
                <a:spcPts val="500"/>
              </a:spcAft>
              <a:buChar char="•"/>
            </a:pPr>
            <a:r>
              <a:rPr sz="1200" b="1">
                <a:solidFill>
                  <a:srgbClr val="1E293B"/>
                </a:solidFill>
                <a:latin typeface="Calibri"/>
                <a:ea typeface="Calibri"/>
                <a:cs typeface="Calibri"/>
              </a:rPr>
              <a:t>EDA: </a:t>
            </a:r>
            <a:r>
              <a:rPr sz="1200" b="0">
                <a:solidFill>
                  <a:srgbClr val="1E293B"/>
                </a:solidFill>
                <a:latin typeface="Calibri"/>
                <a:ea typeface="Calibri"/>
                <a:cs typeface="Calibri"/>
              </a:rPr>
              <a:t>3</a:t>
            </a:r>
          </a:p>
          <a:p>
            <a:pPr algn="l" marL="164592" indent="-164592">
              <a:spcAft>
                <a:spcPts val="500"/>
              </a:spcAft>
              <a:buChar char="•"/>
            </a:pPr>
            <a:r>
              <a:rPr sz="1200" b="1">
                <a:solidFill>
                  <a:srgbClr val="1E293B"/>
                </a:solidFill>
                <a:latin typeface="Calibri"/>
                <a:ea typeface="Calibri"/>
                <a:cs typeface="Calibri"/>
              </a:rPr>
              <a:t>Modeling: </a:t>
            </a:r>
            <a:r>
              <a:rPr sz="1200" b="0">
                <a:solidFill>
                  <a:srgbClr val="1E293B"/>
                </a:solidFill>
                <a:latin typeface="Calibri"/>
                <a:ea typeface="Calibri"/>
                <a:cs typeface="Calibri"/>
              </a:rPr>
              <a:t>6</a:t>
            </a:r>
          </a:p>
          <a:p>
            <a:pPr algn="l" marL="164592" indent="-164592">
              <a:spcAft>
                <a:spcPts val="500"/>
              </a:spcAft>
              <a:buChar char="•"/>
            </a:pPr>
            <a:r>
              <a:rPr sz="1200" b="1">
                <a:solidFill>
                  <a:srgbClr val="1E293B"/>
                </a:solidFill>
                <a:latin typeface="Calibri"/>
                <a:ea typeface="Calibri"/>
                <a:cs typeface="Calibri"/>
              </a:rPr>
              <a:t>Evaluation &amp; reporting: </a:t>
            </a:r>
            <a:r>
              <a:rPr sz="1200" b="0">
                <a:solidFill>
                  <a:srgbClr val="1E293B"/>
                </a:solidFill>
                <a:latin typeface="Calibri"/>
                <a:ea typeface="Calibri"/>
                <a:cs typeface="Calibri"/>
              </a:rPr>
              <a:t>5</a:t>
            </a:r>
          </a:p>
          <a:p>
            <a:pPr algn="l">
              <a:spcAft>
                <a:spcPts val="500"/>
              </a:spcAft>
            </a:pPr>
            <a:r>
              <a:rPr sz="1200" b="0">
                <a:solidFill>
                  <a:srgbClr val="64748B"/>
                </a:solidFill>
                <a:latin typeface="Calibri"/>
                <a:ea typeface="Calibri"/>
                <a:cs typeface="Calibri"/>
              </a:rPr>
              <a:t>10 decision · 6 problem-solving · 5 verification</a:t>
            </a:r>
          </a:p>
        </p:txBody>
      </p:sp>
      <p:sp>
        <p:nvSpPr>
          <p:cNvPr id="19" name="Rectangle 18"/>
          <p:cNvSpPr/>
          <p:nvPr/>
        </p:nvSpPr>
        <p:spPr>
          <a:xfrm>
            <a:off x="3246120" y="1938528"/>
            <a:ext cx="2697480" cy="38404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50" b="1">
                <a:solidFill>
                  <a:srgbClr val="FFFFFF"/>
                </a:solidFill>
                <a:latin typeface="Calibri"/>
                <a:ea typeface="Calibri"/>
                <a:cs typeface="Calibri"/>
              </a:rPr>
              <a:t>Human Delta</a:t>
            </a:r>
          </a:p>
        </p:txBody>
      </p:sp>
      <p:sp>
        <p:nvSpPr>
          <p:cNvPr id="20" name="Rectangle 19"/>
          <p:cNvSpPr/>
          <p:nvPr/>
        </p:nvSpPr>
        <p:spPr>
          <a:xfrm>
            <a:off x="3246120" y="2322576"/>
            <a:ext cx="2697480" cy="2395728"/>
          </a:xfrm>
          <a:prstGeom prst="rect">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3337560" y="2395728"/>
            <a:ext cx="2514600" cy="2286000"/>
          </a:xfrm>
          <a:prstGeom prst="rect">
            <a:avLst/>
          </a:prstGeom>
          <a:noFill/>
        </p:spPr>
        <p:txBody>
          <a:bodyPr wrap="square" lIns="45720" rIns="45720" anchor="t">
            <a:spAutoFit/>
          </a:bodyPr>
          <a:lstStyle/>
          <a:p>
            <a:pPr algn="l" marL="164592" indent="-164592">
              <a:spcAft>
                <a:spcPts val="500"/>
              </a:spcAft>
              <a:buChar char="•"/>
            </a:pPr>
            <a:r>
              <a:rPr sz="1200" b="1">
                <a:solidFill>
                  <a:srgbClr val="1E293B"/>
                </a:solidFill>
                <a:latin typeface="Calibri"/>
                <a:ea typeface="Calibri"/>
                <a:cs typeface="Calibri"/>
              </a:rPr>
              <a:t>E05 </a:t>
            </a:r>
            <a:r>
              <a:rPr sz="1200" b="0">
                <a:solidFill>
                  <a:srgbClr val="1E293B"/>
                </a:solidFill>
                <a:latin typeface="Calibri"/>
                <a:ea typeface="Calibri"/>
                <a:cs typeface="Calibri"/>
              </a:rPr>
              <a:t>No simulated data; real files had 0 duplicates, so R1 = R0 is reported</a:t>
            </a:r>
          </a:p>
          <a:p>
            <a:pPr algn="l" marL="164592" indent="-164592">
              <a:spcAft>
                <a:spcPts val="500"/>
              </a:spcAft>
              <a:buChar char="•"/>
            </a:pPr>
            <a:r>
              <a:rPr sz="1200" b="1">
                <a:solidFill>
                  <a:srgbClr val="1E293B"/>
                </a:solidFill>
                <a:latin typeface="Calibri"/>
                <a:ea typeface="Calibri"/>
                <a:cs typeface="Calibri"/>
              </a:rPr>
              <a:t>E12 </a:t>
            </a:r>
            <a:r>
              <a:rPr sz="1200" b="0">
                <a:solidFill>
                  <a:srgbClr val="1E293B"/>
                </a:solidFill>
                <a:latin typeface="Calibri"/>
                <a:ea typeface="Calibri"/>
                <a:cs typeface="Calibri"/>
              </a:rPr>
              <a:t>Time-based expanding window instead of an 80/20 random split</a:t>
            </a:r>
          </a:p>
          <a:p>
            <a:pPr algn="l" marL="164592" indent="-164592">
              <a:spcAft>
                <a:spcPts val="500"/>
              </a:spcAft>
              <a:buChar char="•"/>
            </a:pPr>
            <a:r>
              <a:rPr sz="1200" b="1">
                <a:solidFill>
                  <a:srgbClr val="1E293B"/>
                </a:solidFill>
                <a:latin typeface="Calibri"/>
                <a:ea typeface="Calibri"/>
                <a:cs typeface="Calibri"/>
              </a:rPr>
              <a:t>E13 </a:t>
            </a:r>
            <a:r>
              <a:rPr sz="1200" b="0">
                <a:solidFill>
                  <a:srgbClr val="1E293B"/>
                </a:solidFill>
                <a:latin typeface="Calibri"/>
                <a:ea typeface="Calibri"/>
                <a:cs typeface="Calibri"/>
              </a:rPr>
              <a:t>Re-check on all training rows: Rule 1 and Rule 2 PASS</a:t>
            </a:r>
          </a:p>
          <a:p>
            <a:pPr algn="l" marL="164592" indent="-164592">
              <a:spcAft>
                <a:spcPts val="500"/>
              </a:spcAft>
              <a:buChar char="•"/>
            </a:pPr>
            <a:r>
              <a:rPr sz="1200" b="1">
                <a:solidFill>
                  <a:srgbClr val="1E293B"/>
                </a:solidFill>
                <a:latin typeface="Calibri"/>
                <a:ea typeface="Calibri"/>
                <a:cs typeface="Calibri"/>
              </a:rPr>
              <a:t>E19 </a:t>
            </a:r>
            <a:r>
              <a:rPr sz="1200" b="0">
                <a:solidFill>
                  <a:srgbClr val="1E293B"/>
                </a:solidFill>
                <a:latin typeface="Calibri"/>
                <a:ea typeface="Calibri"/>
                <a:cs typeface="Calibri"/>
              </a:rPr>
              <a:t>No "best model" claim: top 3 within the quarter SD</a:t>
            </a:r>
          </a:p>
        </p:txBody>
      </p:sp>
      <p:sp>
        <p:nvSpPr>
          <p:cNvPr id="22" name="Rectangle 21"/>
          <p:cNvSpPr/>
          <p:nvPr/>
        </p:nvSpPr>
        <p:spPr>
          <a:xfrm>
            <a:off x="6035040" y="1938528"/>
            <a:ext cx="2697480" cy="3840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50" b="1">
                <a:solidFill>
                  <a:srgbClr val="FFFFFF"/>
                </a:solidFill>
                <a:latin typeface="Calibri"/>
                <a:ea typeface="Calibri"/>
                <a:cs typeface="Calibri"/>
              </a:rPr>
              <a:t>Hallucination Check</a:t>
            </a:r>
          </a:p>
        </p:txBody>
      </p:sp>
      <p:sp>
        <p:nvSpPr>
          <p:cNvPr id="23" name="Rectangle 22"/>
          <p:cNvSpPr/>
          <p:nvPr/>
        </p:nvSpPr>
        <p:spPr>
          <a:xfrm>
            <a:off x="6035040" y="2322576"/>
            <a:ext cx="2697480" cy="2395728"/>
          </a:xfrm>
          <a:prstGeom prst="rect">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126479" y="2395728"/>
            <a:ext cx="2514600" cy="2286000"/>
          </a:xfrm>
          <a:prstGeom prst="rect">
            <a:avLst/>
          </a:prstGeom>
          <a:noFill/>
        </p:spPr>
        <p:txBody>
          <a:bodyPr wrap="square" lIns="45720" rIns="45720" anchor="t">
            <a:spAutoFit/>
          </a:bodyPr>
          <a:lstStyle/>
          <a:p>
            <a:pPr algn="l" marL="164592" indent="-164592">
              <a:spcAft>
                <a:spcPts val="500"/>
              </a:spcAft>
              <a:buChar char="•"/>
            </a:pPr>
            <a:r>
              <a:rPr sz="1200" b="1">
                <a:solidFill>
                  <a:srgbClr val="1E293B"/>
                </a:solidFill>
                <a:latin typeface="Calibri"/>
                <a:ea typeface="Calibri"/>
                <a:cs typeface="Calibri"/>
              </a:rPr>
              <a:t>E03 </a:t>
            </a:r>
            <a:r>
              <a:rPr sz="1200" b="0">
                <a:solidFill>
                  <a:srgbClr val="1E293B"/>
                </a:solidFill>
                <a:latin typeface="Calibri"/>
                <a:ea typeface="Calibri"/>
                <a:cs typeface="Calibri"/>
              </a:rPr>
              <a:t>Drew a figure when an oral answer was asked (context)</a:t>
            </a:r>
          </a:p>
          <a:p>
            <a:pPr algn="l" marL="164592" indent="-164592">
              <a:spcAft>
                <a:spcPts val="500"/>
              </a:spcAft>
              <a:buChar char="•"/>
            </a:pPr>
            <a:r>
              <a:rPr sz="1200" b="1">
                <a:solidFill>
                  <a:srgbClr val="1E293B"/>
                </a:solidFill>
                <a:latin typeface="Calibri"/>
                <a:ea typeface="Calibri"/>
                <a:cs typeface="Calibri"/>
              </a:rPr>
              <a:t>E05 </a:t>
            </a:r>
            <a:r>
              <a:rPr sz="1200" b="0">
                <a:solidFill>
                  <a:srgbClr val="1E293B"/>
                </a:solidFill>
                <a:latin typeface="Calibri"/>
                <a:ea typeface="Calibri"/>
                <a:cs typeface="Calibri"/>
              </a:rPr>
              <a:t>Proposal assumed duplicate records; real data: 0</a:t>
            </a:r>
          </a:p>
          <a:p>
            <a:pPr algn="l" marL="164592" indent="-164592">
              <a:spcAft>
                <a:spcPts val="500"/>
              </a:spcAft>
              <a:buChar char="•"/>
            </a:pPr>
            <a:r>
              <a:rPr sz="1200" b="1">
                <a:solidFill>
                  <a:srgbClr val="1E293B"/>
                </a:solidFill>
                <a:latin typeface="Calibri"/>
                <a:ea typeface="Calibri"/>
                <a:cs typeface="Calibri"/>
              </a:rPr>
              <a:t>E13 </a:t>
            </a:r>
            <a:r>
              <a:rPr sz="1200" b="0">
                <a:solidFill>
                  <a:srgbClr val="1E293B"/>
                </a:solidFill>
                <a:latin typeface="Calibri"/>
                <a:ea typeface="Calibri"/>
                <a:cs typeface="Calibri"/>
              </a:rPr>
              <a:t>Run estimated 15–30 min; real fits took 1–25 s</a:t>
            </a:r>
          </a:p>
          <a:p>
            <a:pPr algn="l" marL="164592" indent="-164592">
              <a:spcAft>
                <a:spcPts val="500"/>
              </a:spcAft>
              <a:buChar char="•"/>
            </a:pPr>
            <a:r>
              <a:rPr sz="1200" b="1">
                <a:solidFill>
                  <a:srgbClr val="1E293B"/>
                </a:solidFill>
                <a:latin typeface="Calibri"/>
                <a:ea typeface="Calibri"/>
                <a:cs typeface="Calibri"/>
              </a:rPr>
              <a:t>E14 </a:t>
            </a:r>
            <a:r>
              <a:rPr sz="1200" b="0">
                <a:solidFill>
                  <a:srgbClr val="1E293B"/>
                </a:solidFill>
                <a:latin typeface="Calibri"/>
                <a:ea typeface="Calibri"/>
                <a:cs typeface="Calibri"/>
              </a:rPr>
              <a:t>Assumed same row order → assert error; aligned on (cell, ts)</a:t>
            </a:r>
          </a:p>
          <a:p>
            <a:pPr algn="l" marL="164592" indent="-164592">
              <a:spcAft>
                <a:spcPts val="500"/>
              </a:spcAft>
              <a:buChar char="•"/>
            </a:pPr>
            <a:r>
              <a:rPr sz="1200" b="1">
                <a:solidFill>
                  <a:srgbClr val="1E293B"/>
                </a:solidFill>
                <a:latin typeface="Calibri"/>
                <a:ea typeface="Calibri"/>
                <a:cs typeface="Calibri"/>
              </a:rPr>
              <a:t>E17 </a:t>
            </a:r>
            <a:r>
              <a:rPr sz="1200" b="0">
                <a:solidFill>
                  <a:srgbClr val="1E293B"/>
                </a:solidFill>
                <a:latin typeface="Calibri"/>
                <a:ea typeface="Calibri"/>
                <a:cs typeface="Calibri"/>
              </a:rPr>
              <a:t>7 of 8 preview figures not from notebooks → replaced</a:t>
            </a:r>
          </a:p>
        </p:txBody>
      </p:sp>
      <p:sp>
        <p:nvSpPr>
          <p:cNvPr id="25" name="Caption"/>
          <p:cNvSpPr txBox="1"/>
          <p:nvPr/>
        </p:nvSpPr>
        <p:spPr>
          <a:xfrm>
            <a:off x="457200" y="4773168"/>
            <a:ext cx="8229600" cy="201168"/>
          </a:xfrm>
          <a:prstGeom prst="rect">
            <a:avLst/>
          </a:prstGeom>
          <a:noFill/>
        </p:spPr>
        <p:txBody>
          <a:bodyPr wrap="square" lIns="0" rIns="0" tIns="0" bIns="0" anchor="t">
            <a:spAutoFit/>
          </a:bodyPr>
          <a:lstStyle/>
          <a:p>
            <a:pPr algn="l"/>
            <a:r>
              <a:rPr sz="1000" b="0">
                <a:solidFill>
                  <a:srgbClr val="64748B"/>
                </a:solidFill>
                <a:latin typeface="Calibri"/>
                <a:ea typeface="Calibri"/>
                <a:cs typeface="Calibri"/>
              </a:rPr>
              <a:t>Source: AI_AuditLog_ADY201m_IstanbulTraffic.xlsx (21 core prompts with evidence screenshots). Claude use is also disclosed in the paper's Acknowledgments.</a:t>
            </a:r>
          </a:p>
        </p:txBody>
      </p:sp>
    </p:spTree>
  </p:cSld>
  <p:clrMapOvr>
    <a:masterClrMapping/>
  </p:clrMapOvr>
</p:sld>
</file>

<file path=ppt/theme/theme1.xml><?xml version="1.0" encoding="utf-8"?>
<a:theme xmlns:a="http://schemas.openxmlformats.org/drawingml/2006/main" name="fake-beamer">
  <a:themeElements>
    <a:clrScheme name="BeamerBlue">
      <a:dk1>
        <a:srgbClr val="000000"/>
      </a:dk1>
      <a:lt1>
        <a:srgbClr val="FFFFFF"/>
      </a:lt1>
      <a:dk2>
        <a:srgbClr val="44546A"/>
      </a:dk2>
      <a:lt2>
        <a:srgbClr val="E7E6E6"/>
      </a:lt2>
      <a:accent1>
        <a:srgbClr val="3331B4"/>
      </a:accent1>
      <a:accent2>
        <a:srgbClr val="26268C"/>
      </a:accent2>
      <a:accent3>
        <a:srgbClr val="1C1B67"/>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eamer" id="{99E1F896-D2CB-2744-898B-231E70ADB72B}" vid="{6D0C7D28-E11F-0F48-8979-25ECC394847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fake-beamer</Template>
  <TotalTime>0</TotalTime>
  <Words>1954</Words>
  <Application>Microsoft Office PowerPoint</Application>
  <PresentationFormat>On-screen Show (16:9)</PresentationFormat>
  <Paragraphs>257</Paragraphs>
  <Slides>20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CMU Sans Serif Medium</vt:lpstr>
      <vt:lpstr>fake-beamer</vt:lpstr>
      <vt:lpstr> PROJECT TITLE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1: Giới thiệu về Máy tính</dc:title>
  <dc:subject>PptxGenJS Presentation</dc:subject>
  <dc:creator>Nhat-Tung Le</dc:creator>
  <cp:lastModifiedBy>Le Nhat Tung</cp:lastModifiedBy>
  <cp:revision>35</cp:revision>
  <dcterms:created xsi:type="dcterms:W3CDTF">2026-05-01T11:03:29Z</dcterms:created>
  <dcterms:modified xsi:type="dcterms:W3CDTF">2026-06-01T03:25:41Z</dcterms:modified>
</cp:coreProperties>
</file>